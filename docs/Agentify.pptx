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Open Sauce" charset="1" panose="00000500000000000000"/>
      <p:regular r:id="rId15"/>
    </p:embeddedFont>
    <p:embeddedFont>
      <p:font typeface="Helvetica Now Display Bold" charset="1" panose="020B0804030202020204"/>
      <p:regular r:id="rId16"/>
    </p:embeddedFont>
    <p:embeddedFont>
      <p:font typeface="Open Sauce Italics" charset="1" panose="00000500000000000000"/>
      <p:regular r:id="rId17"/>
    </p:embeddedFont>
    <p:embeddedFont>
      <p:font typeface="Open Sauce Bold" charset="1" panose="00000800000000000000"/>
      <p:regular r:id="rId18"/>
    </p:embeddedFont>
    <p:embeddedFont>
      <p:font typeface="Noto Sans" charset="1" panose="020B0502040504020204"/>
      <p:regular r:id="rId19"/>
    </p:embeddedFont>
    <p:embeddedFont>
      <p:font typeface="Arimo Bold" charset="1" panose="020B0704020202020204"/>
      <p:regular r:id="rId20"/>
    </p:embeddedFont>
    <p:embeddedFont>
      <p:font typeface="Arimo" charset="1" panose="020B0604020202020204"/>
      <p:regular r:id="rId21"/>
    </p:embeddedFont>
    <p:embeddedFont>
      <p:font typeface="Noto Sans Bold" charset="1" panose="020B0802040504020204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7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9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994307" y="2121477"/>
            <a:ext cx="6293693" cy="6036808"/>
            <a:chOff x="0" y="0"/>
            <a:chExt cx="622300" cy="5969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22300" cy="596900"/>
            </a:xfrm>
            <a:custGeom>
              <a:avLst/>
              <a:gdLst/>
              <a:ahLst/>
              <a:cxnLst/>
              <a:rect r="r" b="b" t="t" l="l"/>
              <a:pathLst>
                <a:path h="596900" w="622300">
                  <a:moveTo>
                    <a:pt x="295910" y="297180"/>
                  </a:moveTo>
                  <a:lnTo>
                    <a:pt x="295910" y="596900"/>
                  </a:lnTo>
                  <a:cubicBezTo>
                    <a:pt x="129540" y="590550"/>
                    <a:pt x="0" y="459740"/>
                    <a:pt x="0" y="297180"/>
                  </a:cubicBezTo>
                  <a:cubicBezTo>
                    <a:pt x="0" y="135890"/>
                    <a:pt x="129540" y="3810"/>
                    <a:pt x="295910" y="0"/>
                  </a:cubicBezTo>
                  <a:lnTo>
                    <a:pt x="295910" y="299720"/>
                  </a:lnTo>
                  <a:close/>
                  <a:moveTo>
                    <a:pt x="295910" y="287020"/>
                  </a:moveTo>
                  <a:lnTo>
                    <a:pt x="295910" y="289560"/>
                  </a:lnTo>
                  <a:cubicBezTo>
                    <a:pt x="295910" y="210820"/>
                    <a:pt x="328930" y="138430"/>
                    <a:pt x="365760" y="86360"/>
                  </a:cubicBezTo>
                  <a:cubicBezTo>
                    <a:pt x="402590" y="35560"/>
                    <a:pt x="452120" y="2540"/>
                    <a:pt x="511810" y="0"/>
                  </a:cubicBezTo>
                  <a:lnTo>
                    <a:pt x="511810" y="297180"/>
                  </a:lnTo>
                  <a:lnTo>
                    <a:pt x="511810" y="596900"/>
                  </a:lnTo>
                  <a:cubicBezTo>
                    <a:pt x="452120" y="591820"/>
                    <a:pt x="402590" y="560070"/>
                    <a:pt x="365760" y="509270"/>
                  </a:cubicBezTo>
                  <a:cubicBezTo>
                    <a:pt x="328930" y="457200"/>
                    <a:pt x="295910" y="384810"/>
                    <a:pt x="295910" y="304800"/>
                  </a:cubicBezTo>
                  <a:lnTo>
                    <a:pt x="295910" y="287020"/>
                  </a:lnTo>
                  <a:close/>
                  <a:moveTo>
                    <a:pt x="511810" y="297180"/>
                  </a:moveTo>
                  <a:cubicBezTo>
                    <a:pt x="511810" y="214630"/>
                    <a:pt x="533400" y="138430"/>
                    <a:pt x="554990" y="85090"/>
                  </a:cubicBezTo>
                  <a:cubicBezTo>
                    <a:pt x="566420" y="58420"/>
                    <a:pt x="579120" y="36830"/>
                    <a:pt x="593090" y="21590"/>
                  </a:cubicBezTo>
                  <a:cubicBezTo>
                    <a:pt x="604520" y="10160"/>
                    <a:pt x="615950" y="2540"/>
                    <a:pt x="622300" y="1270"/>
                  </a:cubicBezTo>
                  <a:lnTo>
                    <a:pt x="622300" y="596900"/>
                  </a:lnTo>
                  <a:cubicBezTo>
                    <a:pt x="615950" y="591820"/>
                    <a:pt x="600710" y="585470"/>
                    <a:pt x="593090" y="572770"/>
                  </a:cubicBezTo>
                  <a:cubicBezTo>
                    <a:pt x="579120" y="558800"/>
                    <a:pt x="566420" y="537210"/>
                    <a:pt x="554990" y="510540"/>
                  </a:cubicBezTo>
                  <a:cubicBezTo>
                    <a:pt x="534670" y="459740"/>
                    <a:pt x="511810" y="389890"/>
                    <a:pt x="511810" y="313690"/>
                  </a:cubicBezTo>
                  <a:lnTo>
                    <a:pt x="511810" y="297180"/>
                  </a:lnTo>
                  <a:close/>
                </a:path>
              </a:pathLst>
            </a:custGeom>
            <a:solidFill>
              <a:srgbClr val="E57C7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60325"/>
              <a:ext cx="622300" cy="4095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5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6637188"/>
            <a:ext cx="4524057" cy="893330"/>
            <a:chOff x="0" y="0"/>
            <a:chExt cx="1191521" cy="2352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91521" cy="235280"/>
            </a:xfrm>
            <a:custGeom>
              <a:avLst/>
              <a:gdLst/>
              <a:ahLst/>
              <a:cxnLst/>
              <a:rect r="r" b="b" t="t" l="l"/>
              <a:pathLst>
                <a:path h="235280" w="1191521">
                  <a:moveTo>
                    <a:pt x="0" y="0"/>
                  </a:moveTo>
                  <a:lnTo>
                    <a:pt x="1191521" y="0"/>
                  </a:lnTo>
                  <a:lnTo>
                    <a:pt x="1191521" y="235280"/>
                  </a:lnTo>
                  <a:lnTo>
                    <a:pt x="0" y="235280"/>
                  </a:lnTo>
                  <a:close/>
                </a:path>
              </a:pathLst>
            </a:custGeom>
            <a:solidFill>
              <a:srgbClr val="E57C7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191521" cy="2924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0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-5400000">
            <a:off x="5064683" y="6212949"/>
            <a:ext cx="928965" cy="812844"/>
            <a:chOff x="0" y="0"/>
            <a:chExt cx="812800" cy="7112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E7F2F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127000" y="273050"/>
              <a:ext cx="558800" cy="3873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0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5400000">
            <a:off x="589640" y="7124096"/>
            <a:ext cx="928965" cy="812844"/>
            <a:chOff x="0" y="0"/>
            <a:chExt cx="812800" cy="7112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E7F2F2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127000" y="273050"/>
              <a:ext cx="558800" cy="3873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0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54122" y="1028700"/>
            <a:ext cx="4112762" cy="486186"/>
            <a:chOff x="0" y="0"/>
            <a:chExt cx="5483683" cy="648248"/>
          </a:xfrm>
        </p:grpSpPr>
        <p:grpSp>
          <p:nvGrpSpPr>
            <p:cNvPr name="Group 15" id="15"/>
            <p:cNvGrpSpPr/>
            <p:nvPr/>
          </p:nvGrpSpPr>
          <p:grpSpPr>
            <a:xfrm rot="0">
              <a:off x="0" y="0"/>
              <a:ext cx="675833" cy="648248"/>
              <a:chOff x="0" y="0"/>
              <a:chExt cx="622300" cy="5969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622300" cy="596900"/>
              </a:xfrm>
              <a:custGeom>
                <a:avLst/>
                <a:gdLst/>
                <a:ahLst/>
                <a:cxnLst/>
                <a:rect r="r" b="b" t="t" l="l"/>
                <a:pathLst>
                  <a:path h="596900" w="622300">
                    <a:moveTo>
                      <a:pt x="295910" y="297180"/>
                    </a:moveTo>
                    <a:lnTo>
                      <a:pt x="295910" y="596900"/>
                    </a:lnTo>
                    <a:cubicBezTo>
                      <a:pt x="129540" y="590550"/>
                      <a:pt x="0" y="459740"/>
                      <a:pt x="0" y="297180"/>
                    </a:cubicBezTo>
                    <a:cubicBezTo>
                      <a:pt x="0" y="135890"/>
                      <a:pt x="129540" y="3810"/>
                      <a:pt x="295910" y="0"/>
                    </a:cubicBezTo>
                    <a:lnTo>
                      <a:pt x="295910" y="299720"/>
                    </a:lnTo>
                    <a:close/>
                    <a:moveTo>
                      <a:pt x="295910" y="287020"/>
                    </a:moveTo>
                    <a:lnTo>
                      <a:pt x="295910" y="289560"/>
                    </a:lnTo>
                    <a:cubicBezTo>
                      <a:pt x="295910" y="210820"/>
                      <a:pt x="328930" y="138430"/>
                      <a:pt x="365760" y="86360"/>
                    </a:cubicBezTo>
                    <a:cubicBezTo>
                      <a:pt x="402590" y="35560"/>
                      <a:pt x="452120" y="2540"/>
                      <a:pt x="511810" y="0"/>
                    </a:cubicBezTo>
                    <a:lnTo>
                      <a:pt x="511810" y="297180"/>
                    </a:lnTo>
                    <a:lnTo>
                      <a:pt x="511810" y="596900"/>
                    </a:lnTo>
                    <a:cubicBezTo>
                      <a:pt x="452120" y="591820"/>
                      <a:pt x="402590" y="560070"/>
                      <a:pt x="365760" y="509270"/>
                    </a:cubicBezTo>
                    <a:cubicBezTo>
                      <a:pt x="328930" y="457200"/>
                      <a:pt x="295910" y="384810"/>
                      <a:pt x="295910" y="304800"/>
                    </a:cubicBezTo>
                    <a:lnTo>
                      <a:pt x="295910" y="287020"/>
                    </a:lnTo>
                    <a:close/>
                    <a:moveTo>
                      <a:pt x="511810" y="297180"/>
                    </a:moveTo>
                    <a:cubicBezTo>
                      <a:pt x="511810" y="214630"/>
                      <a:pt x="533400" y="138430"/>
                      <a:pt x="554990" y="85090"/>
                    </a:cubicBezTo>
                    <a:cubicBezTo>
                      <a:pt x="566420" y="58420"/>
                      <a:pt x="579120" y="36830"/>
                      <a:pt x="593090" y="21590"/>
                    </a:cubicBezTo>
                    <a:cubicBezTo>
                      <a:pt x="604520" y="10160"/>
                      <a:pt x="615950" y="2540"/>
                      <a:pt x="622300" y="1270"/>
                    </a:cubicBezTo>
                    <a:lnTo>
                      <a:pt x="622300" y="596900"/>
                    </a:lnTo>
                    <a:cubicBezTo>
                      <a:pt x="615950" y="591820"/>
                      <a:pt x="600710" y="585470"/>
                      <a:pt x="593090" y="572770"/>
                    </a:cubicBezTo>
                    <a:cubicBezTo>
                      <a:pt x="579120" y="558800"/>
                      <a:pt x="566420" y="537210"/>
                      <a:pt x="554990" y="510540"/>
                    </a:cubicBezTo>
                    <a:cubicBezTo>
                      <a:pt x="534670" y="459740"/>
                      <a:pt x="511810" y="389890"/>
                      <a:pt x="511810" y="313690"/>
                    </a:cubicBezTo>
                    <a:lnTo>
                      <a:pt x="511810" y="297180"/>
                    </a:lnTo>
                    <a:close/>
                  </a:path>
                </a:pathLst>
              </a:custGeom>
              <a:solidFill>
                <a:srgbClr val="E57C7C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60325"/>
                <a:ext cx="622300" cy="4095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50"/>
                  </a:lnSpc>
                </a:pPr>
              </a:p>
            </p:txBody>
          </p:sp>
        </p:grpSp>
        <p:sp>
          <p:nvSpPr>
            <p:cNvPr name="TextBox 18" id="18"/>
            <p:cNvSpPr txBox="true"/>
            <p:nvPr/>
          </p:nvSpPr>
          <p:spPr>
            <a:xfrm rot="0">
              <a:off x="839189" y="44089"/>
              <a:ext cx="4644494" cy="4933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50"/>
                </a:lnSpc>
              </a:pPr>
              <a:r>
                <a:rPr lang="en-US" sz="2100" spc="-63">
                  <a:solidFill>
                    <a:srgbClr val="000000"/>
                  </a:solidFill>
                  <a:latin typeface="Open Sauce"/>
                  <a:ea typeface="Open Sauce"/>
                  <a:cs typeface="Open Sauce"/>
                  <a:sym typeface="Open Sauce"/>
                </a:rPr>
                <a:t>Agentify</a:t>
              </a: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8563697" y="7548479"/>
            <a:ext cx="1160606" cy="446522"/>
          </a:xfrm>
          <a:custGeom>
            <a:avLst/>
            <a:gdLst/>
            <a:ahLst/>
            <a:cxnLst/>
            <a:rect r="r" b="b" t="t" l="l"/>
            <a:pathLst>
              <a:path h="446522" w="1160606">
                <a:moveTo>
                  <a:pt x="0" y="0"/>
                </a:moveTo>
                <a:lnTo>
                  <a:pt x="1160606" y="0"/>
                </a:lnTo>
                <a:lnTo>
                  <a:pt x="1160606" y="446522"/>
                </a:lnTo>
                <a:lnTo>
                  <a:pt x="0" y="4465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75980" b="-360761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6994655" y="-1770583"/>
            <a:ext cx="3729038" cy="4114800"/>
          </a:xfrm>
          <a:custGeom>
            <a:avLst/>
            <a:gdLst/>
            <a:ahLst/>
            <a:cxnLst/>
            <a:rect r="r" b="b" t="t" l="l"/>
            <a:pathLst>
              <a:path h="4114800" w="3729038">
                <a:moveTo>
                  <a:pt x="0" y="0"/>
                </a:moveTo>
                <a:lnTo>
                  <a:pt x="3729037" y="0"/>
                </a:lnTo>
                <a:lnTo>
                  <a:pt x="37290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-1864519" y="8229600"/>
            <a:ext cx="3729038" cy="4114800"/>
          </a:xfrm>
          <a:custGeom>
            <a:avLst/>
            <a:gdLst/>
            <a:ahLst/>
            <a:cxnLst/>
            <a:rect r="r" b="b" t="t" l="l"/>
            <a:pathLst>
              <a:path h="4114800" w="3729038">
                <a:moveTo>
                  <a:pt x="0" y="0"/>
                </a:moveTo>
                <a:lnTo>
                  <a:pt x="3729038" y="0"/>
                </a:lnTo>
                <a:lnTo>
                  <a:pt x="37290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054122" y="2445426"/>
            <a:ext cx="14112453" cy="3186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93"/>
              </a:lnSpc>
            </a:pPr>
            <a:r>
              <a:rPr lang="en-US" sz="21362" spc="-213" b="true">
                <a:solidFill>
                  <a:srgbClr val="000000"/>
                </a:solidFill>
                <a:latin typeface="Helvetica Now Display Bold"/>
                <a:ea typeface="Helvetica Now Display Bold"/>
                <a:cs typeface="Helvetica Now Display Bold"/>
                <a:sym typeface="Helvetica Now Display Bold"/>
              </a:rPr>
              <a:t>Agentify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28700" y="5860566"/>
            <a:ext cx="9238201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799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AI Agent Platform for Social Commerce Automation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3505220" y="8881110"/>
            <a:ext cx="3754080" cy="331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00"/>
              </a:lnSpc>
            </a:pPr>
            <a:r>
              <a:rPr lang="en-US" sz="1800" spc="-5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minhvu2592005@gmail.com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477764" y="6879066"/>
            <a:ext cx="3625930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9"/>
              </a:lnSpc>
            </a:pPr>
            <a:r>
              <a:rPr lang="en-US" sz="1999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AGENTIFY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694078" y="8643937"/>
            <a:ext cx="9238201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799" i="true">
                <a:solidFill>
                  <a:srgbClr val="000000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Turn messages into orders — automatically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54122" y="1028700"/>
            <a:ext cx="4112762" cy="486186"/>
            <a:chOff x="0" y="0"/>
            <a:chExt cx="5483683" cy="648248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675833" cy="648248"/>
              <a:chOff x="0" y="0"/>
              <a:chExt cx="622300" cy="596900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22300" cy="596900"/>
              </a:xfrm>
              <a:custGeom>
                <a:avLst/>
                <a:gdLst/>
                <a:ahLst/>
                <a:cxnLst/>
                <a:rect r="r" b="b" t="t" l="l"/>
                <a:pathLst>
                  <a:path h="596900" w="622300">
                    <a:moveTo>
                      <a:pt x="295910" y="297180"/>
                    </a:moveTo>
                    <a:lnTo>
                      <a:pt x="295910" y="596900"/>
                    </a:lnTo>
                    <a:cubicBezTo>
                      <a:pt x="129540" y="590550"/>
                      <a:pt x="0" y="459740"/>
                      <a:pt x="0" y="297180"/>
                    </a:cubicBezTo>
                    <a:cubicBezTo>
                      <a:pt x="0" y="135890"/>
                      <a:pt x="129540" y="3810"/>
                      <a:pt x="295910" y="0"/>
                    </a:cubicBezTo>
                    <a:lnTo>
                      <a:pt x="295910" y="299720"/>
                    </a:lnTo>
                    <a:close/>
                    <a:moveTo>
                      <a:pt x="295910" y="287020"/>
                    </a:moveTo>
                    <a:lnTo>
                      <a:pt x="295910" y="289560"/>
                    </a:lnTo>
                    <a:cubicBezTo>
                      <a:pt x="295910" y="210820"/>
                      <a:pt x="328930" y="138430"/>
                      <a:pt x="365760" y="86360"/>
                    </a:cubicBezTo>
                    <a:cubicBezTo>
                      <a:pt x="402590" y="35560"/>
                      <a:pt x="452120" y="2540"/>
                      <a:pt x="511810" y="0"/>
                    </a:cubicBezTo>
                    <a:lnTo>
                      <a:pt x="511810" y="297180"/>
                    </a:lnTo>
                    <a:lnTo>
                      <a:pt x="511810" y="596900"/>
                    </a:lnTo>
                    <a:cubicBezTo>
                      <a:pt x="452120" y="591820"/>
                      <a:pt x="402590" y="560070"/>
                      <a:pt x="365760" y="509270"/>
                    </a:cubicBezTo>
                    <a:cubicBezTo>
                      <a:pt x="328930" y="457200"/>
                      <a:pt x="295910" y="384810"/>
                      <a:pt x="295910" y="304800"/>
                    </a:cubicBezTo>
                    <a:lnTo>
                      <a:pt x="295910" y="287020"/>
                    </a:lnTo>
                    <a:close/>
                    <a:moveTo>
                      <a:pt x="511810" y="297180"/>
                    </a:moveTo>
                    <a:cubicBezTo>
                      <a:pt x="511810" y="214630"/>
                      <a:pt x="533400" y="138430"/>
                      <a:pt x="554990" y="85090"/>
                    </a:cubicBezTo>
                    <a:cubicBezTo>
                      <a:pt x="566420" y="58420"/>
                      <a:pt x="579120" y="36830"/>
                      <a:pt x="593090" y="21590"/>
                    </a:cubicBezTo>
                    <a:cubicBezTo>
                      <a:pt x="604520" y="10160"/>
                      <a:pt x="615950" y="2540"/>
                      <a:pt x="622300" y="1270"/>
                    </a:cubicBezTo>
                    <a:lnTo>
                      <a:pt x="622300" y="596900"/>
                    </a:lnTo>
                    <a:cubicBezTo>
                      <a:pt x="615950" y="591820"/>
                      <a:pt x="600710" y="585470"/>
                      <a:pt x="593090" y="572770"/>
                    </a:cubicBezTo>
                    <a:cubicBezTo>
                      <a:pt x="579120" y="558800"/>
                      <a:pt x="566420" y="537210"/>
                      <a:pt x="554990" y="510540"/>
                    </a:cubicBezTo>
                    <a:cubicBezTo>
                      <a:pt x="534670" y="459740"/>
                      <a:pt x="511810" y="389890"/>
                      <a:pt x="511810" y="313690"/>
                    </a:cubicBezTo>
                    <a:lnTo>
                      <a:pt x="511810" y="297180"/>
                    </a:lnTo>
                    <a:close/>
                  </a:path>
                </a:pathLst>
              </a:custGeom>
              <a:solidFill>
                <a:srgbClr val="E57C7C"/>
              </a:solidFill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60325"/>
                <a:ext cx="622300" cy="4095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50"/>
                  </a:lnSpc>
                </a:pPr>
              </a:p>
            </p:txBody>
          </p:sp>
        </p:grpSp>
        <p:sp>
          <p:nvSpPr>
            <p:cNvPr name="TextBox 6" id="6"/>
            <p:cNvSpPr txBox="true"/>
            <p:nvPr/>
          </p:nvSpPr>
          <p:spPr>
            <a:xfrm rot="0">
              <a:off x="839189" y="44089"/>
              <a:ext cx="4644494" cy="4933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50"/>
                </a:lnSpc>
              </a:pPr>
              <a:r>
                <a:rPr lang="en-US" sz="2100" spc="-63">
                  <a:solidFill>
                    <a:srgbClr val="000000"/>
                  </a:solidFill>
                  <a:latin typeface="Open Sauce"/>
                  <a:ea typeface="Open Sauce"/>
                  <a:cs typeface="Open Sauce"/>
                  <a:sym typeface="Open Sauce"/>
                </a:rPr>
                <a:t>Agentify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54122" y="4868654"/>
            <a:ext cx="4921400" cy="3412973"/>
            <a:chOff x="0" y="0"/>
            <a:chExt cx="398871" cy="2766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98871" cy="276616"/>
            </a:xfrm>
            <a:custGeom>
              <a:avLst/>
              <a:gdLst/>
              <a:ahLst/>
              <a:cxnLst/>
              <a:rect r="r" b="b" t="t" l="l"/>
              <a:pathLst>
                <a:path h="276616" w="398871">
                  <a:moveTo>
                    <a:pt x="47193" y="0"/>
                  </a:moveTo>
                  <a:lnTo>
                    <a:pt x="351678" y="0"/>
                  </a:lnTo>
                  <a:cubicBezTo>
                    <a:pt x="364194" y="0"/>
                    <a:pt x="376198" y="4972"/>
                    <a:pt x="385049" y="13823"/>
                  </a:cubicBezTo>
                  <a:cubicBezTo>
                    <a:pt x="393899" y="22673"/>
                    <a:pt x="398871" y="34677"/>
                    <a:pt x="398871" y="47193"/>
                  </a:cubicBezTo>
                  <a:lnTo>
                    <a:pt x="398871" y="229422"/>
                  </a:lnTo>
                  <a:cubicBezTo>
                    <a:pt x="398871" y="241939"/>
                    <a:pt x="393899" y="253943"/>
                    <a:pt x="385049" y="262793"/>
                  </a:cubicBezTo>
                  <a:cubicBezTo>
                    <a:pt x="376198" y="271644"/>
                    <a:pt x="364194" y="276616"/>
                    <a:pt x="351678" y="276616"/>
                  </a:cubicBezTo>
                  <a:lnTo>
                    <a:pt x="47193" y="276616"/>
                  </a:lnTo>
                  <a:cubicBezTo>
                    <a:pt x="34677" y="276616"/>
                    <a:pt x="22673" y="271644"/>
                    <a:pt x="13823" y="262793"/>
                  </a:cubicBezTo>
                  <a:cubicBezTo>
                    <a:pt x="4972" y="253943"/>
                    <a:pt x="0" y="241939"/>
                    <a:pt x="0" y="229422"/>
                  </a:cubicBezTo>
                  <a:lnTo>
                    <a:pt x="0" y="47193"/>
                  </a:lnTo>
                  <a:cubicBezTo>
                    <a:pt x="0" y="34677"/>
                    <a:pt x="4972" y="22673"/>
                    <a:pt x="13823" y="13823"/>
                  </a:cubicBezTo>
                  <a:cubicBezTo>
                    <a:pt x="22673" y="4972"/>
                    <a:pt x="34677" y="0"/>
                    <a:pt x="47193" y="0"/>
                  </a:cubicBezTo>
                  <a:close/>
                </a:path>
              </a:pathLst>
            </a:custGeom>
            <a:solidFill>
              <a:srgbClr val="E57C7C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66675"/>
              <a:ext cx="398871" cy="3432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5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312706" y="1788023"/>
            <a:ext cx="5681949" cy="7470277"/>
            <a:chOff x="0" y="0"/>
            <a:chExt cx="1317316" cy="173192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317316" cy="1731926"/>
            </a:xfrm>
            <a:custGeom>
              <a:avLst/>
              <a:gdLst/>
              <a:ahLst/>
              <a:cxnLst/>
              <a:rect r="r" b="b" t="t" l="l"/>
              <a:pathLst>
                <a:path h="1731926" w="1317316">
                  <a:moveTo>
                    <a:pt x="72215" y="0"/>
                  </a:moveTo>
                  <a:lnTo>
                    <a:pt x="1245101" y="0"/>
                  </a:lnTo>
                  <a:cubicBezTo>
                    <a:pt x="1264253" y="0"/>
                    <a:pt x="1282621" y="7608"/>
                    <a:pt x="1296164" y="21151"/>
                  </a:cubicBezTo>
                  <a:cubicBezTo>
                    <a:pt x="1309707" y="34694"/>
                    <a:pt x="1317316" y="53062"/>
                    <a:pt x="1317316" y="72215"/>
                  </a:cubicBezTo>
                  <a:lnTo>
                    <a:pt x="1317316" y="1659711"/>
                  </a:lnTo>
                  <a:cubicBezTo>
                    <a:pt x="1317316" y="1678863"/>
                    <a:pt x="1309707" y="1697231"/>
                    <a:pt x="1296164" y="1710774"/>
                  </a:cubicBezTo>
                  <a:cubicBezTo>
                    <a:pt x="1282621" y="1724317"/>
                    <a:pt x="1264253" y="1731926"/>
                    <a:pt x="1245101" y="1731926"/>
                  </a:cubicBezTo>
                  <a:lnTo>
                    <a:pt x="72215" y="1731926"/>
                  </a:lnTo>
                  <a:cubicBezTo>
                    <a:pt x="53062" y="1731926"/>
                    <a:pt x="34694" y="1724317"/>
                    <a:pt x="21151" y="1710774"/>
                  </a:cubicBezTo>
                  <a:cubicBezTo>
                    <a:pt x="7608" y="1697231"/>
                    <a:pt x="0" y="1678863"/>
                    <a:pt x="0" y="1659711"/>
                  </a:cubicBezTo>
                  <a:lnTo>
                    <a:pt x="0" y="72215"/>
                  </a:lnTo>
                  <a:cubicBezTo>
                    <a:pt x="0" y="53062"/>
                    <a:pt x="7608" y="34694"/>
                    <a:pt x="21151" y="21151"/>
                  </a:cubicBezTo>
                  <a:cubicBezTo>
                    <a:pt x="34694" y="7608"/>
                    <a:pt x="53062" y="0"/>
                    <a:pt x="72215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8063" r="0" b="-18063"/>
              </a:stretch>
            </a:blipFill>
            <a:ln w="142875" cap="rnd">
              <a:solidFill>
                <a:srgbClr val="E57C7C"/>
              </a:solidFill>
              <a:prstDash val="solid"/>
              <a:round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6197653" y="4868654"/>
            <a:ext cx="4921400" cy="3412973"/>
            <a:chOff x="0" y="0"/>
            <a:chExt cx="398871" cy="2766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98871" cy="276616"/>
            </a:xfrm>
            <a:custGeom>
              <a:avLst/>
              <a:gdLst/>
              <a:ahLst/>
              <a:cxnLst/>
              <a:rect r="r" b="b" t="t" l="l"/>
              <a:pathLst>
                <a:path h="276616" w="398871">
                  <a:moveTo>
                    <a:pt x="47193" y="0"/>
                  </a:moveTo>
                  <a:lnTo>
                    <a:pt x="351678" y="0"/>
                  </a:lnTo>
                  <a:cubicBezTo>
                    <a:pt x="364194" y="0"/>
                    <a:pt x="376198" y="4972"/>
                    <a:pt x="385049" y="13823"/>
                  </a:cubicBezTo>
                  <a:cubicBezTo>
                    <a:pt x="393899" y="22673"/>
                    <a:pt x="398871" y="34677"/>
                    <a:pt x="398871" y="47193"/>
                  </a:cubicBezTo>
                  <a:lnTo>
                    <a:pt x="398871" y="229422"/>
                  </a:lnTo>
                  <a:cubicBezTo>
                    <a:pt x="398871" y="241939"/>
                    <a:pt x="393899" y="253943"/>
                    <a:pt x="385049" y="262793"/>
                  </a:cubicBezTo>
                  <a:cubicBezTo>
                    <a:pt x="376198" y="271644"/>
                    <a:pt x="364194" y="276616"/>
                    <a:pt x="351678" y="276616"/>
                  </a:cubicBezTo>
                  <a:lnTo>
                    <a:pt x="47193" y="276616"/>
                  </a:lnTo>
                  <a:cubicBezTo>
                    <a:pt x="34677" y="276616"/>
                    <a:pt x="22673" y="271644"/>
                    <a:pt x="13823" y="262793"/>
                  </a:cubicBezTo>
                  <a:cubicBezTo>
                    <a:pt x="4972" y="253943"/>
                    <a:pt x="0" y="241939"/>
                    <a:pt x="0" y="229422"/>
                  </a:cubicBezTo>
                  <a:lnTo>
                    <a:pt x="0" y="47193"/>
                  </a:lnTo>
                  <a:cubicBezTo>
                    <a:pt x="0" y="34677"/>
                    <a:pt x="4972" y="22673"/>
                    <a:pt x="13823" y="13823"/>
                  </a:cubicBezTo>
                  <a:cubicBezTo>
                    <a:pt x="22673" y="4972"/>
                    <a:pt x="34677" y="0"/>
                    <a:pt x="47193" y="0"/>
                  </a:cubicBezTo>
                  <a:close/>
                </a:path>
              </a:pathLst>
            </a:custGeom>
            <a:solidFill>
              <a:srgbClr val="E57C7C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66675"/>
              <a:ext cx="398871" cy="3432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50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8563697" y="1341501"/>
            <a:ext cx="1160606" cy="446522"/>
          </a:xfrm>
          <a:custGeom>
            <a:avLst/>
            <a:gdLst/>
            <a:ahLst/>
            <a:cxnLst/>
            <a:rect r="r" b="b" t="t" l="l"/>
            <a:pathLst>
              <a:path h="446522" w="1160606">
                <a:moveTo>
                  <a:pt x="0" y="0"/>
                </a:moveTo>
                <a:lnTo>
                  <a:pt x="1160606" y="0"/>
                </a:lnTo>
                <a:lnTo>
                  <a:pt x="1160606" y="446522"/>
                </a:lnTo>
                <a:lnTo>
                  <a:pt x="0" y="44652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-75980" b="-360761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6994655" y="-1770583"/>
            <a:ext cx="3729038" cy="4114800"/>
          </a:xfrm>
          <a:custGeom>
            <a:avLst/>
            <a:gdLst/>
            <a:ahLst/>
            <a:cxnLst/>
            <a:rect r="r" b="b" t="t" l="l"/>
            <a:pathLst>
              <a:path h="4114800" w="3729038">
                <a:moveTo>
                  <a:pt x="0" y="0"/>
                </a:moveTo>
                <a:lnTo>
                  <a:pt x="3729037" y="0"/>
                </a:lnTo>
                <a:lnTo>
                  <a:pt x="37290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-1864519" y="8229600"/>
            <a:ext cx="3729038" cy="4114800"/>
          </a:xfrm>
          <a:custGeom>
            <a:avLst/>
            <a:gdLst/>
            <a:ahLst/>
            <a:cxnLst/>
            <a:rect r="r" b="b" t="t" l="l"/>
            <a:pathLst>
              <a:path h="4114800" w="3729038">
                <a:moveTo>
                  <a:pt x="0" y="0"/>
                </a:moveTo>
                <a:lnTo>
                  <a:pt x="3729038" y="0"/>
                </a:lnTo>
                <a:lnTo>
                  <a:pt x="37290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079544" y="2190570"/>
            <a:ext cx="7600511" cy="1192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360"/>
              </a:lnSpc>
            </a:pPr>
            <a:r>
              <a:rPr lang="en-US" sz="8000" spc="-80" b="true">
                <a:solidFill>
                  <a:srgbClr val="000000"/>
                </a:solidFill>
                <a:latin typeface="Helvetica Now Display Bold"/>
                <a:ea typeface="Helvetica Now Display Bold"/>
                <a:cs typeface="Helvetica Now Display Bold"/>
                <a:sym typeface="Helvetica Now Display Bold"/>
              </a:rPr>
              <a:t>T</a:t>
            </a:r>
            <a:r>
              <a:rPr lang="en-US" b="true" sz="8000" spc="-80">
                <a:solidFill>
                  <a:srgbClr val="000000"/>
                </a:solidFill>
                <a:latin typeface="Helvetica Now Display Bold"/>
                <a:ea typeface="Helvetica Now Display Bold"/>
                <a:cs typeface="Helvetica Now Display Bold"/>
                <a:sym typeface="Helvetica Now Display Bold"/>
              </a:rPr>
              <a:t>he Problem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91476" y="5347421"/>
            <a:ext cx="4246693" cy="351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0"/>
              </a:lnSpc>
            </a:pPr>
            <a:r>
              <a:rPr lang="en-US" sz="23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</a:t>
            </a:r>
            <a:r>
              <a:rPr lang="en-US" b="true" sz="23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oblem - 01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535007" y="5347421"/>
            <a:ext cx="4246693" cy="351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0"/>
              </a:lnSpc>
            </a:pPr>
            <a:r>
              <a:rPr lang="en-US" sz="23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</a:t>
            </a:r>
            <a:r>
              <a:rPr lang="en-US" b="true" sz="23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oblem - 02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72392" y="5923688"/>
            <a:ext cx="4246693" cy="1703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3" indent="-194312" lvl="1">
              <a:lnSpc>
                <a:spcPts val="270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Cust</a:t>
            </a: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omer support is repetitive and time-consuming.</a:t>
            </a:r>
          </a:p>
          <a:p>
            <a:pPr algn="l" marL="388623" indent="-194312" lvl="1">
              <a:lnSpc>
                <a:spcPts val="270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Staff spend hours answering the same questions about price, availability, and orders.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440351" y="5923688"/>
            <a:ext cx="4246693" cy="1703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3" indent="-194312" lvl="1">
              <a:lnSpc>
                <a:spcPts val="270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</a:t>
            </a: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rder handling is fragmented and error-prone.</a:t>
            </a:r>
          </a:p>
          <a:p>
            <a:pPr algn="l" marL="388623" indent="-194312" lvl="1">
              <a:lnSpc>
                <a:spcPts val="270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Businesses must switch between tools (Zalo, POS systems), causing delays and mistakes.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54122" y="3516450"/>
            <a:ext cx="9727577" cy="1017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0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SMEs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 Vietna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y heavily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oc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ia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co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mm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ce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ch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nnel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 li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ke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Zal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a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 Fac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book,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y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et t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he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 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al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 a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nd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cus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tomer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suppor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workflow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rem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h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g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h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ly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man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u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.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Th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is le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ad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to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in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efficiency,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ow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esp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ons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ti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s, a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nd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miss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v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enue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opp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rtu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niti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54122" y="1028700"/>
            <a:ext cx="4112762" cy="486186"/>
            <a:chOff x="0" y="0"/>
            <a:chExt cx="5483683" cy="648248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675833" cy="648248"/>
              <a:chOff x="0" y="0"/>
              <a:chExt cx="622300" cy="596900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22300" cy="596900"/>
              </a:xfrm>
              <a:custGeom>
                <a:avLst/>
                <a:gdLst/>
                <a:ahLst/>
                <a:cxnLst/>
                <a:rect r="r" b="b" t="t" l="l"/>
                <a:pathLst>
                  <a:path h="596900" w="622300">
                    <a:moveTo>
                      <a:pt x="295910" y="297180"/>
                    </a:moveTo>
                    <a:lnTo>
                      <a:pt x="295910" y="596900"/>
                    </a:lnTo>
                    <a:cubicBezTo>
                      <a:pt x="129540" y="590550"/>
                      <a:pt x="0" y="459740"/>
                      <a:pt x="0" y="297180"/>
                    </a:cubicBezTo>
                    <a:cubicBezTo>
                      <a:pt x="0" y="135890"/>
                      <a:pt x="129540" y="3810"/>
                      <a:pt x="295910" y="0"/>
                    </a:cubicBezTo>
                    <a:lnTo>
                      <a:pt x="295910" y="299720"/>
                    </a:lnTo>
                    <a:close/>
                    <a:moveTo>
                      <a:pt x="295910" y="287020"/>
                    </a:moveTo>
                    <a:lnTo>
                      <a:pt x="295910" y="289560"/>
                    </a:lnTo>
                    <a:cubicBezTo>
                      <a:pt x="295910" y="210820"/>
                      <a:pt x="328930" y="138430"/>
                      <a:pt x="365760" y="86360"/>
                    </a:cubicBezTo>
                    <a:cubicBezTo>
                      <a:pt x="402590" y="35560"/>
                      <a:pt x="452120" y="2540"/>
                      <a:pt x="511810" y="0"/>
                    </a:cubicBezTo>
                    <a:lnTo>
                      <a:pt x="511810" y="297180"/>
                    </a:lnTo>
                    <a:lnTo>
                      <a:pt x="511810" y="596900"/>
                    </a:lnTo>
                    <a:cubicBezTo>
                      <a:pt x="452120" y="591820"/>
                      <a:pt x="402590" y="560070"/>
                      <a:pt x="365760" y="509270"/>
                    </a:cubicBezTo>
                    <a:cubicBezTo>
                      <a:pt x="328930" y="457200"/>
                      <a:pt x="295910" y="384810"/>
                      <a:pt x="295910" y="304800"/>
                    </a:cubicBezTo>
                    <a:lnTo>
                      <a:pt x="295910" y="287020"/>
                    </a:lnTo>
                    <a:close/>
                    <a:moveTo>
                      <a:pt x="511810" y="297180"/>
                    </a:moveTo>
                    <a:cubicBezTo>
                      <a:pt x="511810" y="214630"/>
                      <a:pt x="533400" y="138430"/>
                      <a:pt x="554990" y="85090"/>
                    </a:cubicBezTo>
                    <a:cubicBezTo>
                      <a:pt x="566420" y="58420"/>
                      <a:pt x="579120" y="36830"/>
                      <a:pt x="593090" y="21590"/>
                    </a:cubicBezTo>
                    <a:cubicBezTo>
                      <a:pt x="604520" y="10160"/>
                      <a:pt x="615950" y="2540"/>
                      <a:pt x="622300" y="1270"/>
                    </a:cubicBezTo>
                    <a:lnTo>
                      <a:pt x="622300" y="596900"/>
                    </a:lnTo>
                    <a:cubicBezTo>
                      <a:pt x="615950" y="591820"/>
                      <a:pt x="600710" y="585470"/>
                      <a:pt x="593090" y="572770"/>
                    </a:cubicBezTo>
                    <a:cubicBezTo>
                      <a:pt x="579120" y="558800"/>
                      <a:pt x="566420" y="537210"/>
                      <a:pt x="554990" y="510540"/>
                    </a:cubicBezTo>
                    <a:cubicBezTo>
                      <a:pt x="534670" y="459740"/>
                      <a:pt x="511810" y="389890"/>
                      <a:pt x="511810" y="313690"/>
                    </a:cubicBezTo>
                    <a:lnTo>
                      <a:pt x="511810" y="297180"/>
                    </a:lnTo>
                    <a:close/>
                  </a:path>
                </a:pathLst>
              </a:custGeom>
              <a:solidFill>
                <a:srgbClr val="E57C7C"/>
              </a:solidFill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60325"/>
                <a:ext cx="622300" cy="4095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50"/>
                  </a:lnSpc>
                </a:pPr>
              </a:p>
            </p:txBody>
          </p:sp>
        </p:grpSp>
        <p:sp>
          <p:nvSpPr>
            <p:cNvPr name="TextBox 6" id="6"/>
            <p:cNvSpPr txBox="true"/>
            <p:nvPr/>
          </p:nvSpPr>
          <p:spPr>
            <a:xfrm rot="0">
              <a:off x="839189" y="44089"/>
              <a:ext cx="4644494" cy="4933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50"/>
                </a:lnSpc>
              </a:pPr>
              <a:r>
                <a:rPr lang="en-US" sz="2100" spc="-63">
                  <a:solidFill>
                    <a:srgbClr val="000000"/>
                  </a:solidFill>
                  <a:latin typeface="Open Sauce"/>
                  <a:ea typeface="Open Sauce"/>
                  <a:cs typeface="Open Sauce"/>
                  <a:sym typeface="Open Sauce"/>
                </a:rPr>
                <a:t>Agentify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344278" y="183731"/>
            <a:ext cx="5599445" cy="9734193"/>
            <a:chOff x="0" y="0"/>
            <a:chExt cx="1298188" cy="225679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298188" cy="2256797"/>
            </a:xfrm>
            <a:custGeom>
              <a:avLst/>
              <a:gdLst/>
              <a:ahLst/>
              <a:cxnLst/>
              <a:rect r="r" b="b" t="t" l="l"/>
              <a:pathLst>
                <a:path h="2256797" w="1298188">
                  <a:moveTo>
                    <a:pt x="91253" y="0"/>
                  </a:moveTo>
                  <a:lnTo>
                    <a:pt x="1206935" y="0"/>
                  </a:lnTo>
                  <a:cubicBezTo>
                    <a:pt x="1231136" y="0"/>
                    <a:pt x="1254347" y="9614"/>
                    <a:pt x="1271460" y="26727"/>
                  </a:cubicBezTo>
                  <a:cubicBezTo>
                    <a:pt x="1288574" y="43841"/>
                    <a:pt x="1298188" y="67051"/>
                    <a:pt x="1298188" y="91253"/>
                  </a:cubicBezTo>
                  <a:lnTo>
                    <a:pt x="1298188" y="2165544"/>
                  </a:lnTo>
                  <a:cubicBezTo>
                    <a:pt x="1298188" y="2215941"/>
                    <a:pt x="1257332" y="2256797"/>
                    <a:pt x="1206935" y="2256797"/>
                  </a:cubicBezTo>
                  <a:lnTo>
                    <a:pt x="91253" y="2256797"/>
                  </a:lnTo>
                  <a:cubicBezTo>
                    <a:pt x="67051" y="2256797"/>
                    <a:pt x="43841" y="2247183"/>
                    <a:pt x="26727" y="2230069"/>
                  </a:cubicBezTo>
                  <a:cubicBezTo>
                    <a:pt x="9614" y="2212956"/>
                    <a:pt x="0" y="2189746"/>
                    <a:pt x="0" y="2165544"/>
                  </a:cubicBezTo>
                  <a:lnTo>
                    <a:pt x="0" y="91253"/>
                  </a:lnTo>
                  <a:cubicBezTo>
                    <a:pt x="0" y="67051"/>
                    <a:pt x="9614" y="43841"/>
                    <a:pt x="26727" y="26727"/>
                  </a:cubicBezTo>
                  <a:cubicBezTo>
                    <a:pt x="43841" y="9614"/>
                    <a:pt x="67051" y="0"/>
                    <a:pt x="91253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475" r="0" b="-1475"/>
              </a:stretch>
            </a:blipFill>
            <a:ln w="142875" cap="rnd">
              <a:solidFill>
                <a:srgbClr val="E57C7C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2337900" y="2171520"/>
            <a:ext cx="4921400" cy="3412973"/>
            <a:chOff x="0" y="0"/>
            <a:chExt cx="398871" cy="27661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98871" cy="276616"/>
            </a:xfrm>
            <a:custGeom>
              <a:avLst/>
              <a:gdLst/>
              <a:ahLst/>
              <a:cxnLst/>
              <a:rect r="r" b="b" t="t" l="l"/>
              <a:pathLst>
                <a:path h="276616" w="398871">
                  <a:moveTo>
                    <a:pt x="47193" y="0"/>
                  </a:moveTo>
                  <a:lnTo>
                    <a:pt x="351678" y="0"/>
                  </a:lnTo>
                  <a:cubicBezTo>
                    <a:pt x="364194" y="0"/>
                    <a:pt x="376198" y="4972"/>
                    <a:pt x="385049" y="13823"/>
                  </a:cubicBezTo>
                  <a:cubicBezTo>
                    <a:pt x="393899" y="22673"/>
                    <a:pt x="398871" y="34677"/>
                    <a:pt x="398871" y="47193"/>
                  </a:cubicBezTo>
                  <a:lnTo>
                    <a:pt x="398871" y="229422"/>
                  </a:lnTo>
                  <a:cubicBezTo>
                    <a:pt x="398871" y="241939"/>
                    <a:pt x="393899" y="253943"/>
                    <a:pt x="385049" y="262793"/>
                  </a:cubicBezTo>
                  <a:cubicBezTo>
                    <a:pt x="376198" y="271644"/>
                    <a:pt x="364194" y="276616"/>
                    <a:pt x="351678" y="276616"/>
                  </a:cubicBezTo>
                  <a:lnTo>
                    <a:pt x="47193" y="276616"/>
                  </a:lnTo>
                  <a:cubicBezTo>
                    <a:pt x="34677" y="276616"/>
                    <a:pt x="22673" y="271644"/>
                    <a:pt x="13823" y="262793"/>
                  </a:cubicBezTo>
                  <a:cubicBezTo>
                    <a:pt x="4972" y="253943"/>
                    <a:pt x="0" y="241939"/>
                    <a:pt x="0" y="229422"/>
                  </a:cubicBezTo>
                  <a:lnTo>
                    <a:pt x="0" y="47193"/>
                  </a:lnTo>
                  <a:cubicBezTo>
                    <a:pt x="0" y="34677"/>
                    <a:pt x="4972" y="22673"/>
                    <a:pt x="13823" y="13823"/>
                  </a:cubicBezTo>
                  <a:cubicBezTo>
                    <a:pt x="22673" y="4972"/>
                    <a:pt x="34677" y="0"/>
                    <a:pt x="47193" y="0"/>
                  </a:cubicBezTo>
                  <a:close/>
                </a:path>
              </a:pathLst>
            </a:custGeom>
            <a:solidFill>
              <a:srgbClr val="E57C7C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66675"/>
              <a:ext cx="398871" cy="3432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50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2337900" y="5799607"/>
            <a:ext cx="4921400" cy="3412973"/>
            <a:chOff x="0" y="0"/>
            <a:chExt cx="398871" cy="2766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98871" cy="276616"/>
            </a:xfrm>
            <a:custGeom>
              <a:avLst/>
              <a:gdLst/>
              <a:ahLst/>
              <a:cxnLst/>
              <a:rect r="r" b="b" t="t" l="l"/>
              <a:pathLst>
                <a:path h="276616" w="398871">
                  <a:moveTo>
                    <a:pt x="47193" y="0"/>
                  </a:moveTo>
                  <a:lnTo>
                    <a:pt x="351678" y="0"/>
                  </a:lnTo>
                  <a:cubicBezTo>
                    <a:pt x="364194" y="0"/>
                    <a:pt x="376198" y="4972"/>
                    <a:pt x="385049" y="13823"/>
                  </a:cubicBezTo>
                  <a:cubicBezTo>
                    <a:pt x="393899" y="22673"/>
                    <a:pt x="398871" y="34677"/>
                    <a:pt x="398871" y="47193"/>
                  </a:cubicBezTo>
                  <a:lnTo>
                    <a:pt x="398871" y="229422"/>
                  </a:lnTo>
                  <a:cubicBezTo>
                    <a:pt x="398871" y="241939"/>
                    <a:pt x="393899" y="253943"/>
                    <a:pt x="385049" y="262793"/>
                  </a:cubicBezTo>
                  <a:cubicBezTo>
                    <a:pt x="376198" y="271644"/>
                    <a:pt x="364194" y="276616"/>
                    <a:pt x="351678" y="276616"/>
                  </a:cubicBezTo>
                  <a:lnTo>
                    <a:pt x="47193" y="276616"/>
                  </a:lnTo>
                  <a:cubicBezTo>
                    <a:pt x="34677" y="276616"/>
                    <a:pt x="22673" y="271644"/>
                    <a:pt x="13823" y="262793"/>
                  </a:cubicBezTo>
                  <a:cubicBezTo>
                    <a:pt x="4972" y="253943"/>
                    <a:pt x="0" y="241939"/>
                    <a:pt x="0" y="229422"/>
                  </a:cubicBezTo>
                  <a:lnTo>
                    <a:pt x="0" y="47193"/>
                  </a:lnTo>
                  <a:cubicBezTo>
                    <a:pt x="0" y="34677"/>
                    <a:pt x="4972" y="22673"/>
                    <a:pt x="13823" y="13823"/>
                  </a:cubicBezTo>
                  <a:cubicBezTo>
                    <a:pt x="22673" y="4972"/>
                    <a:pt x="34677" y="0"/>
                    <a:pt x="47193" y="0"/>
                  </a:cubicBezTo>
                  <a:close/>
                </a:path>
              </a:pathLst>
            </a:custGeom>
            <a:solidFill>
              <a:srgbClr val="E57C7C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66675"/>
              <a:ext cx="398871" cy="3432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50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16994655" y="-1770583"/>
            <a:ext cx="3729038" cy="4114800"/>
          </a:xfrm>
          <a:custGeom>
            <a:avLst/>
            <a:gdLst/>
            <a:ahLst/>
            <a:cxnLst/>
            <a:rect r="r" b="b" t="t" l="l"/>
            <a:pathLst>
              <a:path h="4114800" w="3729038">
                <a:moveTo>
                  <a:pt x="0" y="0"/>
                </a:moveTo>
                <a:lnTo>
                  <a:pt x="3729037" y="0"/>
                </a:lnTo>
                <a:lnTo>
                  <a:pt x="37290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-1864519" y="8229600"/>
            <a:ext cx="3729038" cy="4114800"/>
          </a:xfrm>
          <a:custGeom>
            <a:avLst/>
            <a:gdLst/>
            <a:ahLst/>
            <a:cxnLst/>
            <a:rect r="r" b="b" t="t" l="l"/>
            <a:pathLst>
              <a:path h="4114800" w="3729038">
                <a:moveTo>
                  <a:pt x="0" y="0"/>
                </a:moveTo>
                <a:lnTo>
                  <a:pt x="3729038" y="0"/>
                </a:lnTo>
                <a:lnTo>
                  <a:pt x="37290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079544" y="2678862"/>
            <a:ext cx="4874209" cy="237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360"/>
              </a:lnSpc>
            </a:pPr>
            <a:r>
              <a:rPr lang="en-US" sz="8000" spc="-80" b="true">
                <a:solidFill>
                  <a:srgbClr val="000000"/>
                </a:solidFill>
                <a:latin typeface="Helvetica Now Display Bold"/>
                <a:ea typeface="Helvetica Now Display Bold"/>
                <a:cs typeface="Helvetica Now Display Bold"/>
                <a:sym typeface="Helvetica Now Display Bold"/>
              </a:rPr>
              <a:t>T</a:t>
            </a:r>
            <a:r>
              <a:rPr lang="en-US" b="true" sz="8000" spc="-80">
                <a:solidFill>
                  <a:srgbClr val="000000"/>
                </a:solidFill>
                <a:latin typeface="Helvetica Now Display Bold"/>
                <a:ea typeface="Helvetica Now Display Bold"/>
                <a:cs typeface="Helvetica Now Display Bold"/>
                <a:sym typeface="Helvetica Now Display Bold"/>
              </a:rPr>
              <a:t>he Solution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675254" y="2650287"/>
            <a:ext cx="4246693" cy="351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0"/>
              </a:lnSpc>
            </a:pPr>
            <a:r>
              <a:rPr lang="en-US" sz="23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AI-p</a:t>
            </a:r>
            <a:r>
              <a:rPr lang="en-US" b="true" sz="23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owered conversation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675254" y="6278374"/>
            <a:ext cx="4246693" cy="351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0"/>
              </a:lnSpc>
            </a:pPr>
            <a:r>
              <a:rPr lang="en-US" sz="23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End-t</a:t>
            </a:r>
            <a:r>
              <a:rPr lang="en-US" b="true" sz="23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o-end automation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675254" y="3492203"/>
            <a:ext cx="4246693" cy="1017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Understands natural Vietnamese and responds instantly, 24/7.</a:t>
            </a:r>
          </a:p>
          <a:p>
            <a:pPr algn="l">
              <a:lnSpc>
                <a:spcPts val="2700"/>
              </a:lnSpc>
            </a:pPr>
          </a:p>
        </p:txBody>
      </p:sp>
      <p:sp>
        <p:nvSpPr>
          <p:cNvPr name="TextBox 21" id="21"/>
          <p:cNvSpPr txBox="true"/>
          <p:nvPr/>
        </p:nvSpPr>
        <p:spPr>
          <a:xfrm rot="0">
            <a:off x="12675254" y="6818000"/>
            <a:ext cx="4246693" cy="1703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Connects with KiotViet, Sapo, and other systems to create orders, check inventory, and send confirmations automatically.</a:t>
            </a:r>
          </a:p>
          <a:p>
            <a:pPr algn="l">
              <a:lnSpc>
                <a:spcPts val="2700"/>
              </a:lnSpc>
            </a:pPr>
          </a:p>
        </p:txBody>
      </p:sp>
      <p:sp>
        <p:nvSpPr>
          <p:cNvPr name="TextBox 22" id="22"/>
          <p:cNvSpPr txBox="true"/>
          <p:nvPr/>
        </p:nvSpPr>
        <p:spPr>
          <a:xfrm rot="0">
            <a:off x="1079544" y="5381731"/>
            <a:ext cx="4490608" cy="2045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0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Ag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entify introduces AI Agents that not only understand customer intent but also take real actions—automating the entire workflow from conversation to order completion.</a:t>
            </a:r>
          </a:p>
          <a:p>
            <a:pPr algn="l" marL="0" indent="0" lvl="0">
              <a:lnSpc>
                <a:spcPts val="270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54122" y="1028700"/>
            <a:ext cx="4112762" cy="486186"/>
            <a:chOff x="0" y="0"/>
            <a:chExt cx="5483683" cy="648248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675833" cy="648248"/>
              <a:chOff x="0" y="0"/>
              <a:chExt cx="622300" cy="596900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22300" cy="596900"/>
              </a:xfrm>
              <a:custGeom>
                <a:avLst/>
                <a:gdLst/>
                <a:ahLst/>
                <a:cxnLst/>
                <a:rect r="r" b="b" t="t" l="l"/>
                <a:pathLst>
                  <a:path h="596900" w="622300">
                    <a:moveTo>
                      <a:pt x="295910" y="297180"/>
                    </a:moveTo>
                    <a:lnTo>
                      <a:pt x="295910" y="596900"/>
                    </a:lnTo>
                    <a:cubicBezTo>
                      <a:pt x="129540" y="590550"/>
                      <a:pt x="0" y="459740"/>
                      <a:pt x="0" y="297180"/>
                    </a:cubicBezTo>
                    <a:cubicBezTo>
                      <a:pt x="0" y="135890"/>
                      <a:pt x="129540" y="3810"/>
                      <a:pt x="295910" y="0"/>
                    </a:cubicBezTo>
                    <a:lnTo>
                      <a:pt x="295910" y="299720"/>
                    </a:lnTo>
                    <a:close/>
                    <a:moveTo>
                      <a:pt x="295910" y="287020"/>
                    </a:moveTo>
                    <a:lnTo>
                      <a:pt x="295910" y="289560"/>
                    </a:lnTo>
                    <a:cubicBezTo>
                      <a:pt x="295910" y="210820"/>
                      <a:pt x="328930" y="138430"/>
                      <a:pt x="365760" y="86360"/>
                    </a:cubicBezTo>
                    <a:cubicBezTo>
                      <a:pt x="402590" y="35560"/>
                      <a:pt x="452120" y="2540"/>
                      <a:pt x="511810" y="0"/>
                    </a:cubicBezTo>
                    <a:lnTo>
                      <a:pt x="511810" y="297180"/>
                    </a:lnTo>
                    <a:lnTo>
                      <a:pt x="511810" y="596900"/>
                    </a:lnTo>
                    <a:cubicBezTo>
                      <a:pt x="452120" y="591820"/>
                      <a:pt x="402590" y="560070"/>
                      <a:pt x="365760" y="509270"/>
                    </a:cubicBezTo>
                    <a:cubicBezTo>
                      <a:pt x="328930" y="457200"/>
                      <a:pt x="295910" y="384810"/>
                      <a:pt x="295910" y="304800"/>
                    </a:cubicBezTo>
                    <a:lnTo>
                      <a:pt x="295910" y="287020"/>
                    </a:lnTo>
                    <a:close/>
                    <a:moveTo>
                      <a:pt x="511810" y="297180"/>
                    </a:moveTo>
                    <a:cubicBezTo>
                      <a:pt x="511810" y="214630"/>
                      <a:pt x="533400" y="138430"/>
                      <a:pt x="554990" y="85090"/>
                    </a:cubicBezTo>
                    <a:cubicBezTo>
                      <a:pt x="566420" y="58420"/>
                      <a:pt x="579120" y="36830"/>
                      <a:pt x="593090" y="21590"/>
                    </a:cubicBezTo>
                    <a:cubicBezTo>
                      <a:pt x="604520" y="10160"/>
                      <a:pt x="615950" y="2540"/>
                      <a:pt x="622300" y="1270"/>
                    </a:cubicBezTo>
                    <a:lnTo>
                      <a:pt x="622300" y="596900"/>
                    </a:lnTo>
                    <a:cubicBezTo>
                      <a:pt x="615950" y="591820"/>
                      <a:pt x="600710" y="585470"/>
                      <a:pt x="593090" y="572770"/>
                    </a:cubicBezTo>
                    <a:cubicBezTo>
                      <a:pt x="579120" y="558800"/>
                      <a:pt x="566420" y="537210"/>
                      <a:pt x="554990" y="510540"/>
                    </a:cubicBezTo>
                    <a:cubicBezTo>
                      <a:pt x="534670" y="459740"/>
                      <a:pt x="511810" y="389890"/>
                      <a:pt x="511810" y="313690"/>
                    </a:cubicBezTo>
                    <a:lnTo>
                      <a:pt x="511810" y="297180"/>
                    </a:lnTo>
                    <a:close/>
                  </a:path>
                </a:pathLst>
              </a:custGeom>
              <a:solidFill>
                <a:srgbClr val="E57C7C"/>
              </a:solidFill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60325"/>
                <a:ext cx="622300" cy="4095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50"/>
                  </a:lnSpc>
                </a:pPr>
              </a:p>
            </p:txBody>
          </p:sp>
        </p:grpSp>
        <p:sp>
          <p:nvSpPr>
            <p:cNvPr name="TextBox 6" id="6"/>
            <p:cNvSpPr txBox="true"/>
            <p:nvPr/>
          </p:nvSpPr>
          <p:spPr>
            <a:xfrm rot="0">
              <a:off x="839189" y="44089"/>
              <a:ext cx="4644494" cy="4933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50"/>
                </a:lnSpc>
              </a:pPr>
              <a:r>
                <a:rPr lang="en-US" sz="2100" spc="-63">
                  <a:solidFill>
                    <a:srgbClr val="000000"/>
                  </a:solidFill>
                  <a:latin typeface="Open Sauce"/>
                  <a:ea typeface="Open Sauce"/>
                  <a:cs typeface="Open Sauce"/>
                  <a:sym typeface="Open Sauce"/>
                </a:rPr>
                <a:t>Agentify</a:t>
              </a: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-675553" y="1028700"/>
            <a:ext cx="1160606" cy="446522"/>
          </a:xfrm>
          <a:custGeom>
            <a:avLst/>
            <a:gdLst/>
            <a:ahLst/>
            <a:cxnLst/>
            <a:rect r="r" b="b" t="t" l="l"/>
            <a:pathLst>
              <a:path h="446522" w="1160606">
                <a:moveTo>
                  <a:pt x="0" y="0"/>
                </a:moveTo>
                <a:lnTo>
                  <a:pt x="1160606" y="0"/>
                </a:lnTo>
                <a:lnTo>
                  <a:pt x="1160606" y="446522"/>
                </a:lnTo>
                <a:lnTo>
                  <a:pt x="0" y="4465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75980" b="-360761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7802947" y="8938260"/>
            <a:ext cx="1160606" cy="446522"/>
          </a:xfrm>
          <a:custGeom>
            <a:avLst/>
            <a:gdLst/>
            <a:ahLst/>
            <a:cxnLst/>
            <a:rect r="r" b="b" t="t" l="l"/>
            <a:pathLst>
              <a:path h="446522" w="1160606">
                <a:moveTo>
                  <a:pt x="0" y="0"/>
                </a:moveTo>
                <a:lnTo>
                  <a:pt x="1160606" y="0"/>
                </a:lnTo>
                <a:lnTo>
                  <a:pt x="1160606" y="446522"/>
                </a:lnTo>
                <a:lnTo>
                  <a:pt x="0" y="4465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75980" b="-360761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6994655" y="-1770583"/>
            <a:ext cx="3729038" cy="4114800"/>
          </a:xfrm>
          <a:custGeom>
            <a:avLst/>
            <a:gdLst/>
            <a:ahLst/>
            <a:cxnLst/>
            <a:rect r="r" b="b" t="t" l="l"/>
            <a:pathLst>
              <a:path h="4114800" w="3729038">
                <a:moveTo>
                  <a:pt x="0" y="0"/>
                </a:moveTo>
                <a:lnTo>
                  <a:pt x="3729037" y="0"/>
                </a:lnTo>
                <a:lnTo>
                  <a:pt x="37290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1864519" y="8229600"/>
            <a:ext cx="3729038" cy="4114800"/>
          </a:xfrm>
          <a:custGeom>
            <a:avLst/>
            <a:gdLst/>
            <a:ahLst/>
            <a:cxnLst/>
            <a:rect r="r" b="b" t="t" l="l"/>
            <a:pathLst>
              <a:path h="4114800" w="3729038">
                <a:moveTo>
                  <a:pt x="0" y="0"/>
                </a:moveTo>
                <a:lnTo>
                  <a:pt x="3729038" y="0"/>
                </a:lnTo>
                <a:lnTo>
                  <a:pt x="37290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8516070" y="1056554"/>
            <a:ext cx="8006339" cy="8006339"/>
          </a:xfrm>
          <a:custGeom>
            <a:avLst/>
            <a:gdLst/>
            <a:ahLst/>
            <a:cxnLst/>
            <a:rect r="r" b="b" t="t" l="l"/>
            <a:pathLst>
              <a:path h="8006339" w="8006339">
                <a:moveTo>
                  <a:pt x="0" y="0"/>
                </a:moveTo>
                <a:lnTo>
                  <a:pt x="8006339" y="0"/>
                </a:lnTo>
                <a:lnTo>
                  <a:pt x="8006339" y="8006339"/>
                </a:lnTo>
                <a:lnTo>
                  <a:pt x="0" y="80063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028700" y="2394954"/>
            <a:ext cx="6915870" cy="237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360"/>
              </a:lnSpc>
            </a:pPr>
            <a:r>
              <a:rPr lang="en-US" sz="8000" spc="-80" b="true">
                <a:solidFill>
                  <a:srgbClr val="000000"/>
                </a:solidFill>
                <a:latin typeface="Helvetica Now Display Bold"/>
                <a:ea typeface="Helvetica Now Display Bold"/>
                <a:cs typeface="Helvetica Now Display Bold"/>
                <a:sym typeface="Helvetica Now Display Bold"/>
              </a:rPr>
              <a:t>Mark</a:t>
            </a:r>
            <a:r>
              <a:rPr lang="en-US" b="true" sz="8000" spc="-80">
                <a:solidFill>
                  <a:srgbClr val="000000"/>
                </a:solidFill>
                <a:latin typeface="Helvetica Now Display Bold"/>
                <a:ea typeface="Helvetica Now Display Bold"/>
                <a:cs typeface="Helvetica Now Display Bold"/>
                <a:sym typeface="Helvetica Now Display Bold"/>
              </a:rPr>
              <a:t>et Opportunity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28700" y="5002573"/>
            <a:ext cx="6915870" cy="136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0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Vi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etnam’s social commerce market is rapidly growing, driven by millions of SMEs selling through Zalo and Facebook. However, most businesses still rely on manual operations, creating a massive opportunity for automation.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28700" y="6587512"/>
            <a:ext cx="6915870" cy="136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5" indent="-194312" lvl="1">
              <a:lnSpc>
                <a:spcPts val="2700"/>
              </a:lnSpc>
              <a:spcBef>
                <a:spcPct val="0"/>
              </a:spcBef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~900,000 SMEs in Vi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etnam</a:t>
            </a:r>
          </a:p>
          <a:p>
            <a:pPr algn="l" marL="388625" indent="-194312" lvl="1">
              <a:lnSpc>
                <a:spcPts val="2700"/>
              </a:lnSpc>
              <a:spcBef>
                <a:spcPct val="0"/>
              </a:spcBef>
              <a:buFont typeface="Arial"/>
              <a:buChar char="•"/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68% use social platforms as primary sales channels</a:t>
            </a:r>
          </a:p>
          <a:p>
            <a:pPr algn="l" marL="388625" indent="-194312" lvl="1">
              <a:lnSpc>
                <a:spcPts val="2700"/>
              </a:lnSpc>
              <a:spcBef>
                <a:spcPct val="0"/>
              </a:spcBef>
              <a:buFont typeface="Arial"/>
              <a:buChar char="•"/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High demand for cost reduction and efficiency</a:t>
            </a:r>
          </a:p>
          <a:p>
            <a:pPr algn="l" marL="0" indent="0" lvl="0">
              <a:lnSpc>
                <a:spcPts val="270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751320" y="2148487"/>
            <a:ext cx="10785360" cy="1192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US" b="true" sz="8000" spc="-80">
                <a:solidFill>
                  <a:srgbClr val="000000"/>
                </a:solidFill>
                <a:latin typeface="Helvetica Now Display Bold"/>
                <a:ea typeface="Helvetica Now Display Bold"/>
                <a:cs typeface="Helvetica Now Display Bold"/>
                <a:sym typeface="Helvetica Now Display Bold"/>
              </a:rPr>
              <a:t>Servic</a:t>
            </a:r>
            <a:r>
              <a:rPr lang="en-US" b="true" sz="8000" spc="-80">
                <a:solidFill>
                  <a:srgbClr val="000000"/>
                </a:solidFill>
                <a:latin typeface="Helvetica Now Display Bold"/>
                <a:ea typeface="Helvetica Now Display Bold"/>
                <a:cs typeface="Helvetica Now Display Bold"/>
                <a:sym typeface="Helvetica Now Display Bold"/>
              </a:rPr>
              <a:t>e Overview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54122" y="1028700"/>
            <a:ext cx="4112762" cy="486186"/>
            <a:chOff x="0" y="0"/>
            <a:chExt cx="5483683" cy="648248"/>
          </a:xfrm>
        </p:grpSpPr>
        <p:grpSp>
          <p:nvGrpSpPr>
            <p:cNvPr name="Group 4" id="4"/>
            <p:cNvGrpSpPr/>
            <p:nvPr/>
          </p:nvGrpSpPr>
          <p:grpSpPr>
            <a:xfrm rot="0">
              <a:off x="0" y="0"/>
              <a:ext cx="675833" cy="648248"/>
              <a:chOff x="0" y="0"/>
              <a:chExt cx="622300" cy="596900"/>
            </a:xfrm>
          </p:grpSpPr>
          <p:sp>
            <p:nvSpPr>
              <p:cNvPr name="Freeform 5" id="5"/>
              <p:cNvSpPr/>
              <p:nvPr/>
            </p:nvSpPr>
            <p:spPr>
              <a:xfrm flipH="false" flipV="false" rot="0">
                <a:off x="0" y="0"/>
                <a:ext cx="622300" cy="596900"/>
              </a:xfrm>
              <a:custGeom>
                <a:avLst/>
                <a:gdLst/>
                <a:ahLst/>
                <a:cxnLst/>
                <a:rect r="r" b="b" t="t" l="l"/>
                <a:pathLst>
                  <a:path h="596900" w="622300">
                    <a:moveTo>
                      <a:pt x="295910" y="297180"/>
                    </a:moveTo>
                    <a:lnTo>
                      <a:pt x="295910" y="596900"/>
                    </a:lnTo>
                    <a:cubicBezTo>
                      <a:pt x="129540" y="590550"/>
                      <a:pt x="0" y="459740"/>
                      <a:pt x="0" y="297180"/>
                    </a:cubicBezTo>
                    <a:cubicBezTo>
                      <a:pt x="0" y="135890"/>
                      <a:pt x="129540" y="3810"/>
                      <a:pt x="295910" y="0"/>
                    </a:cubicBezTo>
                    <a:lnTo>
                      <a:pt x="295910" y="299720"/>
                    </a:lnTo>
                    <a:close/>
                    <a:moveTo>
                      <a:pt x="295910" y="287020"/>
                    </a:moveTo>
                    <a:lnTo>
                      <a:pt x="295910" y="289560"/>
                    </a:lnTo>
                    <a:cubicBezTo>
                      <a:pt x="295910" y="210820"/>
                      <a:pt x="328930" y="138430"/>
                      <a:pt x="365760" y="86360"/>
                    </a:cubicBezTo>
                    <a:cubicBezTo>
                      <a:pt x="402590" y="35560"/>
                      <a:pt x="452120" y="2540"/>
                      <a:pt x="511810" y="0"/>
                    </a:cubicBezTo>
                    <a:lnTo>
                      <a:pt x="511810" y="297180"/>
                    </a:lnTo>
                    <a:lnTo>
                      <a:pt x="511810" y="596900"/>
                    </a:lnTo>
                    <a:cubicBezTo>
                      <a:pt x="452120" y="591820"/>
                      <a:pt x="402590" y="560070"/>
                      <a:pt x="365760" y="509270"/>
                    </a:cubicBezTo>
                    <a:cubicBezTo>
                      <a:pt x="328930" y="457200"/>
                      <a:pt x="295910" y="384810"/>
                      <a:pt x="295910" y="304800"/>
                    </a:cubicBezTo>
                    <a:lnTo>
                      <a:pt x="295910" y="287020"/>
                    </a:lnTo>
                    <a:close/>
                    <a:moveTo>
                      <a:pt x="511810" y="297180"/>
                    </a:moveTo>
                    <a:cubicBezTo>
                      <a:pt x="511810" y="214630"/>
                      <a:pt x="533400" y="138430"/>
                      <a:pt x="554990" y="85090"/>
                    </a:cubicBezTo>
                    <a:cubicBezTo>
                      <a:pt x="566420" y="58420"/>
                      <a:pt x="579120" y="36830"/>
                      <a:pt x="593090" y="21590"/>
                    </a:cubicBezTo>
                    <a:cubicBezTo>
                      <a:pt x="604520" y="10160"/>
                      <a:pt x="615950" y="2540"/>
                      <a:pt x="622300" y="1270"/>
                    </a:cubicBezTo>
                    <a:lnTo>
                      <a:pt x="622300" y="596900"/>
                    </a:lnTo>
                    <a:cubicBezTo>
                      <a:pt x="615950" y="591820"/>
                      <a:pt x="600710" y="585470"/>
                      <a:pt x="593090" y="572770"/>
                    </a:cubicBezTo>
                    <a:cubicBezTo>
                      <a:pt x="579120" y="558800"/>
                      <a:pt x="566420" y="537210"/>
                      <a:pt x="554990" y="510540"/>
                    </a:cubicBezTo>
                    <a:cubicBezTo>
                      <a:pt x="534670" y="459740"/>
                      <a:pt x="511810" y="389890"/>
                      <a:pt x="511810" y="313690"/>
                    </a:cubicBezTo>
                    <a:lnTo>
                      <a:pt x="511810" y="297180"/>
                    </a:lnTo>
                    <a:close/>
                  </a:path>
                </a:pathLst>
              </a:custGeom>
              <a:solidFill>
                <a:srgbClr val="E57C7C"/>
              </a:solidFill>
            </p:spPr>
          </p:sp>
          <p:sp>
            <p:nvSpPr>
              <p:cNvPr name="TextBox 6" id="6"/>
              <p:cNvSpPr txBox="true"/>
              <p:nvPr/>
            </p:nvSpPr>
            <p:spPr>
              <a:xfrm>
                <a:off x="0" y="60325"/>
                <a:ext cx="622300" cy="4095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50"/>
                  </a:lnSpc>
                </a:pPr>
              </a:p>
            </p:txBody>
          </p:sp>
        </p:grpSp>
        <p:sp>
          <p:nvSpPr>
            <p:cNvPr name="TextBox 7" id="7"/>
            <p:cNvSpPr txBox="true"/>
            <p:nvPr/>
          </p:nvSpPr>
          <p:spPr>
            <a:xfrm rot="0">
              <a:off x="839189" y="44089"/>
              <a:ext cx="4644494" cy="4933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50"/>
                </a:lnSpc>
              </a:pPr>
              <a:r>
                <a:rPr lang="en-US" sz="2100" spc="-63">
                  <a:solidFill>
                    <a:srgbClr val="000000"/>
                  </a:solidFill>
                  <a:latin typeface="Open Sauce"/>
                  <a:ea typeface="Open Sauce"/>
                  <a:cs typeface="Open Sauce"/>
                  <a:sym typeface="Open Sauce"/>
                </a:rPr>
                <a:t>Agentify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41297" y="5008462"/>
            <a:ext cx="4921400" cy="3412973"/>
            <a:chOff x="0" y="0"/>
            <a:chExt cx="398871" cy="27661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98871" cy="276616"/>
            </a:xfrm>
            <a:custGeom>
              <a:avLst/>
              <a:gdLst/>
              <a:ahLst/>
              <a:cxnLst/>
              <a:rect r="r" b="b" t="t" l="l"/>
              <a:pathLst>
                <a:path h="276616" w="398871">
                  <a:moveTo>
                    <a:pt x="47193" y="0"/>
                  </a:moveTo>
                  <a:lnTo>
                    <a:pt x="351678" y="0"/>
                  </a:lnTo>
                  <a:cubicBezTo>
                    <a:pt x="364194" y="0"/>
                    <a:pt x="376198" y="4972"/>
                    <a:pt x="385049" y="13823"/>
                  </a:cubicBezTo>
                  <a:cubicBezTo>
                    <a:pt x="393899" y="22673"/>
                    <a:pt x="398871" y="34677"/>
                    <a:pt x="398871" y="47193"/>
                  </a:cubicBezTo>
                  <a:lnTo>
                    <a:pt x="398871" y="229422"/>
                  </a:lnTo>
                  <a:cubicBezTo>
                    <a:pt x="398871" y="241939"/>
                    <a:pt x="393899" y="253943"/>
                    <a:pt x="385049" y="262793"/>
                  </a:cubicBezTo>
                  <a:cubicBezTo>
                    <a:pt x="376198" y="271644"/>
                    <a:pt x="364194" y="276616"/>
                    <a:pt x="351678" y="276616"/>
                  </a:cubicBezTo>
                  <a:lnTo>
                    <a:pt x="47193" y="276616"/>
                  </a:lnTo>
                  <a:cubicBezTo>
                    <a:pt x="34677" y="276616"/>
                    <a:pt x="22673" y="271644"/>
                    <a:pt x="13823" y="262793"/>
                  </a:cubicBezTo>
                  <a:cubicBezTo>
                    <a:pt x="4972" y="253943"/>
                    <a:pt x="0" y="241939"/>
                    <a:pt x="0" y="229422"/>
                  </a:cubicBezTo>
                  <a:lnTo>
                    <a:pt x="0" y="47193"/>
                  </a:lnTo>
                  <a:cubicBezTo>
                    <a:pt x="0" y="34677"/>
                    <a:pt x="4972" y="22673"/>
                    <a:pt x="13823" y="13823"/>
                  </a:cubicBezTo>
                  <a:cubicBezTo>
                    <a:pt x="22673" y="4972"/>
                    <a:pt x="34677" y="0"/>
                    <a:pt x="47193" y="0"/>
                  </a:cubicBezTo>
                  <a:close/>
                </a:path>
              </a:pathLst>
            </a:custGeom>
            <a:solidFill>
              <a:srgbClr val="E57C7C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398871" cy="3432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5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684828" y="5008462"/>
            <a:ext cx="4921400" cy="3412973"/>
            <a:chOff x="0" y="0"/>
            <a:chExt cx="398871" cy="27661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98871" cy="276616"/>
            </a:xfrm>
            <a:custGeom>
              <a:avLst/>
              <a:gdLst/>
              <a:ahLst/>
              <a:cxnLst/>
              <a:rect r="r" b="b" t="t" l="l"/>
              <a:pathLst>
                <a:path h="276616" w="398871">
                  <a:moveTo>
                    <a:pt x="47193" y="0"/>
                  </a:moveTo>
                  <a:lnTo>
                    <a:pt x="351678" y="0"/>
                  </a:lnTo>
                  <a:cubicBezTo>
                    <a:pt x="364194" y="0"/>
                    <a:pt x="376198" y="4972"/>
                    <a:pt x="385049" y="13823"/>
                  </a:cubicBezTo>
                  <a:cubicBezTo>
                    <a:pt x="393899" y="22673"/>
                    <a:pt x="398871" y="34677"/>
                    <a:pt x="398871" y="47193"/>
                  </a:cubicBezTo>
                  <a:lnTo>
                    <a:pt x="398871" y="229422"/>
                  </a:lnTo>
                  <a:cubicBezTo>
                    <a:pt x="398871" y="241939"/>
                    <a:pt x="393899" y="253943"/>
                    <a:pt x="385049" y="262793"/>
                  </a:cubicBezTo>
                  <a:cubicBezTo>
                    <a:pt x="376198" y="271644"/>
                    <a:pt x="364194" y="276616"/>
                    <a:pt x="351678" y="276616"/>
                  </a:cubicBezTo>
                  <a:lnTo>
                    <a:pt x="47193" y="276616"/>
                  </a:lnTo>
                  <a:cubicBezTo>
                    <a:pt x="34677" y="276616"/>
                    <a:pt x="22673" y="271644"/>
                    <a:pt x="13823" y="262793"/>
                  </a:cubicBezTo>
                  <a:cubicBezTo>
                    <a:pt x="4972" y="253943"/>
                    <a:pt x="0" y="241939"/>
                    <a:pt x="0" y="229422"/>
                  </a:cubicBezTo>
                  <a:lnTo>
                    <a:pt x="0" y="47193"/>
                  </a:lnTo>
                  <a:cubicBezTo>
                    <a:pt x="0" y="34677"/>
                    <a:pt x="4972" y="22673"/>
                    <a:pt x="13823" y="13823"/>
                  </a:cubicBezTo>
                  <a:cubicBezTo>
                    <a:pt x="22673" y="4972"/>
                    <a:pt x="34677" y="0"/>
                    <a:pt x="47193" y="0"/>
                  </a:cubicBezTo>
                  <a:close/>
                </a:path>
              </a:pathLst>
            </a:custGeom>
            <a:solidFill>
              <a:srgbClr val="E57C7C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398871" cy="3432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5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825303" y="5008462"/>
            <a:ext cx="4921400" cy="3412973"/>
            <a:chOff x="0" y="0"/>
            <a:chExt cx="398871" cy="27661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98871" cy="276616"/>
            </a:xfrm>
            <a:custGeom>
              <a:avLst/>
              <a:gdLst/>
              <a:ahLst/>
              <a:cxnLst/>
              <a:rect r="r" b="b" t="t" l="l"/>
              <a:pathLst>
                <a:path h="276616" w="398871">
                  <a:moveTo>
                    <a:pt x="47193" y="0"/>
                  </a:moveTo>
                  <a:lnTo>
                    <a:pt x="351678" y="0"/>
                  </a:lnTo>
                  <a:cubicBezTo>
                    <a:pt x="364194" y="0"/>
                    <a:pt x="376198" y="4972"/>
                    <a:pt x="385049" y="13823"/>
                  </a:cubicBezTo>
                  <a:cubicBezTo>
                    <a:pt x="393899" y="22673"/>
                    <a:pt x="398871" y="34677"/>
                    <a:pt x="398871" y="47193"/>
                  </a:cubicBezTo>
                  <a:lnTo>
                    <a:pt x="398871" y="229422"/>
                  </a:lnTo>
                  <a:cubicBezTo>
                    <a:pt x="398871" y="241939"/>
                    <a:pt x="393899" y="253943"/>
                    <a:pt x="385049" y="262793"/>
                  </a:cubicBezTo>
                  <a:cubicBezTo>
                    <a:pt x="376198" y="271644"/>
                    <a:pt x="364194" y="276616"/>
                    <a:pt x="351678" y="276616"/>
                  </a:cubicBezTo>
                  <a:lnTo>
                    <a:pt x="47193" y="276616"/>
                  </a:lnTo>
                  <a:cubicBezTo>
                    <a:pt x="34677" y="276616"/>
                    <a:pt x="22673" y="271644"/>
                    <a:pt x="13823" y="262793"/>
                  </a:cubicBezTo>
                  <a:cubicBezTo>
                    <a:pt x="4972" y="253943"/>
                    <a:pt x="0" y="241939"/>
                    <a:pt x="0" y="229422"/>
                  </a:cubicBezTo>
                  <a:lnTo>
                    <a:pt x="0" y="47193"/>
                  </a:lnTo>
                  <a:cubicBezTo>
                    <a:pt x="0" y="34677"/>
                    <a:pt x="4972" y="22673"/>
                    <a:pt x="13823" y="13823"/>
                  </a:cubicBezTo>
                  <a:cubicBezTo>
                    <a:pt x="22673" y="4972"/>
                    <a:pt x="34677" y="0"/>
                    <a:pt x="47193" y="0"/>
                  </a:cubicBezTo>
                  <a:close/>
                </a:path>
              </a:pathLst>
            </a:custGeom>
            <a:solidFill>
              <a:srgbClr val="E57C7C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66675"/>
              <a:ext cx="398871" cy="3432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50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878651" y="5239896"/>
            <a:ext cx="4246693" cy="351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0"/>
              </a:lnSpc>
            </a:pPr>
            <a:r>
              <a:rPr lang="en-US" b="true" sz="23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01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022182" y="5239896"/>
            <a:ext cx="4246693" cy="351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0"/>
              </a:lnSpc>
            </a:pPr>
            <a:r>
              <a:rPr lang="en-US" b="true" sz="23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162657" y="5239896"/>
            <a:ext cx="4246693" cy="351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0"/>
              </a:lnSpc>
            </a:pPr>
            <a:r>
              <a:rPr lang="en-US" b="true" sz="23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03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878651" y="5953572"/>
            <a:ext cx="4246693" cy="1017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18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sz="18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mart customer interaction</a:t>
            </a:r>
          </a:p>
          <a:p>
            <a:pPr algn="l">
              <a:lnSpc>
                <a:spcPts val="2700"/>
              </a:lnSpc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Handles FAQs, product inquiries, and order tracking in real-time.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022182" y="5953572"/>
            <a:ext cx="4246693" cy="136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18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sz="18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eamless system integration</a:t>
            </a:r>
          </a:p>
          <a:p>
            <a:pPr algn="l">
              <a:lnSpc>
                <a:spcPts val="2700"/>
              </a:lnSpc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Connects directly with POS, CRM, and messaging platforms.</a:t>
            </a:r>
          </a:p>
          <a:p>
            <a:pPr algn="l">
              <a:lnSpc>
                <a:spcPts val="2700"/>
              </a:lnSpc>
            </a:pPr>
          </a:p>
        </p:txBody>
      </p:sp>
      <p:sp>
        <p:nvSpPr>
          <p:cNvPr name="TextBox 22" id="22"/>
          <p:cNvSpPr txBox="true"/>
          <p:nvPr/>
        </p:nvSpPr>
        <p:spPr>
          <a:xfrm rot="0">
            <a:off x="12162657" y="5953572"/>
            <a:ext cx="4246693" cy="136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18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W</a:t>
            </a:r>
            <a:r>
              <a:rPr lang="en-US" sz="18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orkflow automation</a:t>
            </a:r>
          </a:p>
          <a:p>
            <a:pPr algn="l">
              <a:lnSpc>
                <a:spcPts val="2700"/>
              </a:lnSpc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Automates order creation, appointment booking, and notifications without manual input.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41411" y="3474367"/>
            <a:ext cx="16205178" cy="1017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Ag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entify is an all-in-one AI automation platform designed specifically for social commerce busines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s.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It 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gr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ate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m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ess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agin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g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pl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atf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w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it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h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b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ac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ke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ys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 to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st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o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pe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rat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ons a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max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ze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ff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ciency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.</a:t>
            </a:r>
          </a:p>
          <a:p>
            <a:pPr algn="ctr" marL="0" indent="0" lvl="0">
              <a:lnSpc>
                <a:spcPts val="2700"/>
              </a:lnSpc>
              <a:spcBef>
                <a:spcPct val="0"/>
              </a:spcBef>
            </a:pP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-580303" y="1165479"/>
            <a:ext cx="1160606" cy="446522"/>
          </a:xfrm>
          <a:custGeom>
            <a:avLst/>
            <a:gdLst/>
            <a:ahLst/>
            <a:cxnLst/>
            <a:rect r="r" b="b" t="t" l="l"/>
            <a:pathLst>
              <a:path h="446522" w="1160606">
                <a:moveTo>
                  <a:pt x="0" y="0"/>
                </a:moveTo>
                <a:lnTo>
                  <a:pt x="1160606" y="0"/>
                </a:lnTo>
                <a:lnTo>
                  <a:pt x="1160606" y="446522"/>
                </a:lnTo>
                <a:lnTo>
                  <a:pt x="0" y="4465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75980" b="-360761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7802947" y="9212580"/>
            <a:ext cx="1160606" cy="446522"/>
          </a:xfrm>
          <a:custGeom>
            <a:avLst/>
            <a:gdLst/>
            <a:ahLst/>
            <a:cxnLst/>
            <a:rect r="r" b="b" t="t" l="l"/>
            <a:pathLst>
              <a:path h="446522" w="1160606">
                <a:moveTo>
                  <a:pt x="0" y="0"/>
                </a:moveTo>
                <a:lnTo>
                  <a:pt x="1160606" y="0"/>
                </a:lnTo>
                <a:lnTo>
                  <a:pt x="1160606" y="446522"/>
                </a:lnTo>
                <a:lnTo>
                  <a:pt x="0" y="4465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75980" b="-360761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6994655" y="-1770583"/>
            <a:ext cx="3729038" cy="4114800"/>
          </a:xfrm>
          <a:custGeom>
            <a:avLst/>
            <a:gdLst/>
            <a:ahLst/>
            <a:cxnLst/>
            <a:rect r="r" b="b" t="t" l="l"/>
            <a:pathLst>
              <a:path h="4114800" w="3729038">
                <a:moveTo>
                  <a:pt x="0" y="0"/>
                </a:moveTo>
                <a:lnTo>
                  <a:pt x="3729037" y="0"/>
                </a:lnTo>
                <a:lnTo>
                  <a:pt x="37290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-1864519" y="8229600"/>
            <a:ext cx="3729038" cy="4114800"/>
          </a:xfrm>
          <a:custGeom>
            <a:avLst/>
            <a:gdLst/>
            <a:ahLst/>
            <a:cxnLst/>
            <a:rect r="r" b="b" t="t" l="l"/>
            <a:pathLst>
              <a:path h="4114800" w="3729038">
                <a:moveTo>
                  <a:pt x="0" y="0"/>
                </a:moveTo>
                <a:lnTo>
                  <a:pt x="3729038" y="0"/>
                </a:lnTo>
                <a:lnTo>
                  <a:pt x="37290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54122" y="1028700"/>
            <a:ext cx="4112762" cy="486186"/>
            <a:chOff x="0" y="0"/>
            <a:chExt cx="5483683" cy="648248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675833" cy="648248"/>
              <a:chOff x="0" y="0"/>
              <a:chExt cx="622300" cy="596900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22300" cy="596900"/>
              </a:xfrm>
              <a:custGeom>
                <a:avLst/>
                <a:gdLst/>
                <a:ahLst/>
                <a:cxnLst/>
                <a:rect r="r" b="b" t="t" l="l"/>
                <a:pathLst>
                  <a:path h="596900" w="622300">
                    <a:moveTo>
                      <a:pt x="295910" y="297180"/>
                    </a:moveTo>
                    <a:lnTo>
                      <a:pt x="295910" y="596900"/>
                    </a:lnTo>
                    <a:cubicBezTo>
                      <a:pt x="129540" y="590550"/>
                      <a:pt x="0" y="459740"/>
                      <a:pt x="0" y="297180"/>
                    </a:cubicBezTo>
                    <a:cubicBezTo>
                      <a:pt x="0" y="135890"/>
                      <a:pt x="129540" y="3810"/>
                      <a:pt x="295910" y="0"/>
                    </a:cubicBezTo>
                    <a:lnTo>
                      <a:pt x="295910" y="299720"/>
                    </a:lnTo>
                    <a:close/>
                    <a:moveTo>
                      <a:pt x="295910" y="287020"/>
                    </a:moveTo>
                    <a:lnTo>
                      <a:pt x="295910" y="289560"/>
                    </a:lnTo>
                    <a:cubicBezTo>
                      <a:pt x="295910" y="210820"/>
                      <a:pt x="328930" y="138430"/>
                      <a:pt x="365760" y="86360"/>
                    </a:cubicBezTo>
                    <a:cubicBezTo>
                      <a:pt x="402590" y="35560"/>
                      <a:pt x="452120" y="2540"/>
                      <a:pt x="511810" y="0"/>
                    </a:cubicBezTo>
                    <a:lnTo>
                      <a:pt x="511810" y="297180"/>
                    </a:lnTo>
                    <a:lnTo>
                      <a:pt x="511810" y="596900"/>
                    </a:lnTo>
                    <a:cubicBezTo>
                      <a:pt x="452120" y="591820"/>
                      <a:pt x="402590" y="560070"/>
                      <a:pt x="365760" y="509270"/>
                    </a:cubicBezTo>
                    <a:cubicBezTo>
                      <a:pt x="328930" y="457200"/>
                      <a:pt x="295910" y="384810"/>
                      <a:pt x="295910" y="304800"/>
                    </a:cubicBezTo>
                    <a:lnTo>
                      <a:pt x="295910" y="287020"/>
                    </a:lnTo>
                    <a:close/>
                    <a:moveTo>
                      <a:pt x="511810" y="297180"/>
                    </a:moveTo>
                    <a:cubicBezTo>
                      <a:pt x="511810" y="214630"/>
                      <a:pt x="533400" y="138430"/>
                      <a:pt x="554990" y="85090"/>
                    </a:cubicBezTo>
                    <a:cubicBezTo>
                      <a:pt x="566420" y="58420"/>
                      <a:pt x="579120" y="36830"/>
                      <a:pt x="593090" y="21590"/>
                    </a:cubicBezTo>
                    <a:cubicBezTo>
                      <a:pt x="604520" y="10160"/>
                      <a:pt x="615950" y="2540"/>
                      <a:pt x="622300" y="1270"/>
                    </a:cubicBezTo>
                    <a:lnTo>
                      <a:pt x="622300" y="596900"/>
                    </a:lnTo>
                    <a:cubicBezTo>
                      <a:pt x="615950" y="591820"/>
                      <a:pt x="600710" y="585470"/>
                      <a:pt x="593090" y="572770"/>
                    </a:cubicBezTo>
                    <a:cubicBezTo>
                      <a:pt x="579120" y="558800"/>
                      <a:pt x="566420" y="537210"/>
                      <a:pt x="554990" y="510540"/>
                    </a:cubicBezTo>
                    <a:cubicBezTo>
                      <a:pt x="534670" y="459740"/>
                      <a:pt x="511810" y="389890"/>
                      <a:pt x="511810" y="313690"/>
                    </a:cubicBezTo>
                    <a:lnTo>
                      <a:pt x="511810" y="297180"/>
                    </a:lnTo>
                    <a:close/>
                  </a:path>
                </a:pathLst>
              </a:custGeom>
              <a:solidFill>
                <a:srgbClr val="E57C7C"/>
              </a:solidFill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60325"/>
                <a:ext cx="622300" cy="4095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50"/>
                  </a:lnSpc>
                </a:pPr>
              </a:p>
            </p:txBody>
          </p:sp>
        </p:grpSp>
        <p:sp>
          <p:nvSpPr>
            <p:cNvPr name="TextBox 6" id="6"/>
            <p:cNvSpPr txBox="true"/>
            <p:nvPr/>
          </p:nvSpPr>
          <p:spPr>
            <a:xfrm rot="0">
              <a:off x="839189" y="44089"/>
              <a:ext cx="4644494" cy="4933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50"/>
                </a:lnSpc>
              </a:pPr>
              <a:r>
                <a:rPr lang="en-US" sz="2100" spc="-63">
                  <a:solidFill>
                    <a:srgbClr val="000000"/>
                  </a:solidFill>
                  <a:latin typeface="Open Sauce"/>
                  <a:ea typeface="Open Sauce"/>
                  <a:cs typeface="Open Sauce"/>
                  <a:sym typeface="Open Sauce"/>
                </a:rPr>
                <a:t>Agentify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54122" y="4868654"/>
            <a:ext cx="4921400" cy="3412973"/>
            <a:chOff x="0" y="0"/>
            <a:chExt cx="398871" cy="2766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98871" cy="276616"/>
            </a:xfrm>
            <a:custGeom>
              <a:avLst/>
              <a:gdLst/>
              <a:ahLst/>
              <a:cxnLst/>
              <a:rect r="r" b="b" t="t" l="l"/>
              <a:pathLst>
                <a:path h="276616" w="398871">
                  <a:moveTo>
                    <a:pt x="47193" y="0"/>
                  </a:moveTo>
                  <a:lnTo>
                    <a:pt x="351678" y="0"/>
                  </a:lnTo>
                  <a:cubicBezTo>
                    <a:pt x="364194" y="0"/>
                    <a:pt x="376198" y="4972"/>
                    <a:pt x="385049" y="13823"/>
                  </a:cubicBezTo>
                  <a:cubicBezTo>
                    <a:pt x="393899" y="22673"/>
                    <a:pt x="398871" y="34677"/>
                    <a:pt x="398871" y="47193"/>
                  </a:cubicBezTo>
                  <a:lnTo>
                    <a:pt x="398871" y="229422"/>
                  </a:lnTo>
                  <a:cubicBezTo>
                    <a:pt x="398871" y="241939"/>
                    <a:pt x="393899" y="253943"/>
                    <a:pt x="385049" y="262793"/>
                  </a:cubicBezTo>
                  <a:cubicBezTo>
                    <a:pt x="376198" y="271644"/>
                    <a:pt x="364194" y="276616"/>
                    <a:pt x="351678" y="276616"/>
                  </a:cubicBezTo>
                  <a:lnTo>
                    <a:pt x="47193" y="276616"/>
                  </a:lnTo>
                  <a:cubicBezTo>
                    <a:pt x="34677" y="276616"/>
                    <a:pt x="22673" y="271644"/>
                    <a:pt x="13823" y="262793"/>
                  </a:cubicBezTo>
                  <a:cubicBezTo>
                    <a:pt x="4972" y="253943"/>
                    <a:pt x="0" y="241939"/>
                    <a:pt x="0" y="229422"/>
                  </a:cubicBezTo>
                  <a:lnTo>
                    <a:pt x="0" y="47193"/>
                  </a:lnTo>
                  <a:cubicBezTo>
                    <a:pt x="0" y="34677"/>
                    <a:pt x="4972" y="22673"/>
                    <a:pt x="13823" y="13823"/>
                  </a:cubicBezTo>
                  <a:cubicBezTo>
                    <a:pt x="22673" y="4972"/>
                    <a:pt x="34677" y="0"/>
                    <a:pt x="47193" y="0"/>
                  </a:cubicBezTo>
                  <a:close/>
                </a:path>
              </a:pathLst>
            </a:custGeom>
            <a:solidFill>
              <a:srgbClr val="E57C7C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66675"/>
              <a:ext cx="398871" cy="3432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5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338128" y="1514886"/>
            <a:ext cx="5921172" cy="7743414"/>
            <a:chOff x="0" y="0"/>
            <a:chExt cx="1372778" cy="1795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372778" cy="1795250"/>
            </a:xfrm>
            <a:custGeom>
              <a:avLst/>
              <a:gdLst/>
              <a:ahLst/>
              <a:cxnLst/>
              <a:rect r="r" b="b" t="t" l="l"/>
              <a:pathLst>
                <a:path h="1795250" w="1372778">
                  <a:moveTo>
                    <a:pt x="69297" y="0"/>
                  </a:moveTo>
                  <a:lnTo>
                    <a:pt x="1303480" y="0"/>
                  </a:lnTo>
                  <a:cubicBezTo>
                    <a:pt x="1321859" y="0"/>
                    <a:pt x="1339485" y="7301"/>
                    <a:pt x="1352481" y="20297"/>
                  </a:cubicBezTo>
                  <a:cubicBezTo>
                    <a:pt x="1365477" y="33293"/>
                    <a:pt x="1372778" y="50919"/>
                    <a:pt x="1372778" y="69297"/>
                  </a:cubicBezTo>
                  <a:lnTo>
                    <a:pt x="1372778" y="1725953"/>
                  </a:lnTo>
                  <a:cubicBezTo>
                    <a:pt x="1372778" y="1744332"/>
                    <a:pt x="1365477" y="1761958"/>
                    <a:pt x="1352481" y="1774953"/>
                  </a:cubicBezTo>
                  <a:cubicBezTo>
                    <a:pt x="1339485" y="1787949"/>
                    <a:pt x="1321859" y="1795250"/>
                    <a:pt x="1303480" y="1795250"/>
                  </a:cubicBezTo>
                  <a:lnTo>
                    <a:pt x="69297" y="1795250"/>
                  </a:lnTo>
                  <a:cubicBezTo>
                    <a:pt x="50919" y="1795250"/>
                    <a:pt x="33293" y="1787949"/>
                    <a:pt x="20297" y="1774953"/>
                  </a:cubicBezTo>
                  <a:cubicBezTo>
                    <a:pt x="7301" y="1761958"/>
                    <a:pt x="0" y="1744332"/>
                    <a:pt x="0" y="1725953"/>
                  </a:cubicBezTo>
                  <a:lnTo>
                    <a:pt x="0" y="69297"/>
                  </a:lnTo>
                  <a:cubicBezTo>
                    <a:pt x="0" y="50919"/>
                    <a:pt x="7301" y="33293"/>
                    <a:pt x="20297" y="20297"/>
                  </a:cubicBezTo>
                  <a:cubicBezTo>
                    <a:pt x="33293" y="7301"/>
                    <a:pt x="50919" y="0"/>
                    <a:pt x="69297" y="0"/>
                  </a:cubicBezTo>
                  <a:close/>
                </a:path>
              </a:pathLst>
            </a:custGeom>
            <a:blipFill>
              <a:blip r:embed="rId2"/>
              <a:stretch>
                <a:fillRect l="-39619" t="0" r="-92869" b="0"/>
              </a:stretch>
            </a:blipFill>
            <a:ln w="142875" cap="rnd">
              <a:solidFill>
                <a:srgbClr val="E57C7C"/>
              </a:solidFill>
              <a:prstDash val="solid"/>
              <a:round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6197653" y="4868654"/>
            <a:ext cx="4921400" cy="3412973"/>
            <a:chOff x="0" y="0"/>
            <a:chExt cx="398871" cy="2766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98871" cy="276616"/>
            </a:xfrm>
            <a:custGeom>
              <a:avLst/>
              <a:gdLst/>
              <a:ahLst/>
              <a:cxnLst/>
              <a:rect r="r" b="b" t="t" l="l"/>
              <a:pathLst>
                <a:path h="276616" w="398871">
                  <a:moveTo>
                    <a:pt x="47193" y="0"/>
                  </a:moveTo>
                  <a:lnTo>
                    <a:pt x="351678" y="0"/>
                  </a:lnTo>
                  <a:cubicBezTo>
                    <a:pt x="364194" y="0"/>
                    <a:pt x="376198" y="4972"/>
                    <a:pt x="385049" y="13823"/>
                  </a:cubicBezTo>
                  <a:cubicBezTo>
                    <a:pt x="393899" y="22673"/>
                    <a:pt x="398871" y="34677"/>
                    <a:pt x="398871" y="47193"/>
                  </a:cubicBezTo>
                  <a:lnTo>
                    <a:pt x="398871" y="229422"/>
                  </a:lnTo>
                  <a:cubicBezTo>
                    <a:pt x="398871" y="241939"/>
                    <a:pt x="393899" y="253943"/>
                    <a:pt x="385049" y="262793"/>
                  </a:cubicBezTo>
                  <a:cubicBezTo>
                    <a:pt x="376198" y="271644"/>
                    <a:pt x="364194" y="276616"/>
                    <a:pt x="351678" y="276616"/>
                  </a:cubicBezTo>
                  <a:lnTo>
                    <a:pt x="47193" y="276616"/>
                  </a:lnTo>
                  <a:cubicBezTo>
                    <a:pt x="34677" y="276616"/>
                    <a:pt x="22673" y="271644"/>
                    <a:pt x="13823" y="262793"/>
                  </a:cubicBezTo>
                  <a:cubicBezTo>
                    <a:pt x="4972" y="253943"/>
                    <a:pt x="0" y="241939"/>
                    <a:pt x="0" y="229422"/>
                  </a:cubicBezTo>
                  <a:lnTo>
                    <a:pt x="0" y="47193"/>
                  </a:lnTo>
                  <a:cubicBezTo>
                    <a:pt x="0" y="34677"/>
                    <a:pt x="4972" y="22673"/>
                    <a:pt x="13823" y="13823"/>
                  </a:cubicBezTo>
                  <a:cubicBezTo>
                    <a:pt x="22673" y="4972"/>
                    <a:pt x="34677" y="0"/>
                    <a:pt x="47193" y="0"/>
                  </a:cubicBezTo>
                  <a:close/>
                </a:path>
              </a:pathLst>
            </a:custGeom>
            <a:solidFill>
              <a:srgbClr val="E57C7C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66675"/>
              <a:ext cx="398871" cy="3432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50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1079544" y="2190570"/>
            <a:ext cx="8981144" cy="1192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360"/>
              </a:lnSpc>
            </a:pPr>
            <a:r>
              <a:rPr lang="en-US" sz="8000" spc="-80" b="true">
                <a:solidFill>
                  <a:srgbClr val="000000"/>
                </a:solidFill>
                <a:latin typeface="Helvetica Now Display Bold"/>
                <a:ea typeface="Helvetica Now Display Bold"/>
                <a:cs typeface="Helvetica Now Display Bold"/>
                <a:sym typeface="Helvetica Now Display Bold"/>
              </a:rPr>
              <a:t>Busin</a:t>
            </a:r>
            <a:r>
              <a:rPr lang="en-US" b="true" sz="8000" spc="-80">
                <a:solidFill>
                  <a:srgbClr val="000000"/>
                </a:solidFill>
                <a:latin typeface="Helvetica Now Display Bold"/>
                <a:ea typeface="Helvetica Now Display Bold"/>
                <a:cs typeface="Helvetica Now Display Bold"/>
                <a:sym typeface="Helvetica Now Display Bold"/>
              </a:rPr>
              <a:t>ess Model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91476" y="5347421"/>
            <a:ext cx="4246693" cy="351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0"/>
              </a:lnSpc>
            </a:pPr>
            <a:r>
              <a:rPr lang="en-US" b="true" sz="23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01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535007" y="5347421"/>
            <a:ext cx="4246693" cy="351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0"/>
              </a:lnSpc>
            </a:pPr>
            <a:r>
              <a:rPr lang="en-US" b="true" sz="23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02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91476" y="5813764"/>
            <a:ext cx="4246693" cy="1017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18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sz="18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ubscription plans</a:t>
            </a:r>
          </a:p>
          <a:p>
            <a:pPr algn="l">
              <a:lnSpc>
                <a:spcPts val="2700"/>
              </a:lnSpc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Flexible monthly pricing based on usage and features.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535007" y="5813764"/>
            <a:ext cx="4246693" cy="136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18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Value-d</a:t>
            </a:r>
            <a:r>
              <a:rPr lang="en-US" sz="18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riven ROI</a:t>
            </a:r>
          </a:p>
          <a:p>
            <a:pPr algn="l">
              <a:lnSpc>
                <a:spcPts val="2700"/>
              </a:lnSpc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Helps businesses reduce operational costs while increasing conversion rates and customer satisfaction.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54122" y="3516450"/>
            <a:ext cx="9727577" cy="1017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0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Ag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nt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fy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o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pe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ates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 a su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b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sc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pt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ion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-ba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SaaS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pl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tfor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,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prov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ng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ab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pr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icing t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lor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ed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fo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SME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an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ag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encies.</a:t>
            </a:r>
          </a:p>
          <a:p>
            <a:pPr algn="l" marL="0" indent="0" lvl="0">
              <a:lnSpc>
                <a:spcPts val="2700"/>
              </a:lnSpc>
              <a:spcBef>
                <a:spcPct val="0"/>
              </a:spcBef>
            </a:pP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8563697" y="1341501"/>
            <a:ext cx="1160606" cy="446522"/>
          </a:xfrm>
          <a:custGeom>
            <a:avLst/>
            <a:gdLst/>
            <a:ahLst/>
            <a:cxnLst/>
            <a:rect r="r" b="b" t="t" l="l"/>
            <a:pathLst>
              <a:path h="446522" w="1160606">
                <a:moveTo>
                  <a:pt x="0" y="0"/>
                </a:moveTo>
                <a:lnTo>
                  <a:pt x="1160606" y="0"/>
                </a:lnTo>
                <a:lnTo>
                  <a:pt x="1160606" y="446522"/>
                </a:lnTo>
                <a:lnTo>
                  <a:pt x="0" y="44652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-75980" b="-360761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6994655" y="-1770583"/>
            <a:ext cx="3729038" cy="4114800"/>
          </a:xfrm>
          <a:custGeom>
            <a:avLst/>
            <a:gdLst/>
            <a:ahLst/>
            <a:cxnLst/>
            <a:rect r="r" b="b" t="t" l="l"/>
            <a:pathLst>
              <a:path h="4114800" w="3729038">
                <a:moveTo>
                  <a:pt x="0" y="0"/>
                </a:moveTo>
                <a:lnTo>
                  <a:pt x="3729037" y="0"/>
                </a:lnTo>
                <a:lnTo>
                  <a:pt x="37290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-1864519" y="8229600"/>
            <a:ext cx="3729038" cy="4114800"/>
          </a:xfrm>
          <a:custGeom>
            <a:avLst/>
            <a:gdLst/>
            <a:ahLst/>
            <a:cxnLst/>
            <a:rect r="r" b="b" t="t" l="l"/>
            <a:pathLst>
              <a:path h="4114800" w="3729038">
                <a:moveTo>
                  <a:pt x="0" y="0"/>
                </a:moveTo>
                <a:lnTo>
                  <a:pt x="3729038" y="0"/>
                </a:lnTo>
                <a:lnTo>
                  <a:pt x="37290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54122" y="1028700"/>
            <a:ext cx="4112762" cy="486186"/>
            <a:chOff x="0" y="0"/>
            <a:chExt cx="5483683" cy="648248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675833" cy="648248"/>
              <a:chOff x="0" y="0"/>
              <a:chExt cx="622300" cy="596900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22300" cy="596900"/>
              </a:xfrm>
              <a:custGeom>
                <a:avLst/>
                <a:gdLst/>
                <a:ahLst/>
                <a:cxnLst/>
                <a:rect r="r" b="b" t="t" l="l"/>
                <a:pathLst>
                  <a:path h="596900" w="622300">
                    <a:moveTo>
                      <a:pt x="295910" y="297180"/>
                    </a:moveTo>
                    <a:lnTo>
                      <a:pt x="295910" y="596900"/>
                    </a:lnTo>
                    <a:cubicBezTo>
                      <a:pt x="129540" y="590550"/>
                      <a:pt x="0" y="459740"/>
                      <a:pt x="0" y="297180"/>
                    </a:cubicBezTo>
                    <a:cubicBezTo>
                      <a:pt x="0" y="135890"/>
                      <a:pt x="129540" y="3810"/>
                      <a:pt x="295910" y="0"/>
                    </a:cubicBezTo>
                    <a:lnTo>
                      <a:pt x="295910" y="299720"/>
                    </a:lnTo>
                    <a:close/>
                    <a:moveTo>
                      <a:pt x="295910" y="287020"/>
                    </a:moveTo>
                    <a:lnTo>
                      <a:pt x="295910" y="289560"/>
                    </a:lnTo>
                    <a:cubicBezTo>
                      <a:pt x="295910" y="210820"/>
                      <a:pt x="328930" y="138430"/>
                      <a:pt x="365760" y="86360"/>
                    </a:cubicBezTo>
                    <a:cubicBezTo>
                      <a:pt x="402590" y="35560"/>
                      <a:pt x="452120" y="2540"/>
                      <a:pt x="511810" y="0"/>
                    </a:cubicBezTo>
                    <a:lnTo>
                      <a:pt x="511810" y="297180"/>
                    </a:lnTo>
                    <a:lnTo>
                      <a:pt x="511810" y="596900"/>
                    </a:lnTo>
                    <a:cubicBezTo>
                      <a:pt x="452120" y="591820"/>
                      <a:pt x="402590" y="560070"/>
                      <a:pt x="365760" y="509270"/>
                    </a:cubicBezTo>
                    <a:cubicBezTo>
                      <a:pt x="328930" y="457200"/>
                      <a:pt x="295910" y="384810"/>
                      <a:pt x="295910" y="304800"/>
                    </a:cubicBezTo>
                    <a:lnTo>
                      <a:pt x="295910" y="287020"/>
                    </a:lnTo>
                    <a:close/>
                    <a:moveTo>
                      <a:pt x="511810" y="297180"/>
                    </a:moveTo>
                    <a:cubicBezTo>
                      <a:pt x="511810" y="214630"/>
                      <a:pt x="533400" y="138430"/>
                      <a:pt x="554990" y="85090"/>
                    </a:cubicBezTo>
                    <a:cubicBezTo>
                      <a:pt x="566420" y="58420"/>
                      <a:pt x="579120" y="36830"/>
                      <a:pt x="593090" y="21590"/>
                    </a:cubicBezTo>
                    <a:cubicBezTo>
                      <a:pt x="604520" y="10160"/>
                      <a:pt x="615950" y="2540"/>
                      <a:pt x="622300" y="1270"/>
                    </a:cubicBezTo>
                    <a:lnTo>
                      <a:pt x="622300" y="596900"/>
                    </a:lnTo>
                    <a:cubicBezTo>
                      <a:pt x="615950" y="591820"/>
                      <a:pt x="600710" y="585470"/>
                      <a:pt x="593090" y="572770"/>
                    </a:cubicBezTo>
                    <a:cubicBezTo>
                      <a:pt x="579120" y="558800"/>
                      <a:pt x="566420" y="537210"/>
                      <a:pt x="554990" y="510540"/>
                    </a:cubicBezTo>
                    <a:cubicBezTo>
                      <a:pt x="534670" y="459740"/>
                      <a:pt x="511810" y="389890"/>
                      <a:pt x="511810" y="313690"/>
                    </a:cubicBezTo>
                    <a:lnTo>
                      <a:pt x="511810" y="297180"/>
                    </a:lnTo>
                    <a:close/>
                  </a:path>
                </a:pathLst>
              </a:custGeom>
              <a:solidFill>
                <a:srgbClr val="E57C7C"/>
              </a:solidFill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60325"/>
                <a:ext cx="622300" cy="4095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50"/>
                  </a:lnSpc>
                </a:pPr>
              </a:p>
            </p:txBody>
          </p:sp>
        </p:grpSp>
        <p:sp>
          <p:nvSpPr>
            <p:cNvPr name="TextBox 6" id="6"/>
            <p:cNvSpPr txBox="true"/>
            <p:nvPr/>
          </p:nvSpPr>
          <p:spPr>
            <a:xfrm rot="0">
              <a:off x="839189" y="44089"/>
              <a:ext cx="4644494" cy="4933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50"/>
                </a:lnSpc>
              </a:pPr>
              <a:r>
                <a:rPr lang="en-US" sz="2100" spc="-63">
                  <a:solidFill>
                    <a:srgbClr val="000000"/>
                  </a:solidFill>
                  <a:latin typeface="Open Sauce"/>
                  <a:ea typeface="Open Sauce"/>
                  <a:cs typeface="Open Sauce"/>
                  <a:sym typeface="Open Sauce"/>
                </a:rPr>
                <a:t>Agentify</a:t>
              </a: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-580303" y="1028700"/>
            <a:ext cx="1160606" cy="446522"/>
          </a:xfrm>
          <a:custGeom>
            <a:avLst/>
            <a:gdLst/>
            <a:ahLst/>
            <a:cxnLst/>
            <a:rect r="r" b="b" t="t" l="l"/>
            <a:pathLst>
              <a:path h="446522" w="1160606">
                <a:moveTo>
                  <a:pt x="0" y="0"/>
                </a:moveTo>
                <a:lnTo>
                  <a:pt x="1160606" y="0"/>
                </a:lnTo>
                <a:lnTo>
                  <a:pt x="1160606" y="446522"/>
                </a:lnTo>
                <a:lnTo>
                  <a:pt x="0" y="4465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75980" b="-360761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7802947" y="9075420"/>
            <a:ext cx="1160606" cy="446522"/>
          </a:xfrm>
          <a:custGeom>
            <a:avLst/>
            <a:gdLst/>
            <a:ahLst/>
            <a:cxnLst/>
            <a:rect r="r" b="b" t="t" l="l"/>
            <a:pathLst>
              <a:path h="446522" w="1160606">
                <a:moveTo>
                  <a:pt x="0" y="0"/>
                </a:moveTo>
                <a:lnTo>
                  <a:pt x="1160606" y="0"/>
                </a:lnTo>
                <a:lnTo>
                  <a:pt x="1160606" y="446522"/>
                </a:lnTo>
                <a:lnTo>
                  <a:pt x="0" y="4465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75980" b="-360761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6994655" y="-1770583"/>
            <a:ext cx="3729038" cy="4114800"/>
          </a:xfrm>
          <a:custGeom>
            <a:avLst/>
            <a:gdLst/>
            <a:ahLst/>
            <a:cxnLst/>
            <a:rect r="r" b="b" t="t" l="l"/>
            <a:pathLst>
              <a:path h="4114800" w="3729038">
                <a:moveTo>
                  <a:pt x="0" y="0"/>
                </a:moveTo>
                <a:lnTo>
                  <a:pt x="3729037" y="0"/>
                </a:lnTo>
                <a:lnTo>
                  <a:pt x="37290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1864519" y="8229600"/>
            <a:ext cx="3729038" cy="4114800"/>
          </a:xfrm>
          <a:custGeom>
            <a:avLst/>
            <a:gdLst/>
            <a:ahLst/>
            <a:cxnLst/>
            <a:rect r="r" b="b" t="t" l="l"/>
            <a:pathLst>
              <a:path h="4114800" w="3729038">
                <a:moveTo>
                  <a:pt x="0" y="0"/>
                </a:moveTo>
                <a:lnTo>
                  <a:pt x="3729038" y="0"/>
                </a:lnTo>
                <a:lnTo>
                  <a:pt x="37290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11" id="11"/>
          <p:cNvGraphicFramePr>
            <a:graphicFrameLocks noGrp="true"/>
          </p:cNvGraphicFramePr>
          <p:nvPr/>
        </p:nvGraphicFramePr>
        <p:xfrm>
          <a:off x="8249441" y="1651898"/>
          <a:ext cx="9009859" cy="6577702"/>
        </p:xfrm>
        <a:graphic>
          <a:graphicData uri="http://schemas.openxmlformats.org/drawingml/2006/table">
            <a:tbl>
              <a:tblPr/>
              <a:tblGrid>
                <a:gridCol w="1801972"/>
                <a:gridCol w="1801972"/>
                <a:gridCol w="1801972"/>
                <a:gridCol w="1801972"/>
                <a:gridCol w="1801972"/>
              </a:tblGrid>
              <a:tr h="136327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true">
                          <a:solidFill>
                            <a:srgbClr val="000000"/>
                          </a:solidFill>
                          <a:latin typeface="Open Sauce Bold"/>
                          <a:ea typeface="Open Sauce Bold"/>
                          <a:cs typeface="Open Sauce Bold"/>
                          <a:sym typeface="Open Sauce Bold"/>
                        </a:rPr>
                        <a:t>Product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true">
                          <a:solidFill>
                            <a:srgbClr val="000000"/>
                          </a:solidFill>
                          <a:latin typeface="Open Sauce Bold"/>
                          <a:ea typeface="Open Sauce Bold"/>
                          <a:cs typeface="Open Sauce Bold"/>
                          <a:sym typeface="Open Sauce Bold"/>
                        </a:rPr>
                        <a:t>AI Agent 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true">
                          <a:solidFill>
                            <a:srgbClr val="000000"/>
                          </a:solidFill>
                          <a:latin typeface="Open Sauce Bold"/>
                          <a:ea typeface="Open Sauce Bold"/>
                          <a:cs typeface="Open Sauce Bold"/>
                          <a:sym typeface="Open Sauce Bold"/>
                        </a:rPr>
                        <a:t>Zalo Native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true">
                          <a:solidFill>
                            <a:srgbClr val="000000"/>
                          </a:solidFill>
                          <a:latin typeface="Open Sauce Bold"/>
                          <a:ea typeface="Open Sauce Bold"/>
                          <a:cs typeface="Open Sauce Bold"/>
                          <a:sym typeface="Open Sauce Bold"/>
                        </a:rPr>
                        <a:t>POS Integration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true">
                          <a:solidFill>
                            <a:srgbClr val="000000"/>
                          </a:solidFill>
                          <a:latin typeface="Open Sauce Bold"/>
                          <a:ea typeface="Open Sauce Bold"/>
                          <a:cs typeface="Open Sauce Bold"/>
                          <a:sym typeface="Open Sauce Bold"/>
                        </a:rPr>
                        <a:t>SME Pricing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0718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true">
                          <a:solidFill>
                            <a:srgbClr val="000000"/>
                          </a:solidFill>
                          <a:latin typeface="Open Sauce Bold"/>
                          <a:ea typeface="Open Sauce Bold"/>
                          <a:cs typeface="Open Sauce Bold"/>
                          <a:sym typeface="Open Sauce Bold"/>
                        </a:rPr>
                        <a:t>Agentify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759"/>
                        </a:lnSpc>
                        <a:defRPr/>
                      </a:pPr>
                      <a:r>
                        <a:rPr lang="en-US" sz="3399">
                          <a:solidFill>
                            <a:srgbClr val="000000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✅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759"/>
                        </a:lnSpc>
                        <a:defRPr/>
                      </a:pPr>
                      <a:r>
                        <a:rPr lang="en-US" sz="3399" b="true">
                          <a:solidFill>
                            <a:srgbClr val="000000"/>
                          </a:solidFill>
                          <a:latin typeface="Open Sauce Bold"/>
                          <a:ea typeface="Open Sauce Bold"/>
                          <a:cs typeface="Open Sauce Bold"/>
                          <a:sym typeface="Open Sauce Bold"/>
                        </a:rPr>
                        <a:t>✅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759"/>
                        </a:lnSpc>
                        <a:defRPr/>
                      </a:pPr>
                      <a:r>
                        <a:rPr lang="en-US" sz="3399" b="true">
                          <a:solidFill>
                            <a:srgbClr val="000000"/>
                          </a:solidFill>
                          <a:latin typeface="Open Sauce Bold"/>
                          <a:ea typeface="Open Sauce Bold"/>
                          <a:cs typeface="Open Sauce Bold"/>
                          <a:sym typeface="Open Sauce Bold"/>
                        </a:rPr>
                        <a:t>✅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759"/>
                        </a:lnSpc>
                        <a:defRPr/>
                      </a:pPr>
                      <a:r>
                        <a:rPr lang="en-US" b="true" sz="3399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✅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0241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FPT AI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759"/>
                        </a:lnSpc>
                        <a:defRPr/>
                      </a:pPr>
                      <a:r>
                        <a:rPr lang="en-US" sz="3399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759"/>
                        </a:lnSpc>
                        <a:defRPr/>
                      </a:pPr>
                      <a:r>
                        <a:rPr lang="en-US" sz="3399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✅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759"/>
                        </a:lnSpc>
                        <a:defRPr/>
                      </a:pPr>
                      <a:r>
                        <a:rPr lang="en-US" sz="33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759"/>
                        </a:lnSpc>
                        <a:defRPr/>
                      </a:pPr>
                      <a:r>
                        <a:rPr lang="en-US" sz="33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0241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Subiz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759"/>
                        </a:lnSpc>
                        <a:defRPr/>
                      </a:pPr>
                      <a:r>
                        <a:rPr lang="en-US" sz="33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759"/>
                        </a:lnSpc>
                        <a:defRPr/>
                      </a:pPr>
                      <a:r>
                        <a:rPr lang="en-US" sz="3399">
                          <a:solidFill>
                            <a:srgbClr val="000000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⚠️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759"/>
                        </a:lnSpc>
                        <a:defRPr/>
                      </a:pPr>
                      <a:r>
                        <a:rPr lang="en-US" sz="33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759"/>
                        </a:lnSpc>
                        <a:defRPr/>
                      </a:pPr>
                      <a:r>
                        <a:rPr lang="en-US" sz="3399" b="true">
                          <a:solidFill>
                            <a:srgbClr val="000000"/>
                          </a:solidFill>
                          <a:latin typeface="Noto Sans Bold"/>
                          <a:ea typeface="Noto Sans Bold"/>
                          <a:cs typeface="Noto Sans Bold"/>
                          <a:sym typeface="Noto Sans Bold"/>
                        </a:rPr>
                        <a:t>✅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0241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Zapier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759"/>
                        </a:lnSpc>
                        <a:defRPr/>
                      </a:pPr>
                      <a:r>
                        <a:rPr lang="en-US" sz="3399">
                          <a:solidFill>
                            <a:srgbClr val="000000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⚠️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759"/>
                        </a:lnSpc>
                        <a:defRPr/>
                      </a:pPr>
                      <a:r>
                        <a:rPr lang="en-US" sz="33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759"/>
                        </a:lnSpc>
                        <a:defRPr/>
                      </a:pPr>
                      <a:r>
                        <a:rPr lang="en-US" sz="33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759"/>
                        </a:lnSpc>
                        <a:defRPr/>
                      </a:pPr>
                      <a:r>
                        <a:rPr lang="en-US" sz="33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2" id="12"/>
          <p:cNvSpPr txBox="true"/>
          <p:nvPr/>
        </p:nvSpPr>
        <p:spPr>
          <a:xfrm rot="0">
            <a:off x="1028700" y="1633652"/>
            <a:ext cx="6915870" cy="1192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360"/>
              </a:lnSpc>
            </a:pPr>
            <a:r>
              <a:rPr lang="en-US" sz="8000" spc="-80" b="true">
                <a:solidFill>
                  <a:srgbClr val="000000"/>
                </a:solidFill>
                <a:latin typeface="Helvetica Now Display Bold"/>
                <a:ea typeface="Helvetica Now Display Bold"/>
                <a:cs typeface="Helvetica Now Display Bold"/>
                <a:sym typeface="Helvetica Now Display Bold"/>
              </a:rPr>
              <a:t>Com</a:t>
            </a:r>
            <a:r>
              <a:rPr lang="en-US" b="true" sz="8000" spc="-80">
                <a:solidFill>
                  <a:srgbClr val="000000"/>
                </a:solidFill>
                <a:latin typeface="Helvetica Now Display Bold"/>
                <a:ea typeface="Helvetica Now Display Bold"/>
                <a:cs typeface="Helvetica Now Display Bold"/>
                <a:sym typeface="Helvetica Now Display Bold"/>
              </a:rPr>
              <a:t>petition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28700" y="3522629"/>
            <a:ext cx="6915870" cy="1017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0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Whil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 several solutions exist in the market, none provide a complete end-to-end automation workflow tailored for Vietnamese SMEs.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28700" y="5086350"/>
            <a:ext cx="6915870" cy="2045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0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Most competitors either:</a:t>
            </a:r>
          </a:p>
          <a:p>
            <a:pPr algn="l" marL="388625" indent="-194312" lvl="1">
              <a:lnSpc>
                <a:spcPts val="2700"/>
              </a:lnSpc>
              <a:spcBef>
                <a:spcPct val="0"/>
              </a:spcBef>
              <a:buFont typeface="Arial"/>
              <a:buChar char="•"/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Focus only on chatbot responses (no real actions)</a:t>
            </a:r>
          </a:p>
          <a:p>
            <a:pPr algn="l" marL="388625" indent="-194312" lvl="1">
              <a:lnSpc>
                <a:spcPts val="2700"/>
              </a:lnSpc>
              <a:spcBef>
                <a:spcPct val="0"/>
              </a:spcBef>
              <a:buFont typeface="Arial"/>
              <a:buChar char="•"/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Lack integration with local platforms like KiotViet or Sapo</a:t>
            </a:r>
          </a:p>
          <a:p>
            <a:pPr algn="l" marL="388625" indent="-194312" lvl="1">
              <a:lnSpc>
                <a:spcPts val="2700"/>
              </a:lnSpc>
              <a:spcBef>
                <a:spcPct val="0"/>
              </a:spcBef>
              <a:buFont typeface="Arial"/>
              <a:buChar char="•"/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Target enterprise customers with high pricing</a:t>
            </a:r>
          </a:p>
          <a:p>
            <a:pPr algn="l" marL="388625" indent="-194312" lvl="1">
              <a:lnSpc>
                <a:spcPts val="2700"/>
              </a:lnSpc>
              <a:spcBef>
                <a:spcPct val="0"/>
              </a:spcBef>
              <a:buFont typeface="Arial"/>
              <a:buChar char="•"/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Do not support Zalo natively</a:t>
            </a:r>
          </a:p>
          <a:p>
            <a:pPr algn="l" marL="0" indent="0" lvl="0">
              <a:lnSpc>
                <a:spcPts val="270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54122" y="1028700"/>
            <a:ext cx="4112762" cy="486186"/>
            <a:chOff x="0" y="0"/>
            <a:chExt cx="5483683" cy="648248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675833" cy="648248"/>
              <a:chOff x="0" y="0"/>
              <a:chExt cx="622300" cy="596900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22300" cy="596900"/>
              </a:xfrm>
              <a:custGeom>
                <a:avLst/>
                <a:gdLst/>
                <a:ahLst/>
                <a:cxnLst/>
                <a:rect r="r" b="b" t="t" l="l"/>
                <a:pathLst>
                  <a:path h="596900" w="622300">
                    <a:moveTo>
                      <a:pt x="295910" y="297180"/>
                    </a:moveTo>
                    <a:lnTo>
                      <a:pt x="295910" y="596900"/>
                    </a:lnTo>
                    <a:cubicBezTo>
                      <a:pt x="129540" y="590550"/>
                      <a:pt x="0" y="459740"/>
                      <a:pt x="0" y="297180"/>
                    </a:cubicBezTo>
                    <a:cubicBezTo>
                      <a:pt x="0" y="135890"/>
                      <a:pt x="129540" y="3810"/>
                      <a:pt x="295910" y="0"/>
                    </a:cubicBezTo>
                    <a:lnTo>
                      <a:pt x="295910" y="299720"/>
                    </a:lnTo>
                    <a:close/>
                    <a:moveTo>
                      <a:pt x="295910" y="287020"/>
                    </a:moveTo>
                    <a:lnTo>
                      <a:pt x="295910" y="289560"/>
                    </a:lnTo>
                    <a:cubicBezTo>
                      <a:pt x="295910" y="210820"/>
                      <a:pt x="328930" y="138430"/>
                      <a:pt x="365760" y="86360"/>
                    </a:cubicBezTo>
                    <a:cubicBezTo>
                      <a:pt x="402590" y="35560"/>
                      <a:pt x="452120" y="2540"/>
                      <a:pt x="511810" y="0"/>
                    </a:cubicBezTo>
                    <a:lnTo>
                      <a:pt x="511810" y="297180"/>
                    </a:lnTo>
                    <a:lnTo>
                      <a:pt x="511810" y="596900"/>
                    </a:lnTo>
                    <a:cubicBezTo>
                      <a:pt x="452120" y="591820"/>
                      <a:pt x="402590" y="560070"/>
                      <a:pt x="365760" y="509270"/>
                    </a:cubicBezTo>
                    <a:cubicBezTo>
                      <a:pt x="328930" y="457200"/>
                      <a:pt x="295910" y="384810"/>
                      <a:pt x="295910" y="304800"/>
                    </a:cubicBezTo>
                    <a:lnTo>
                      <a:pt x="295910" y="287020"/>
                    </a:lnTo>
                    <a:close/>
                    <a:moveTo>
                      <a:pt x="511810" y="297180"/>
                    </a:moveTo>
                    <a:cubicBezTo>
                      <a:pt x="511810" y="214630"/>
                      <a:pt x="533400" y="138430"/>
                      <a:pt x="554990" y="85090"/>
                    </a:cubicBezTo>
                    <a:cubicBezTo>
                      <a:pt x="566420" y="58420"/>
                      <a:pt x="579120" y="36830"/>
                      <a:pt x="593090" y="21590"/>
                    </a:cubicBezTo>
                    <a:cubicBezTo>
                      <a:pt x="604520" y="10160"/>
                      <a:pt x="615950" y="2540"/>
                      <a:pt x="622300" y="1270"/>
                    </a:cubicBezTo>
                    <a:lnTo>
                      <a:pt x="622300" y="596900"/>
                    </a:lnTo>
                    <a:cubicBezTo>
                      <a:pt x="615950" y="591820"/>
                      <a:pt x="600710" y="585470"/>
                      <a:pt x="593090" y="572770"/>
                    </a:cubicBezTo>
                    <a:cubicBezTo>
                      <a:pt x="579120" y="558800"/>
                      <a:pt x="566420" y="537210"/>
                      <a:pt x="554990" y="510540"/>
                    </a:cubicBezTo>
                    <a:cubicBezTo>
                      <a:pt x="534670" y="459740"/>
                      <a:pt x="511810" y="389890"/>
                      <a:pt x="511810" y="313690"/>
                    </a:cubicBezTo>
                    <a:lnTo>
                      <a:pt x="511810" y="297180"/>
                    </a:lnTo>
                    <a:close/>
                  </a:path>
                </a:pathLst>
              </a:custGeom>
              <a:solidFill>
                <a:srgbClr val="E57C7C"/>
              </a:solidFill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60325"/>
                <a:ext cx="622300" cy="4095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50"/>
                  </a:lnSpc>
                </a:pPr>
              </a:p>
            </p:txBody>
          </p:sp>
        </p:grpSp>
        <p:sp>
          <p:nvSpPr>
            <p:cNvPr name="TextBox 6" id="6"/>
            <p:cNvSpPr txBox="true"/>
            <p:nvPr/>
          </p:nvSpPr>
          <p:spPr>
            <a:xfrm rot="0">
              <a:off x="839189" y="44089"/>
              <a:ext cx="4644494" cy="4933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50"/>
                </a:lnSpc>
              </a:pPr>
              <a:r>
                <a:rPr lang="en-US" sz="2100" spc="-63">
                  <a:solidFill>
                    <a:srgbClr val="000000"/>
                  </a:solidFill>
                  <a:latin typeface="Open Sauce"/>
                  <a:ea typeface="Open Sauce"/>
                  <a:cs typeface="Open Sauce"/>
                  <a:sym typeface="Open Sauce"/>
                </a:rPr>
                <a:t>Agentify</a:t>
              </a: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8563697" y="1341501"/>
            <a:ext cx="1160606" cy="446522"/>
          </a:xfrm>
          <a:custGeom>
            <a:avLst/>
            <a:gdLst/>
            <a:ahLst/>
            <a:cxnLst/>
            <a:rect r="r" b="b" t="t" l="l"/>
            <a:pathLst>
              <a:path h="446522" w="1160606">
                <a:moveTo>
                  <a:pt x="0" y="0"/>
                </a:moveTo>
                <a:lnTo>
                  <a:pt x="1160606" y="0"/>
                </a:lnTo>
                <a:lnTo>
                  <a:pt x="1160606" y="446522"/>
                </a:lnTo>
                <a:lnTo>
                  <a:pt x="0" y="4465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75980" b="-360761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6994655" y="-1770583"/>
            <a:ext cx="3729038" cy="4114800"/>
          </a:xfrm>
          <a:custGeom>
            <a:avLst/>
            <a:gdLst/>
            <a:ahLst/>
            <a:cxnLst/>
            <a:rect r="r" b="b" t="t" l="l"/>
            <a:pathLst>
              <a:path h="4114800" w="3729038">
                <a:moveTo>
                  <a:pt x="0" y="0"/>
                </a:moveTo>
                <a:lnTo>
                  <a:pt x="3729037" y="0"/>
                </a:lnTo>
                <a:lnTo>
                  <a:pt x="37290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1864519" y="8229600"/>
            <a:ext cx="3729038" cy="4114800"/>
          </a:xfrm>
          <a:custGeom>
            <a:avLst/>
            <a:gdLst/>
            <a:ahLst/>
            <a:cxnLst/>
            <a:rect r="r" b="b" t="t" l="l"/>
            <a:pathLst>
              <a:path h="4114800" w="3729038">
                <a:moveTo>
                  <a:pt x="0" y="0"/>
                </a:moveTo>
                <a:lnTo>
                  <a:pt x="3729038" y="0"/>
                </a:lnTo>
                <a:lnTo>
                  <a:pt x="37290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9076624" y="1213149"/>
            <a:ext cx="8045151" cy="8045151"/>
          </a:xfrm>
          <a:custGeom>
            <a:avLst/>
            <a:gdLst/>
            <a:ahLst/>
            <a:cxnLst/>
            <a:rect r="r" b="b" t="t" l="l"/>
            <a:pathLst>
              <a:path h="8045151" w="8045151">
                <a:moveTo>
                  <a:pt x="0" y="0"/>
                </a:moveTo>
                <a:lnTo>
                  <a:pt x="8045151" y="0"/>
                </a:lnTo>
                <a:lnTo>
                  <a:pt x="8045151" y="8045151"/>
                </a:lnTo>
                <a:lnTo>
                  <a:pt x="0" y="804515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028700" y="1858442"/>
            <a:ext cx="6915870" cy="1192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360"/>
              </a:lnSpc>
            </a:pPr>
            <a:r>
              <a:rPr lang="en-US" sz="8000" spc="-80" b="true">
                <a:solidFill>
                  <a:srgbClr val="000000"/>
                </a:solidFill>
                <a:latin typeface="Helvetica Now Display Bold"/>
                <a:ea typeface="Helvetica Now Display Bold"/>
                <a:cs typeface="Helvetica Now Display Bold"/>
                <a:sym typeface="Helvetica Now Display Bold"/>
              </a:rPr>
              <a:t>Go-To-Market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28700" y="4001659"/>
            <a:ext cx="6915870" cy="136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00"/>
              </a:lnSpc>
              <a:spcBef>
                <a:spcPct val="0"/>
              </a:spcBef>
            </a:pPr>
            <a:r>
              <a:rPr lang="en-US" b="true" sz="18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Ph</a:t>
            </a:r>
            <a:r>
              <a:rPr lang="en-US" b="true" sz="18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ase 1 (0–3 months):</a:t>
            </a:r>
          </a:p>
          <a:p>
            <a:pPr algn="l" marL="388625" indent="-194312" lvl="1">
              <a:lnSpc>
                <a:spcPts val="2700"/>
              </a:lnSpc>
              <a:spcBef>
                <a:spcPct val="0"/>
              </a:spcBef>
              <a:buFont typeface="Arial"/>
              <a:buChar char="•"/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Target fashion &amp; beauty SMEs</a:t>
            </a:r>
          </a:p>
          <a:p>
            <a:pPr algn="l" marL="388625" indent="-194312" lvl="1">
              <a:lnSpc>
                <a:spcPts val="2700"/>
              </a:lnSpc>
              <a:spcBef>
                <a:spcPct val="0"/>
              </a:spcBef>
              <a:buFont typeface="Arial"/>
              <a:buChar char="•"/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Already using Zalo OA + KiotViet</a:t>
            </a:r>
          </a:p>
          <a:p>
            <a:pPr algn="l" marL="0" indent="0" lvl="0">
              <a:lnSpc>
                <a:spcPts val="2700"/>
              </a:lnSpc>
              <a:spcBef>
                <a:spcPct val="0"/>
              </a:spcBef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1028700" y="5867038"/>
            <a:ext cx="6915870" cy="1703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00"/>
              </a:lnSpc>
              <a:spcBef>
                <a:spcPct val="0"/>
              </a:spcBef>
            </a:pPr>
            <a:r>
              <a:rPr lang="en-US" b="true" sz="18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Ch</a:t>
            </a:r>
            <a:r>
              <a:rPr lang="en-US" b="true" sz="18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annels:</a:t>
            </a:r>
          </a:p>
          <a:p>
            <a:pPr algn="l" marL="388625" indent="-194312" lvl="1">
              <a:lnSpc>
                <a:spcPts val="2700"/>
              </a:lnSpc>
              <a:spcBef>
                <a:spcPct val="0"/>
              </a:spcBef>
              <a:buFont typeface="Arial"/>
              <a:buChar char="•"/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Facebook communities (millions of users)</a:t>
            </a:r>
          </a:p>
          <a:p>
            <a:pPr algn="l" marL="388625" indent="-194312" lvl="1">
              <a:lnSpc>
                <a:spcPts val="2700"/>
              </a:lnSpc>
              <a:spcBef>
                <a:spcPct val="0"/>
              </a:spcBef>
              <a:buFont typeface="Arial"/>
              <a:buChar char="•"/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Vi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ral demo videos</a:t>
            </a:r>
          </a:p>
          <a:p>
            <a:pPr algn="l" marL="388625" indent="-194312" lvl="1">
              <a:lnSpc>
                <a:spcPts val="2700"/>
              </a:lnSpc>
              <a:spcBef>
                <a:spcPct val="0"/>
              </a:spcBef>
              <a:buFont typeface="Arial"/>
              <a:buChar char="•"/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Agency partnerships (x20 distribution)</a:t>
            </a:r>
          </a:p>
          <a:p>
            <a:pPr algn="l" marL="0" indent="0" lvl="0">
              <a:lnSpc>
                <a:spcPts val="270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994307" y="2121477"/>
            <a:ext cx="6293693" cy="6036808"/>
            <a:chOff x="0" y="0"/>
            <a:chExt cx="622300" cy="5969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22300" cy="596900"/>
            </a:xfrm>
            <a:custGeom>
              <a:avLst/>
              <a:gdLst/>
              <a:ahLst/>
              <a:cxnLst/>
              <a:rect r="r" b="b" t="t" l="l"/>
              <a:pathLst>
                <a:path h="596900" w="622300">
                  <a:moveTo>
                    <a:pt x="295910" y="297180"/>
                  </a:moveTo>
                  <a:lnTo>
                    <a:pt x="295910" y="596900"/>
                  </a:lnTo>
                  <a:cubicBezTo>
                    <a:pt x="129540" y="590550"/>
                    <a:pt x="0" y="459740"/>
                    <a:pt x="0" y="297180"/>
                  </a:cubicBezTo>
                  <a:cubicBezTo>
                    <a:pt x="0" y="135890"/>
                    <a:pt x="129540" y="3810"/>
                    <a:pt x="295910" y="0"/>
                  </a:cubicBezTo>
                  <a:lnTo>
                    <a:pt x="295910" y="299720"/>
                  </a:lnTo>
                  <a:close/>
                  <a:moveTo>
                    <a:pt x="295910" y="287020"/>
                  </a:moveTo>
                  <a:lnTo>
                    <a:pt x="295910" y="289560"/>
                  </a:lnTo>
                  <a:cubicBezTo>
                    <a:pt x="295910" y="210820"/>
                    <a:pt x="328930" y="138430"/>
                    <a:pt x="365760" y="86360"/>
                  </a:cubicBezTo>
                  <a:cubicBezTo>
                    <a:pt x="402590" y="35560"/>
                    <a:pt x="452120" y="2540"/>
                    <a:pt x="511810" y="0"/>
                  </a:cubicBezTo>
                  <a:lnTo>
                    <a:pt x="511810" y="297180"/>
                  </a:lnTo>
                  <a:lnTo>
                    <a:pt x="511810" y="596900"/>
                  </a:lnTo>
                  <a:cubicBezTo>
                    <a:pt x="452120" y="591820"/>
                    <a:pt x="402590" y="560070"/>
                    <a:pt x="365760" y="509270"/>
                  </a:cubicBezTo>
                  <a:cubicBezTo>
                    <a:pt x="328930" y="457200"/>
                    <a:pt x="295910" y="384810"/>
                    <a:pt x="295910" y="304800"/>
                  </a:cubicBezTo>
                  <a:lnTo>
                    <a:pt x="295910" y="287020"/>
                  </a:lnTo>
                  <a:close/>
                  <a:moveTo>
                    <a:pt x="511810" y="297180"/>
                  </a:moveTo>
                  <a:cubicBezTo>
                    <a:pt x="511810" y="214630"/>
                    <a:pt x="533400" y="138430"/>
                    <a:pt x="554990" y="85090"/>
                  </a:cubicBezTo>
                  <a:cubicBezTo>
                    <a:pt x="566420" y="58420"/>
                    <a:pt x="579120" y="36830"/>
                    <a:pt x="593090" y="21590"/>
                  </a:cubicBezTo>
                  <a:cubicBezTo>
                    <a:pt x="604520" y="10160"/>
                    <a:pt x="615950" y="2540"/>
                    <a:pt x="622300" y="1270"/>
                  </a:cubicBezTo>
                  <a:lnTo>
                    <a:pt x="622300" y="596900"/>
                  </a:lnTo>
                  <a:cubicBezTo>
                    <a:pt x="615950" y="591820"/>
                    <a:pt x="600710" y="585470"/>
                    <a:pt x="593090" y="572770"/>
                  </a:cubicBezTo>
                  <a:cubicBezTo>
                    <a:pt x="579120" y="558800"/>
                    <a:pt x="566420" y="537210"/>
                    <a:pt x="554990" y="510540"/>
                  </a:cubicBezTo>
                  <a:cubicBezTo>
                    <a:pt x="534670" y="459740"/>
                    <a:pt x="511810" y="389890"/>
                    <a:pt x="511810" y="313690"/>
                  </a:cubicBezTo>
                  <a:lnTo>
                    <a:pt x="511810" y="297180"/>
                  </a:lnTo>
                  <a:close/>
                </a:path>
              </a:pathLst>
            </a:custGeom>
            <a:solidFill>
              <a:srgbClr val="E57C7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60325"/>
              <a:ext cx="622300" cy="4095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5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28700" y="2737248"/>
            <a:ext cx="14112453" cy="3186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93"/>
              </a:lnSpc>
            </a:pPr>
            <a:r>
              <a:rPr lang="en-US" sz="21362" spc="-213" b="true">
                <a:solidFill>
                  <a:srgbClr val="000000"/>
                </a:solidFill>
                <a:latin typeface="Helvetica Now Display Bold"/>
                <a:ea typeface="Helvetica Now Display Bold"/>
                <a:cs typeface="Helvetica Now Display Bold"/>
                <a:sym typeface="Helvetica Now Display Bold"/>
              </a:rPr>
              <a:t>T</a:t>
            </a:r>
            <a:r>
              <a:rPr lang="en-US" b="true" sz="21362" spc="-213">
                <a:solidFill>
                  <a:srgbClr val="000000"/>
                </a:solidFill>
                <a:latin typeface="Helvetica Now Display Bold"/>
                <a:ea typeface="Helvetica Now Display Bold"/>
                <a:cs typeface="Helvetica Now Display Bold"/>
                <a:sym typeface="Helvetica Now Display Bold"/>
              </a:rPr>
              <a:t>hank You!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028700" y="6637188"/>
            <a:ext cx="4524057" cy="893330"/>
            <a:chOff x="0" y="0"/>
            <a:chExt cx="1191521" cy="2352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91521" cy="235280"/>
            </a:xfrm>
            <a:custGeom>
              <a:avLst/>
              <a:gdLst/>
              <a:ahLst/>
              <a:cxnLst/>
              <a:rect r="r" b="b" t="t" l="l"/>
              <a:pathLst>
                <a:path h="235280" w="1191521">
                  <a:moveTo>
                    <a:pt x="0" y="0"/>
                  </a:moveTo>
                  <a:lnTo>
                    <a:pt x="1191521" y="0"/>
                  </a:lnTo>
                  <a:lnTo>
                    <a:pt x="1191521" y="235280"/>
                  </a:lnTo>
                  <a:lnTo>
                    <a:pt x="0" y="235280"/>
                  </a:lnTo>
                  <a:close/>
                </a:path>
              </a:pathLst>
            </a:custGeom>
            <a:solidFill>
              <a:srgbClr val="E57C7C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1191521" cy="2924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0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-5400000">
            <a:off x="5064683" y="6212949"/>
            <a:ext cx="928965" cy="812844"/>
            <a:chOff x="0" y="0"/>
            <a:chExt cx="812800" cy="711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E7F2F2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127000" y="273050"/>
              <a:ext cx="558800" cy="3873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00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5400000">
            <a:off x="589640" y="7124096"/>
            <a:ext cx="928965" cy="812844"/>
            <a:chOff x="0" y="0"/>
            <a:chExt cx="812800" cy="711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E7F2F2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127000" y="273050"/>
              <a:ext cx="558800" cy="3873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00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1028700" y="5647832"/>
            <a:ext cx="8276368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799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Let AI run your sales operations.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054122" y="1028700"/>
            <a:ext cx="4112762" cy="486186"/>
            <a:chOff x="0" y="0"/>
            <a:chExt cx="5483683" cy="648248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675833" cy="648248"/>
              <a:chOff x="0" y="0"/>
              <a:chExt cx="622300" cy="59690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622300" cy="596900"/>
              </a:xfrm>
              <a:custGeom>
                <a:avLst/>
                <a:gdLst/>
                <a:ahLst/>
                <a:cxnLst/>
                <a:rect r="r" b="b" t="t" l="l"/>
                <a:pathLst>
                  <a:path h="596900" w="622300">
                    <a:moveTo>
                      <a:pt x="295910" y="297180"/>
                    </a:moveTo>
                    <a:lnTo>
                      <a:pt x="295910" y="596900"/>
                    </a:lnTo>
                    <a:cubicBezTo>
                      <a:pt x="129540" y="590550"/>
                      <a:pt x="0" y="459740"/>
                      <a:pt x="0" y="297180"/>
                    </a:cubicBezTo>
                    <a:cubicBezTo>
                      <a:pt x="0" y="135890"/>
                      <a:pt x="129540" y="3810"/>
                      <a:pt x="295910" y="0"/>
                    </a:cubicBezTo>
                    <a:lnTo>
                      <a:pt x="295910" y="299720"/>
                    </a:lnTo>
                    <a:close/>
                    <a:moveTo>
                      <a:pt x="295910" y="287020"/>
                    </a:moveTo>
                    <a:lnTo>
                      <a:pt x="295910" y="289560"/>
                    </a:lnTo>
                    <a:cubicBezTo>
                      <a:pt x="295910" y="210820"/>
                      <a:pt x="328930" y="138430"/>
                      <a:pt x="365760" y="86360"/>
                    </a:cubicBezTo>
                    <a:cubicBezTo>
                      <a:pt x="402590" y="35560"/>
                      <a:pt x="452120" y="2540"/>
                      <a:pt x="511810" y="0"/>
                    </a:cubicBezTo>
                    <a:lnTo>
                      <a:pt x="511810" y="297180"/>
                    </a:lnTo>
                    <a:lnTo>
                      <a:pt x="511810" y="596900"/>
                    </a:lnTo>
                    <a:cubicBezTo>
                      <a:pt x="452120" y="591820"/>
                      <a:pt x="402590" y="560070"/>
                      <a:pt x="365760" y="509270"/>
                    </a:cubicBezTo>
                    <a:cubicBezTo>
                      <a:pt x="328930" y="457200"/>
                      <a:pt x="295910" y="384810"/>
                      <a:pt x="295910" y="304800"/>
                    </a:cubicBezTo>
                    <a:lnTo>
                      <a:pt x="295910" y="287020"/>
                    </a:lnTo>
                    <a:close/>
                    <a:moveTo>
                      <a:pt x="511810" y="297180"/>
                    </a:moveTo>
                    <a:cubicBezTo>
                      <a:pt x="511810" y="214630"/>
                      <a:pt x="533400" y="138430"/>
                      <a:pt x="554990" y="85090"/>
                    </a:cubicBezTo>
                    <a:cubicBezTo>
                      <a:pt x="566420" y="58420"/>
                      <a:pt x="579120" y="36830"/>
                      <a:pt x="593090" y="21590"/>
                    </a:cubicBezTo>
                    <a:cubicBezTo>
                      <a:pt x="604520" y="10160"/>
                      <a:pt x="615950" y="2540"/>
                      <a:pt x="622300" y="1270"/>
                    </a:cubicBezTo>
                    <a:lnTo>
                      <a:pt x="622300" y="596900"/>
                    </a:lnTo>
                    <a:cubicBezTo>
                      <a:pt x="615950" y="591820"/>
                      <a:pt x="600710" y="585470"/>
                      <a:pt x="593090" y="572770"/>
                    </a:cubicBezTo>
                    <a:cubicBezTo>
                      <a:pt x="579120" y="558800"/>
                      <a:pt x="566420" y="537210"/>
                      <a:pt x="554990" y="510540"/>
                    </a:cubicBezTo>
                    <a:cubicBezTo>
                      <a:pt x="534670" y="459740"/>
                      <a:pt x="511810" y="389890"/>
                      <a:pt x="511810" y="313690"/>
                    </a:cubicBezTo>
                    <a:lnTo>
                      <a:pt x="511810" y="297180"/>
                    </a:lnTo>
                    <a:close/>
                  </a:path>
                </a:pathLst>
              </a:custGeom>
              <a:solidFill>
                <a:srgbClr val="E57C7C"/>
              </a:solidFill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60325"/>
                <a:ext cx="622300" cy="4095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50"/>
                  </a:lnSpc>
                </a:pPr>
              </a:p>
            </p:txBody>
          </p:sp>
        </p:grpSp>
        <p:sp>
          <p:nvSpPr>
            <p:cNvPr name="TextBox 20" id="20"/>
            <p:cNvSpPr txBox="true"/>
            <p:nvPr/>
          </p:nvSpPr>
          <p:spPr>
            <a:xfrm rot="0">
              <a:off x="839189" y="44089"/>
              <a:ext cx="4644494" cy="4933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50"/>
                </a:lnSpc>
              </a:pPr>
              <a:r>
                <a:rPr lang="en-US" sz="2100" spc="-63">
                  <a:solidFill>
                    <a:srgbClr val="000000"/>
                  </a:solidFill>
                  <a:latin typeface="Open Sauce"/>
                  <a:ea typeface="Open Sauce"/>
                  <a:cs typeface="Open Sauce"/>
                  <a:sym typeface="Open Sauce"/>
                </a:rPr>
                <a:t>Agentify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1028700" y="8881110"/>
            <a:ext cx="3483370" cy="331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1800" spc="-5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Vu Minh Phung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505220" y="8881110"/>
            <a:ext cx="3754080" cy="331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00"/>
              </a:lnSpc>
            </a:pPr>
            <a:r>
              <a:rPr lang="en-US" sz="1800" spc="-5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minhvu2592005@gmail.com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477764" y="6879066"/>
            <a:ext cx="3625930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9"/>
              </a:lnSpc>
            </a:pPr>
            <a:r>
              <a:rPr lang="en-US" sz="1999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AGENTIFY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8563697" y="7711762"/>
            <a:ext cx="1160606" cy="446522"/>
          </a:xfrm>
          <a:custGeom>
            <a:avLst/>
            <a:gdLst/>
            <a:ahLst/>
            <a:cxnLst/>
            <a:rect r="r" b="b" t="t" l="l"/>
            <a:pathLst>
              <a:path h="446522" w="1160606">
                <a:moveTo>
                  <a:pt x="0" y="0"/>
                </a:moveTo>
                <a:lnTo>
                  <a:pt x="1160606" y="0"/>
                </a:lnTo>
                <a:lnTo>
                  <a:pt x="1160606" y="446522"/>
                </a:lnTo>
                <a:lnTo>
                  <a:pt x="0" y="4465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75980" b="-360761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6994655" y="-1770583"/>
            <a:ext cx="3729038" cy="4114800"/>
          </a:xfrm>
          <a:custGeom>
            <a:avLst/>
            <a:gdLst/>
            <a:ahLst/>
            <a:cxnLst/>
            <a:rect r="r" b="b" t="t" l="l"/>
            <a:pathLst>
              <a:path h="4114800" w="3729038">
                <a:moveTo>
                  <a:pt x="0" y="0"/>
                </a:moveTo>
                <a:lnTo>
                  <a:pt x="3729037" y="0"/>
                </a:lnTo>
                <a:lnTo>
                  <a:pt x="37290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-1864519" y="8229600"/>
            <a:ext cx="3729038" cy="4114800"/>
          </a:xfrm>
          <a:custGeom>
            <a:avLst/>
            <a:gdLst/>
            <a:ahLst/>
            <a:cxnLst/>
            <a:rect r="r" b="b" t="t" l="l"/>
            <a:pathLst>
              <a:path h="4114800" w="3729038">
                <a:moveTo>
                  <a:pt x="0" y="0"/>
                </a:moveTo>
                <a:lnTo>
                  <a:pt x="3729038" y="0"/>
                </a:lnTo>
                <a:lnTo>
                  <a:pt x="37290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DAHHOkng13A</dc:identifier>
  <dcterms:modified xsi:type="dcterms:W3CDTF">2011-08-01T06:04:30Z</dcterms:modified>
  <cp:revision>1</cp:revision>
  <dc:title>Agentify</dc:title>
</cp:coreProperties>
</file>