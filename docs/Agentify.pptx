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Open Sauce" charset="1" panose="00000500000000000000"/>
      <p:regular r:id="rId23"/>
    </p:embeddedFont>
    <p:embeddedFont>
      <p:font typeface="Helvetica Now Display Bold" charset="1" panose="020B0804030202020204"/>
      <p:regular r:id="rId24"/>
    </p:embeddedFont>
    <p:embeddedFont>
      <p:font typeface="Open Sauce Italics" charset="1" panose="00000500000000000000"/>
      <p:regular r:id="rId26"/>
    </p:embeddedFont>
    <p:embeddedFont>
      <p:font typeface="Open Sauce Bold" charset="1" panose="00000800000000000000"/>
      <p:regular r:id="rId27"/>
    </p:embeddedFont>
    <p:embeddedFont>
      <p:font typeface="Helvetica Now Display Bold Italics" charset="1" panose="020B0904030202090204"/>
      <p:regular r:id="rId32"/>
    </p:embeddedFont>
    <p:embeddedFont>
      <p:font typeface="Helvetica Now Display Italics" charset="1" panose="020B0504030202090204"/>
      <p:regular r:id="rId33"/>
    </p:embeddedFont>
    <p:embeddedFont>
      <p:font typeface="Arimo Bold" charset="1" panose="020B0704020202020204"/>
      <p:regular r:id="rId35"/>
    </p:embeddedFont>
    <p:embeddedFont>
      <p:font typeface="Noto Sans Bold" charset="1" panose="020B0802040504020204"/>
      <p:regular r:id="rId36"/>
    </p:embeddedFont>
    <p:embeddedFont>
      <p:font typeface="Noto Sans" charset="1" panose="020B0502040504020204"/>
      <p:regular r:id="rId37"/>
    </p:embeddedFont>
    <p:embeddedFont>
      <p:font typeface="Arimo" charset="1" panose="020B0604020202020204"/>
      <p:regular r:id="rId38"/>
    </p:embeddedFont>
    <p:embeddedFont>
      <p:font typeface="Open Sauce Bold Italics" charset="1" panose="0000080000000000000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2.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3.xml" Type="http://schemas.openxmlformats.org/officeDocument/2006/relationships/notesSlide"/><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fonts/font32.fntdata" Type="http://schemas.openxmlformats.org/officeDocument/2006/relationships/font"/><Relationship Id="rId33" Target="fonts/font33.fntdata" Type="http://schemas.openxmlformats.org/officeDocument/2006/relationships/font"/><Relationship Id="rId34" Target="notesSlides/notesSlide7.xml" Type="http://schemas.openxmlformats.org/officeDocument/2006/relationships/note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notesSlides/notesSlide8.xml" Type="http://schemas.openxmlformats.org/officeDocument/2006/relationships/notesSlide"/><Relationship Id="rId4" Target="theme/theme1.xml" Type="http://schemas.openxmlformats.org/officeDocument/2006/relationships/theme"/><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“Agentify không phải là một phần mềm quản lý bán hàng mới. Shop đã có Pancake, KiotViet, Sapo để quản lý. Vấn đề là vẫn chưa có ai làm việc thay con người trên các hệ thống đó. Agentify là lớp AI execution giúp tự hiểu hội thoại, tự thao tác và tự hoàn thành trọn vẹn các workflow đủ điều kiện.”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“Vấn đề hiện nay không phải là SME thiếu phần mềm. Họ đã có công cụ quản lý. Nhưng mỗi ngày vẫn có 100 đến 300 tin nhắn, vẫn cần người đọc, người tra tồn, người tạo đơn, người nhắc lịch. Điểm nghẽn nằm ở execution, không nằm ở dashboard.”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“Pancake rất mạnh ở unified inbox. KiotViet và Sapo rất mạnh ở dữ liệu vận hành. Chatbot giúp trả lời các câu hỏi đơn giản. Nhưng khoảng trống nằm ở chỗ không có hệ thống nào tự kết nối toàn bộ ngữ cảnh đó để hoàn thành trọn vẹn những workflow nhiều bước giống một nhân viên thực thụ.”</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“Agentify ngồi lên trên stack hiện có của doanh nghiệp. Khi khách nhắn tin, Agentify hiểu intent, lấy dữ liệu thật từ hệ thống, tự thực hiện hành động tiếp theo như tạo đơn hoặc đặt lịch, rồi xác nhận lại cho khách. Trong giai đoạn đầu, Agentify không hứa tự động hóa mọi tình huống, mà hứa tự động hóa hoàn toàn những workflow có ranh giới rõ ràng.”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“Đây không phải là một thị trường phải tạo từ đầu. Việt Nam có khoảng 900 nghìn SME, trong đó tỷ lệ lớn bán hàng qua Facebook và Zalo. Quan trọng hơn, đã có một nhóm rất đáng kể đang dùng sẵn stack như KiotViet, Sapo, Pancake. Đó là nhóm có hạ tầng sẵn và có thể gắn AI execution layer ngay.”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“Khách hàng không mua Agentify để thay hệ thống cũ. Họ mua Agentify vì hệ thống cũ lưu dữ liệu và tổ chức công việc rất tốt, nhưng chưa tự làm việc. Agentify là nhân viên AI gắn lên trên hạ tầng hiện có để tự hoàn thành trọn vẹn các workflow lặp lại có ROI rõ ràng.”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“Chúng tôi không đối đầu trực diện bằng breadth. Những nền tảng lớn rất mạnh ở quản lý và dữ liệu. Agentify đứng ở lớp khác: tự hoàn thành trọn vẹn những workflow nhiều bước với outcome cụ thể như booking completed hoặc order completed.”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“Nếu các ông lớn cũng xây agent layer, Agentify vẫn có thể cạnh tranh nếu đi sâu hơn trong một ngành, làm tốt hơn ở một workflow cụ thể có thể full-auto thật, trung lập với vendor, và triển khai nhanh hơn. Moat của chúng tôi không phải chỉ là AI hay integration. Moat là playbook conversion và chất lượng thực thi trong một ngữ cảnh rất cụ thể.”</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“Tầm nhìn của Agentify là 100% autonomous operations. Nhưng cách đi đúng không phải là tự động hóa 50% của mọi thứ. Chúng tôi chọn ngược lại: tự động hóa 100% những workflow đủ điều kiện trước, sau đó mới mở rộng dần phạm vi.”</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“Thay vì làm ngang cho toàn bộ SME Việt Nam ngay từ đầu, Agentify đi vào một vertical hẹp nhưng đau rõ. Với beauty, spa, clinic, mỗi lead bỏ lỡ là mất tiền thật, mỗi lịch hẹn bị quên là mất doanh thu thật, nên đây là nơi phù hợp để xây workflow full-auto đầu tiên.”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5.pn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6.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7.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2.pn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3.pn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1994307" y="2121477"/>
            <a:ext cx="6293693" cy="6036808"/>
            <a:chOff x="0" y="0"/>
            <a:chExt cx="622300" cy="596900"/>
          </a:xfrm>
        </p:grpSpPr>
        <p:sp>
          <p:nvSpPr>
            <p:cNvPr name="Freeform 3" id="3"/>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4" id="4"/>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grpSp>
        <p:nvGrpSpPr>
          <p:cNvPr name="Group 5" id="5"/>
          <p:cNvGrpSpPr/>
          <p:nvPr/>
        </p:nvGrpSpPr>
        <p:grpSpPr>
          <a:xfrm rot="0">
            <a:off x="1108880" y="6655149"/>
            <a:ext cx="4524057" cy="893330"/>
            <a:chOff x="0" y="0"/>
            <a:chExt cx="1191521" cy="235280"/>
          </a:xfrm>
        </p:grpSpPr>
        <p:sp>
          <p:nvSpPr>
            <p:cNvPr name="Freeform 6" id="6"/>
            <p:cNvSpPr/>
            <p:nvPr/>
          </p:nvSpPr>
          <p:spPr>
            <a:xfrm flipH="false" flipV="false" rot="0">
              <a:off x="0" y="0"/>
              <a:ext cx="1191521" cy="235280"/>
            </a:xfrm>
            <a:custGeom>
              <a:avLst/>
              <a:gdLst/>
              <a:ahLst/>
              <a:cxnLst/>
              <a:rect r="r" b="b" t="t" l="l"/>
              <a:pathLst>
                <a:path h="235280" w="1191521">
                  <a:moveTo>
                    <a:pt x="0" y="0"/>
                  </a:moveTo>
                  <a:lnTo>
                    <a:pt x="1191521" y="0"/>
                  </a:lnTo>
                  <a:lnTo>
                    <a:pt x="1191521" y="235280"/>
                  </a:lnTo>
                  <a:lnTo>
                    <a:pt x="0" y="235280"/>
                  </a:lnTo>
                  <a:close/>
                </a:path>
              </a:pathLst>
            </a:custGeom>
            <a:solidFill>
              <a:srgbClr val="E57C7C"/>
            </a:solidFill>
          </p:spPr>
        </p:sp>
        <p:sp>
          <p:nvSpPr>
            <p:cNvPr name="TextBox 7" id="7"/>
            <p:cNvSpPr txBox="true"/>
            <p:nvPr/>
          </p:nvSpPr>
          <p:spPr>
            <a:xfrm>
              <a:off x="0" y="-57150"/>
              <a:ext cx="1191521" cy="292430"/>
            </a:xfrm>
            <a:prstGeom prst="rect">
              <a:avLst/>
            </a:prstGeom>
          </p:spPr>
          <p:txBody>
            <a:bodyPr anchor="ctr" rtlCol="false" tIns="50800" lIns="50800" bIns="50800" rIns="50800"/>
            <a:lstStyle/>
            <a:p>
              <a:pPr algn="ctr">
                <a:lnSpc>
                  <a:spcPts val="2700"/>
                </a:lnSpc>
              </a:pPr>
            </a:p>
          </p:txBody>
        </p:sp>
      </p:grpSp>
      <p:grpSp>
        <p:nvGrpSpPr>
          <p:cNvPr name="Group 8" id="8"/>
          <p:cNvGrpSpPr/>
          <p:nvPr/>
        </p:nvGrpSpPr>
        <p:grpSpPr>
          <a:xfrm rot="-5400000">
            <a:off x="5064683" y="6212949"/>
            <a:ext cx="928965" cy="812844"/>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E7F2F2"/>
            </a:solidFill>
          </p:spPr>
        </p:sp>
        <p:sp>
          <p:nvSpPr>
            <p:cNvPr name="TextBox 10" id="10"/>
            <p:cNvSpPr txBox="true"/>
            <p:nvPr/>
          </p:nvSpPr>
          <p:spPr>
            <a:xfrm>
              <a:off x="127000" y="273050"/>
              <a:ext cx="558800" cy="387350"/>
            </a:xfrm>
            <a:prstGeom prst="rect">
              <a:avLst/>
            </a:prstGeom>
          </p:spPr>
          <p:txBody>
            <a:bodyPr anchor="ctr" rtlCol="false" tIns="50800" lIns="50800" bIns="50800" rIns="50800"/>
            <a:lstStyle/>
            <a:p>
              <a:pPr algn="ctr">
                <a:lnSpc>
                  <a:spcPts val="2700"/>
                </a:lnSpc>
              </a:pPr>
            </a:p>
          </p:txBody>
        </p:sp>
      </p:grpSp>
      <p:grpSp>
        <p:nvGrpSpPr>
          <p:cNvPr name="Group 11" id="11"/>
          <p:cNvGrpSpPr/>
          <p:nvPr/>
        </p:nvGrpSpPr>
        <p:grpSpPr>
          <a:xfrm rot="5400000">
            <a:off x="589640" y="7124096"/>
            <a:ext cx="928965" cy="812844"/>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E7F2F2"/>
            </a:solidFill>
          </p:spPr>
        </p:sp>
        <p:sp>
          <p:nvSpPr>
            <p:cNvPr name="TextBox 13" id="13"/>
            <p:cNvSpPr txBox="true"/>
            <p:nvPr/>
          </p:nvSpPr>
          <p:spPr>
            <a:xfrm>
              <a:off x="127000" y="273050"/>
              <a:ext cx="558800" cy="387350"/>
            </a:xfrm>
            <a:prstGeom prst="rect">
              <a:avLst/>
            </a:prstGeom>
          </p:spPr>
          <p:txBody>
            <a:bodyPr anchor="ctr" rtlCol="false" tIns="50800" lIns="50800" bIns="50800" rIns="50800"/>
            <a:lstStyle/>
            <a:p>
              <a:pPr algn="ctr">
                <a:lnSpc>
                  <a:spcPts val="2700"/>
                </a:lnSpc>
              </a:pPr>
            </a:p>
          </p:txBody>
        </p:sp>
      </p:grpSp>
      <p:grpSp>
        <p:nvGrpSpPr>
          <p:cNvPr name="Group 14" id="14"/>
          <p:cNvGrpSpPr/>
          <p:nvPr/>
        </p:nvGrpSpPr>
        <p:grpSpPr>
          <a:xfrm rot="0">
            <a:off x="1054122" y="1028700"/>
            <a:ext cx="4112762" cy="486186"/>
            <a:chOff x="0" y="0"/>
            <a:chExt cx="5483683" cy="648248"/>
          </a:xfrm>
        </p:grpSpPr>
        <p:grpSp>
          <p:nvGrpSpPr>
            <p:cNvPr name="Group 15" id="15"/>
            <p:cNvGrpSpPr/>
            <p:nvPr/>
          </p:nvGrpSpPr>
          <p:grpSpPr>
            <a:xfrm rot="0">
              <a:off x="0" y="0"/>
              <a:ext cx="675833" cy="648248"/>
              <a:chOff x="0" y="0"/>
              <a:chExt cx="622300" cy="596900"/>
            </a:xfrm>
          </p:grpSpPr>
          <p:sp>
            <p:nvSpPr>
              <p:cNvPr name="Freeform 16" id="16"/>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17" id="17"/>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18" id="18"/>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sp>
        <p:nvSpPr>
          <p:cNvPr name="Freeform 19" id="19"/>
          <p:cNvSpPr/>
          <p:nvPr/>
        </p:nvSpPr>
        <p:spPr>
          <a:xfrm flipH="false" flipV="false" rot="0">
            <a:off x="8563697" y="7548479"/>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3">
              <a:extLst>
                <a:ext uri="{96DAC541-7B7A-43D3-8B79-37D633B846F1}">
                  <asvg:svgBlip xmlns:asvg="http://schemas.microsoft.com/office/drawing/2016/SVG/main" r:embed="rId4"/>
                </a:ext>
              </a:extLst>
            </a:blip>
            <a:stretch>
              <a:fillRect l="0" t="0" r="-75980" b="-360761"/>
            </a:stretch>
          </a:blipFill>
        </p:spPr>
      </p:sp>
      <p:sp>
        <p:nvSpPr>
          <p:cNvPr name="Freeform 20" id="20"/>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2" id="22"/>
          <p:cNvSpPr txBox="true"/>
          <p:nvPr/>
        </p:nvSpPr>
        <p:spPr>
          <a:xfrm rot="0">
            <a:off x="1054122" y="2445426"/>
            <a:ext cx="14112453" cy="3186540"/>
          </a:xfrm>
          <a:prstGeom prst="rect">
            <a:avLst/>
          </a:prstGeom>
        </p:spPr>
        <p:txBody>
          <a:bodyPr anchor="t" rtlCol="false" tIns="0" lIns="0" bIns="0" rIns="0">
            <a:spAutoFit/>
          </a:bodyPr>
          <a:lstStyle/>
          <a:p>
            <a:pPr algn="l">
              <a:lnSpc>
                <a:spcPts val="24993"/>
              </a:lnSpc>
            </a:pPr>
            <a:r>
              <a:rPr lang="en-US" sz="21362" spc="-213" b="true">
                <a:solidFill>
                  <a:srgbClr val="000000"/>
                </a:solidFill>
                <a:latin typeface="Helvetica Now Display Bold"/>
                <a:ea typeface="Helvetica Now Display Bold"/>
                <a:cs typeface="Helvetica Now Display Bold"/>
                <a:sym typeface="Helvetica Now Display Bold"/>
              </a:rPr>
              <a:t>Agentify</a:t>
            </a:r>
          </a:p>
        </p:txBody>
      </p:sp>
      <p:sp>
        <p:nvSpPr>
          <p:cNvPr name="TextBox 23" id="23"/>
          <p:cNvSpPr txBox="true"/>
          <p:nvPr/>
        </p:nvSpPr>
        <p:spPr>
          <a:xfrm rot="0">
            <a:off x="1864519" y="8300432"/>
            <a:ext cx="12228906" cy="1026795"/>
          </a:xfrm>
          <a:prstGeom prst="rect">
            <a:avLst/>
          </a:prstGeom>
        </p:spPr>
        <p:txBody>
          <a:bodyPr anchor="t" rtlCol="false" tIns="0" lIns="0" bIns="0" rIns="0">
            <a:spAutoFit/>
          </a:bodyPr>
          <a:lstStyle/>
          <a:p>
            <a:pPr algn="l">
              <a:lnSpc>
                <a:spcPts val="4199"/>
              </a:lnSpc>
            </a:pPr>
            <a:r>
              <a:rPr lang="en-US" sz="2799">
                <a:solidFill>
                  <a:srgbClr val="000000"/>
                </a:solidFill>
                <a:latin typeface="Open Sauce"/>
                <a:ea typeface="Open Sauce"/>
                <a:cs typeface="Open Sauce"/>
                <a:sym typeface="Open Sauce"/>
              </a:rPr>
              <a:t>Your current stack manages operations. </a:t>
            </a:r>
          </a:p>
          <a:p>
            <a:pPr algn="l">
              <a:lnSpc>
                <a:spcPts val="4199"/>
              </a:lnSpc>
            </a:pPr>
            <a:r>
              <a:rPr lang="en-US" sz="2799">
                <a:solidFill>
                  <a:srgbClr val="000000"/>
                </a:solidFill>
                <a:latin typeface="Open Sauce"/>
                <a:ea typeface="Open Sauce"/>
                <a:cs typeface="Open Sauce"/>
                <a:sym typeface="Open Sauce"/>
              </a:rPr>
              <a:t>Agentify gets the work done.</a:t>
            </a:r>
          </a:p>
        </p:txBody>
      </p:sp>
      <p:sp>
        <p:nvSpPr>
          <p:cNvPr name="TextBox 24" id="24"/>
          <p:cNvSpPr txBox="true"/>
          <p:nvPr/>
        </p:nvSpPr>
        <p:spPr>
          <a:xfrm rot="0">
            <a:off x="13505220" y="8881110"/>
            <a:ext cx="3754080" cy="331470"/>
          </a:xfrm>
          <a:prstGeom prst="rect">
            <a:avLst/>
          </a:prstGeom>
        </p:spPr>
        <p:txBody>
          <a:bodyPr anchor="t" rtlCol="false" tIns="0" lIns="0" bIns="0" rIns="0">
            <a:spAutoFit/>
          </a:bodyPr>
          <a:lstStyle/>
          <a:p>
            <a:pPr algn="r">
              <a:lnSpc>
                <a:spcPts val="2700"/>
              </a:lnSpc>
            </a:pPr>
            <a:r>
              <a:rPr lang="en-US" sz="1800" spc="-54">
                <a:solidFill>
                  <a:srgbClr val="000000"/>
                </a:solidFill>
                <a:latin typeface="Open Sauce"/>
                <a:ea typeface="Open Sauce"/>
                <a:cs typeface="Open Sauce"/>
                <a:sym typeface="Open Sauce"/>
              </a:rPr>
              <a:t>minhvu2592005@gmail.com</a:t>
            </a:r>
          </a:p>
        </p:txBody>
      </p:sp>
      <p:sp>
        <p:nvSpPr>
          <p:cNvPr name="TextBox 25" id="25"/>
          <p:cNvSpPr txBox="true"/>
          <p:nvPr/>
        </p:nvSpPr>
        <p:spPr>
          <a:xfrm rot="0">
            <a:off x="1557944" y="6879066"/>
            <a:ext cx="3625930" cy="352425"/>
          </a:xfrm>
          <a:prstGeom prst="rect">
            <a:avLst/>
          </a:prstGeom>
        </p:spPr>
        <p:txBody>
          <a:bodyPr anchor="t" rtlCol="false" tIns="0" lIns="0" bIns="0" rIns="0">
            <a:spAutoFit/>
          </a:bodyPr>
          <a:lstStyle/>
          <a:p>
            <a:pPr algn="ctr">
              <a:lnSpc>
                <a:spcPts val="2999"/>
              </a:lnSpc>
            </a:pPr>
            <a:r>
              <a:rPr lang="en-US" sz="1999">
                <a:solidFill>
                  <a:srgbClr val="000000"/>
                </a:solidFill>
                <a:latin typeface="Open Sauce"/>
                <a:ea typeface="Open Sauce"/>
                <a:cs typeface="Open Sauce"/>
                <a:sym typeface="Open Sauce"/>
              </a:rPr>
              <a:t>AGENTIFY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054122" y="1028700"/>
            <a:ext cx="4112762" cy="486186"/>
            <a:chOff x="0" y="0"/>
            <a:chExt cx="5483683" cy="648248"/>
          </a:xfrm>
        </p:grpSpPr>
        <p:grpSp>
          <p:nvGrpSpPr>
            <p:cNvPr name="Group 3" id="3"/>
            <p:cNvGrpSpPr/>
            <p:nvPr/>
          </p:nvGrpSpPr>
          <p:grpSpPr>
            <a:xfrm rot="0">
              <a:off x="0" y="0"/>
              <a:ext cx="675833" cy="648248"/>
              <a:chOff x="0" y="0"/>
              <a:chExt cx="622300" cy="596900"/>
            </a:xfrm>
          </p:grpSpPr>
          <p:sp>
            <p:nvSpPr>
              <p:cNvPr name="Freeform 4" id="4"/>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5" id="5"/>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6" id="6"/>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grpSp>
        <p:nvGrpSpPr>
          <p:cNvPr name="Group 7" id="7"/>
          <p:cNvGrpSpPr/>
          <p:nvPr/>
        </p:nvGrpSpPr>
        <p:grpSpPr>
          <a:xfrm rot="0">
            <a:off x="1054122" y="5850982"/>
            <a:ext cx="4921400" cy="3412973"/>
            <a:chOff x="0" y="0"/>
            <a:chExt cx="398871" cy="276616"/>
          </a:xfrm>
        </p:grpSpPr>
        <p:sp>
          <p:nvSpPr>
            <p:cNvPr name="Freeform 8" id="8"/>
            <p:cNvSpPr/>
            <p:nvPr/>
          </p:nvSpPr>
          <p:spPr>
            <a:xfrm flipH="false" flipV="false" rot="0">
              <a:off x="0" y="0"/>
              <a:ext cx="398871" cy="276616"/>
            </a:xfrm>
            <a:custGeom>
              <a:avLst/>
              <a:gdLst/>
              <a:ahLst/>
              <a:cxnLst/>
              <a:rect r="r" b="b" t="t" l="l"/>
              <a:pathLst>
                <a:path h="276616" w="398871">
                  <a:moveTo>
                    <a:pt x="47193" y="0"/>
                  </a:moveTo>
                  <a:lnTo>
                    <a:pt x="351678" y="0"/>
                  </a:lnTo>
                  <a:cubicBezTo>
                    <a:pt x="364194" y="0"/>
                    <a:pt x="376198" y="4972"/>
                    <a:pt x="385049" y="13823"/>
                  </a:cubicBezTo>
                  <a:cubicBezTo>
                    <a:pt x="393899" y="22673"/>
                    <a:pt x="398871" y="34677"/>
                    <a:pt x="398871" y="47193"/>
                  </a:cubicBezTo>
                  <a:lnTo>
                    <a:pt x="398871" y="229422"/>
                  </a:lnTo>
                  <a:cubicBezTo>
                    <a:pt x="398871" y="241939"/>
                    <a:pt x="393899" y="253943"/>
                    <a:pt x="385049" y="262793"/>
                  </a:cubicBezTo>
                  <a:cubicBezTo>
                    <a:pt x="376198" y="271644"/>
                    <a:pt x="364194" y="276616"/>
                    <a:pt x="351678" y="276616"/>
                  </a:cubicBezTo>
                  <a:lnTo>
                    <a:pt x="47193" y="276616"/>
                  </a:lnTo>
                  <a:cubicBezTo>
                    <a:pt x="34677" y="276616"/>
                    <a:pt x="22673" y="271644"/>
                    <a:pt x="13823" y="262793"/>
                  </a:cubicBezTo>
                  <a:cubicBezTo>
                    <a:pt x="4972" y="253943"/>
                    <a:pt x="0" y="241939"/>
                    <a:pt x="0" y="229422"/>
                  </a:cubicBezTo>
                  <a:lnTo>
                    <a:pt x="0" y="47193"/>
                  </a:lnTo>
                  <a:cubicBezTo>
                    <a:pt x="0" y="34677"/>
                    <a:pt x="4972" y="22673"/>
                    <a:pt x="13823" y="13823"/>
                  </a:cubicBezTo>
                  <a:cubicBezTo>
                    <a:pt x="22673" y="4972"/>
                    <a:pt x="34677" y="0"/>
                    <a:pt x="47193" y="0"/>
                  </a:cubicBezTo>
                  <a:close/>
                </a:path>
              </a:pathLst>
            </a:custGeom>
            <a:solidFill>
              <a:srgbClr val="E57C7C"/>
            </a:solidFill>
          </p:spPr>
        </p:sp>
        <p:sp>
          <p:nvSpPr>
            <p:cNvPr name="TextBox 9" id="9"/>
            <p:cNvSpPr txBox="true"/>
            <p:nvPr/>
          </p:nvSpPr>
          <p:spPr>
            <a:xfrm>
              <a:off x="0" y="-66675"/>
              <a:ext cx="398871" cy="343291"/>
            </a:xfrm>
            <a:prstGeom prst="rect">
              <a:avLst/>
            </a:prstGeom>
          </p:spPr>
          <p:txBody>
            <a:bodyPr anchor="ctr" rtlCol="false" tIns="50800" lIns="50800" bIns="50800" rIns="50800"/>
            <a:lstStyle/>
            <a:p>
              <a:pPr algn="ctr">
                <a:lnSpc>
                  <a:spcPts val="3150"/>
                </a:lnSpc>
              </a:pPr>
            </a:p>
          </p:txBody>
        </p:sp>
      </p:grpSp>
      <p:grpSp>
        <p:nvGrpSpPr>
          <p:cNvPr name="Group 10" id="10"/>
          <p:cNvGrpSpPr/>
          <p:nvPr/>
        </p:nvGrpSpPr>
        <p:grpSpPr>
          <a:xfrm rot="0">
            <a:off x="11528628" y="1788023"/>
            <a:ext cx="5681949" cy="7470277"/>
            <a:chOff x="0" y="0"/>
            <a:chExt cx="1317316" cy="1731926"/>
          </a:xfrm>
        </p:grpSpPr>
        <p:sp>
          <p:nvSpPr>
            <p:cNvPr name="Freeform 11" id="11"/>
            <p:cNvSpPr/>
            <p:nvPr/>
          </p:nvSpPr>
          <p:spPr>
            <a:xfrm flipH="false" flipV="false" rot="0">
              <a:off x="0" y="0"/>
              <a:ext cx="1317316" cy="1731926"/>
            </a:xfrm>
            <a:custGeom>
              <a:avLst/>
              <a:gdLst/>
              <a:ahLst/>
              <a:cxnLst/>
              <a:rect r="r" b="b" t="t" l="l"/>
              <a:pathLst>
                <a:path h="1731926" w="1317316">
                  <a:moveTo>
                    <a:pt x="72215" y="0"/>
                  </a:moveTo>
                  <a:lnTo>
                    <a:pt x="1245101" y="0"/>
                  </a:lnTo>
                  <a:cubicBezTo>
                    <a:pt x="1264253" y="0"/>
                    <a:pt x="1282621" y="7608"/>
                    <a:pt x="1296164" y="21151"/>
                  </a:cubicBezTo>
                  <a:cubicBezTo>
                    <a:pt x="1309707" y="34694"/>
                    <a:pt x="1317316" y="53062"/>
                    <a:pt x="1317316" y="72215"/>
                  </a:cubicBezTo>
                  <a:lnTo>
                    <a:pt x="1317316" y="1659711"/>
                  </a:lnTo>
                  <a:cubicBezTo>
                    <a:pt x="1317316" y="1678863"/>
                    <a:pt x="1309707" y="1697231"/>
                    <a:pt x="1296164" y="1710774"/>
                  </a:cubicBezTo>
                  <a:cubicBezTo>
                    <a:pt x="1282621" y="1724317"/>
                    <a:pt x="1264253" y="1731926"/>
                    <a:pt x="1245101" y="1731926"/>
                  </a:cubicBezTo>
                  <a:lnTo>
                    <a:pt x="72215" y="1731926"/>
                  </a:lnTo>
                  <a:cubicBezTo>
                    <a:pt x="53062" y="1731926"/>
                    <a:pt x="34694" y="1724317"/>
                    <a:pt x="21151" y="1710774"/>
                  </a:cubicBezTo>
                  <a:cubicBezTo>
                    <a:pt x="7608" y="1697231"/>
                    <a:pt x="0" y="1678863"/>
                    <a:pt x="0" y="1659711"/>
                  </a:cubicBezTo>
                  <a:lnTo>
                    <a:pt x="0" y="72215"/>
                  </a:lnTo>
                  <a:cubicBezTo>
                    <a:pt x="0" y="53062"/>
                    <a:pt x="7608" y="34694"/>
                    <a:pt x="21151" y="21151"/>
                  </a:cubicBezTo>
                  <a:cubicBezTo>
                    <a:pt x="34694" y="7608"/>
                    <a:pt x="53062" y="0"/>
                    <a:pt x="72215" y="0"/>
                  </a:cubicBezTo>
                  <a:close/>
                </a:path>
              </a:pathLst>
            </a:custGeom>
            <a:blipFill>
              <a:blip r:embed="rId3"/>
              <a:stretch>
                <a:fillRect l="0" t="-18063" r="0" b="-18063"/>
              </a:stretch>
            </a:blipFill>
            <a:ln w="142875" cap="rnd">
              <a:solidFill>
                <a:srgbClr val="E57C7C"/>
              </a:solidFill>
              <a:prstDash val="solid"/>
              <a:round/>
            </a:ln>
          </p:spPr>
        </p:sp>
      </p:grpSp>
      <p:grpSp>
        <p:nvGrpSpPr>
          <p:cNvPr name="Group 12" id="12"/>
          <p:cNvGrpSpPr/>
          <p:nvPr/>
        </p:nvGrpSpPr>
        <p:grpSpPr>
          <a:xfrm rot="0">
            <a:off x="6197653" y="5850982"/>
            <a:ext cx="4921400" cy="3412973"/>
            <a:chOff x="0" y="0"/>
            <a:chExt cx="398871" cy="276616"/>
          </a:xfrm>
        </p:grpSpPr>
        <p:sp>
          <p:nvSpPr>
            <p:cNvPr name="Freeform 13" id="13"/>
            <p:cNvSpPr/>
            <p:nvPr/>
          </p:nvSpPr>
          <p:spPr>
            <a:xfrm flipH="false" flipV="false" rot="0">
              <a:off x="0" y="0"/>
              <a:ext cx="398871" cy="276616"/>
            </a:xfrm>
            <a:custGeom>
              <a:avLst/>
              <a:gdLst/>
              <a:ahLst/>
              <a:cxnLst/>
              <a:rect r="r" b="b" t="t" l="l"/>
              <a:pathLst>
                <a:path h="276616" w="398871">
                  <a:moveTo>
                    <a:pt x="47193" y="0"/>
                  </a:moveTo>
                  <a:lnTo>
                    <a:pt x="351678" y="0"/>
                  </a:lnTo>
                  <a:cubicBezTo>
                    <a:pt x="364194" y="0"/>
                    <a:pt x="376198" y="4972"/>
                    <a:pt x="385049" y="13823"/>
                  </a:cubicBezTo>
                  <a:cubicBezTo>
                    <a:pt x="393899" y="22673"/>
                    <a:pt x="398871" y="34677"/>
                    <a:pt x="398871" y="47193"/>
                  </a:cubicBezTo>
                  <a:lnTo>
                    <a:pt x="398871" y="229422"/>
                  </a:lnTo>
                  <a:cubicBezTo>
                    <a:pt x="398871" y="241939"/>
                    <a:pt x="393899" y="253943"/>
                    <a:pt x="385049" y="262793"/>
                  </a:cubicBezTo>
                  <a:cubicBezTo>
                    <a:pt x="376198" y="271644"/>
                    <a:pt x="364194" y="276616"/>
                    <a:pt x="351678" y="276616"/>
                  </a:cubicBezTo>
                  <a:lnTo>
                    <a:pt x="47193" y="276616"/>
                  </a:lnTo>
                  <a:cubicBezTo>
                    <a:pt x="34677" y="276616"/>
                    <a:pt x="22673" y="271644"/>
                    <a:pt x="13823" y="262793"/>
                  </a:cubicBezTo>
                  <a:cubicBezTo>
                    <a:pt x="4972" y="253943"/>
                    <a:pt x="0" y="241939"/>
                    <a:pt x="0" y="229422"/>
                  </a:cubicBezTo>
                  <a:lnTo>
                    <a:pt x="0" y="47193"/>
                  </a:lnTo>
                  <a:cubicBezTo>
                    <a:pt x="0" y="34677"/>
                    <a:pt x="4972" y="22673"/>
                    <a:pt x="13823" y="13823"/>
                  </a:cubicBezTo>
                  <a:cubicBezTo>
                    <a:pt x="22673" y="4972"/>
                    <a:pt x="34677" y="0"/>
                    <a:pt x="47193" y="0"/>
                  </a:cubicBezTo>
                  <a:close/>
                </a:path>
              </a:pathLst>
            </a:custGeom>
            <a:solidFill>
              <a:srgbClr val="E57C7C"/>
            </a:solidFill>
          </p:spPr>
        </p:sp>
        <p:sp>
          <p:nvSpPr>
            <p:cNvPr name="TextBox 14" id="14"/>
            <p:cNvSpPr txBox="true"/>
            <p:nvPr/>
          </p:nvSpPr>
          <p:spPr>
            <a:xfrm>
              <a:off x="0" y="-66675"/>
              <a:ext cx="398871" cy="343291"/>
            </a:xfrm>
            <a:prstGeom prst="rect">
              <a:avLst/>
            </a:prstGeom>
          </p:spPr>
          <p:txBody>
            <a:bodyPr anchor="ctr" rtlCol="false" tIns="50800" lIns="50800" bIns="50800" rIns="50800"/>
            <a:lstStyle/>
            <a:p>
              <a:pPr algn="ctr">
                <a:lnSpc>
                  <a:spcPts val="3150"/>
                </a:lnSpc>
              </a:pPr>
            </a:p>
          </p:txBody>
        </p:sp>
      </p:grpSp>
      <p:sp>
        <p:nvSpPr>
          <p:cNvPr name="Freeform 15" id="15"/>
          <p:cNvSpPr/>
          <p:nvPr/>
        </p:nvSpPr>
        <p:spPr>
          <a:xfrm flipH="false" flipV="false" rot="0">
            <a:off x="8563697" y="1341501"/>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4">
              <a:extLst>
                <a:ext uri="{96DAC541-7B7A-43D3-8B79-37D633B846F1}">
                  <asvg:svgBlip xmlns:asvg="http://schemas.microsoft.com/office/drawing/2016/SVG/main" r:embed="rId5"/>
                </a:ext>
              </a:extLst>
            </a:blip>
            <a:stretch>
              <a:fillRect l="0" t="0" r="-75980" b="-360761"/>
            </a:stretch>
          </a:blipFill>
        </p:spPr>
      </p:sp>
      <p:sp>
        <p:nvSpPr>
          <p:cNvPr name="Freeform 16" id="16"/>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864519" y="9211928"/>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1079544" y="1807073"/>
            <a:ext cx="7600511" cy="1192530"/>
          </a:xfrm>
          <a:prstGeom prst="rect">
            <a:avLst/>
          </a:prstGeom>
        </p:spPr>
        <p:txBody>
          <a:bodyPr anchor="t" rtlCol="false" tIns="0" lIns="0" bIns="0" rIns="0">
            <a:spAutoFit/>
          </a:bodyPr>
          <a:lstStyle/>
          <a:p>
            <a:pPr algn="l">
              <a:lnSpc>
                <a:spcPts val="9360"/>
              </a:lnSpc>
            </a:pPr>
            <a:r>
              <a:rPr lang="en-US" sz="8000" spc="-80" b="true">
                <a:solidFill>
                  <a:srgbClr val="000000"/>
                </a:solidFill>
                <a:latin typeface="Helvetica Now Display Bold"/>
                <a:ea typeface="Helvetica Now Display Bold"/>
                <a:cs typeface="Helvetica Now Display Bold"/>
                <a:sym typeface="Helvetica Now Display Bold"/>
              </a:rPr>
              <a:t>T</a:t>
            </a:r>
            <a:r>
              <a:rPr lang="en-US" b="true" sz="8000" spc="-80">
                <a:solidFill>
                  <a:srgbClr val="000000"/>
                </a:solidFill>
                <a:latin typeface="Helvetica Now Display Bold"/>
                <a:ea typeface="Helvetica Now Display Bold"/>
                <a:cs typeface="Helvetica Now Display Bold"/>
                <a:sym typeface="Helvetica Now Display Bold"/>
              </a:rPr>
              <a:t>he Problem</a:t>
            </a:r>
          </a:p>
        </p:txBody>
      </p:sp>
      <p:sp>
        <p:nvSpPr>
          <p:cNvPr name="TextBox 19" id="19"/>
          <p:cNvSpPr txBox="true"/>
          <p:nvPr/>
        </p:nvSpPr>
        <p:spPr>
          <a:xfrm rot="0">
            <a:off x="1391476" y="6282124"/>
            <a:ext cx="4246693" cy="2731769"/>
          </a:xfrm>
          <a:prstGeom prst="rect">
            <a:avLst/>
          </a:prstGeom>
        </p:spPr>
        <p:txBody>
          <a:bodyPr anchor="t" rtlCol="false" tIns="0" lIns="0" bIns="0" rIns="0">
            <a:spAutoFit/>
          </a:bodyPr>
          <a:lstStyle/>
          <a:p>
            <a:pPr algn="l" marL="388623" indent="-194312" lvl="1">
              <a:lnSpc>
                <a:spcPts val="2700"/>
              </a:lnSpc>
              <a:buFont typeface="Arial"/>
              <a:buChar char="•"/>
            </a:pPr>
            <a:r>
              <a:rPr lang="en-US" sz="1800">
                <a:solidFill>
                  <a:srgbClr val="000000"/>
                </a:solidFill>
                <a:latin typeface="Open Sauce"/>
                <a:ea typeface="Open Sauce"/>
                <a:cs typeface="Open Sauce"/>
                <a:sym typeface="Open Sauce"/>
              </a:rPr>
              <a:t>300-500 </a:t>
            </a:r>
            <a:r>
              <a:rPr lang="en-US" sz="1800">
                <a:solidFill>
                  <a:srgbClr val="000000"/>
                </a:solidFill>
                <a:latin typeface="Open Sauce"/>
                <a:ea typeface="Open Sauce"/>
                <a:cs typeface="Open Sauce"/>
                <a:sym typeface="Open Sauce"/>
              </a:rPr>
              <a:t>messages/day </a:t>
            </a:r>
          </a:p>
          <a:p>
            <a:pPr algn="l">
              <a:lnSpc>
                <a:spcPts val="2700"/>
              </a:lnSpc>
            </a:pPr>
          </a:p>
          <a:p>
            <a:pPr algn="l" marL="388623" indent="-194312" lvl="1">
              <a:lnSpc>
                <a:spcPts val="2700"/>
              </a:lnSpc>
              <a:buFont typeface="Arial"/>
              <a:buChar char="•"/>
            </a:pPr>
            <a:r>
              <a:rPr lang="en-US" sz="1800">
                <a:solidFill>
                  <a:srgbClr val="000000"/>
                </a:solidFill>
                <a:latin typeface="Open Sauce"/>
                <a:ea typeface="Open Sauce"/>
                <a:cs typeface="Open Sauce"/>
                <a:sym typeface="Open Sauce"/>
              </a:rPr>
              <a:t>30-50% missed after-hours or peak-hour inquiries</a:t>
            </a:r>
          </a:p>
          <a:p>
            <a:pPr algn="l">
              <a:lnSpc>
                <a:spcPts val="2700"/>
              </a:lnSpc>
            </a:pPr>
          </a:p>
          <a:p>
            <a:pPr algn="l" marL="388623" indent="-194312" lvl="1">
              <a:lnSpc>
                <a:spcPts val="2700"/>
              </a:lnSpc>
              <a:buFont typeface="Arial"/>
              <a:buChar char="•"/>
            </a:pPr>
            <a:r>
              <a:rPr lang="en-US" sz="1800">
                <a:solidFill>
                  <a:srgbClr val="000000"/>
                </a:solidFill>
                <a:latin typeface="Open Sauce"/>
                <a:ea typeface="Open Sauce"/>
                <a:cs typeface="Open Sauce"/>
                <a:sym typeface="Open Sauce"/>
              </a:rPr>
              <a:t>8-18M VND monthly staffing cost per CS agent</a:t>
            </a:r>
          </a:p>
          <a:p>
            <a:pPr algn="l">
              <a:lnSpc>
                <a:spcPts val="2700"/>
              </a:lnSpc>
            </a:pPr>
          </a:p>
        </p:txBody>
      </p:sp>
      <p:sp>
        <p:nvSpPr>
          <p:cNvPr name="TextBox 20" id="20"/>
          <p:cNvSpPr txBox="true"/>
          <p:nvPr/>
        </p:nvSpPr>
        <p:spPr>
          <a:xfrm rot="0">
            <a:off x="6592618" y="6137259"/>
            <a:ext cx="4246693" cy="3074669"/>
          </a:xfrm>
          <a:prstGeom prst="rect">
            <a:avLst/>
          </a:prstGeom>
        </p:spPr>
        <p:txBody>
          <a:bodyPr anchor="t" rtlCol="false" tIns="0" lIns="0" bIns="0" rIns="0">
            <a:spAutoFit/>
          </a:bodyPr>
          <a:lstStyle/>
          <a:p>
            <a:pPr algn="l" marL="388623" indent="-194312" lvl="1">
              <a:lnSpc>
                <a:spcPts val="2700"/>
              </a:lnSpc>
              <a:buFont typeface="Arial"/>
              <a:buChar char="•"/>
            </a:pPr>
            <a:r>
              <a:rPr lang="en-US" sz="1800">
                <a:solidFill>
                  <a:srgbClr val="000000"/>
                </a:solidFill>
                <a:latin typeface="Open Sauce"/>
                <a:ea typeface="Open Sauce"/>
                <a:cs typeface="Open Sauce"/>
                <a:sym typeface="Open Sauce"/>
              </a:rPr>
              <a:t>N</a:t>
            </a:r>
            <a:r>
              <a:rPr lang="en-US" sz="1800">
                <a:solidFill>
                  <a:srgbClr val="000000"/>
                </a:solidFill>
                <a:latin typeface="Open Sauce"/>
                <a:ea typeface="Open Sauce"/>
                <a:cs typeface="Open Sauce"/>
                <a:sym typeface="Open Sauce"/>
              </a:rPr>
              <a:t>hân viên vẫn phải đọc chat và quyết định từng bước</a:t>
            </a:r>
          </a:p>
          <a:p>
            <a:pPr algn="l">
              <a:lnSpc>
                <a:spcPts val="2700"/>
              </a:lnSpc>
            </a:pPr>
          </a:p>
          <a:p>
            <a:pPr algn="l" marL="388623" indent="-194312" lvl="1">
              <a:lnSpc>
                <a:spcPts val="2700"/>
              </a:lnSpc>
              <a:buFont typeface="Arial"/>
              <a:buChar char="•"/>
            </a:pPr>
            <a:r>
              <a:rPr lang="en-US" sz="1800">
                <a:solidFill>
                  <a:srgbClr val="000000"/>
                </a:solidFill>
                <a:latin typeface="Open Sauce"/>
                <a:ea typeface="Open Sauce"/>
                <a:cs typeface="Open Sauce"/>
                <a:sym typeface="Open Sauce"/>
              </a:rPr>
              <a:t>Check tồn, báo giá, tạo đơn, follow-up vẫn bị làm tay</a:t>
            </a:r>
          </a:p>
          <a:p>
            <a:pPr algn="l">
              <a:lnSpc>
                <a:spcPts val="2700"/>
              </a:lnSpc>
            </a:pPr>
          </a:p>
          <a:p>
            <a:pPr algn="l" marL="388623" indent="-194312" lvl="1">
              <a:lnSpc>
                <a:spcPts val="2700"/>
              </a:lnSpc>
              <a:buFont typeface="Arial"/>
              <a:buChar char="•"/>
            </a:pPr>
            <a:r>
              <a:rPr lang="en-US" sz="1800">
                <a:solidFill>
                  <a:srgbClr val="000000"/>
                </a:solidFill>
                <a:latin typeface="Open Sauce"/>
                <a:ea typeface="Open Sauce"/>
                <a:cs typeface="Open Sauce"/>
                <a:sym typeface="Open Sauce"/>
              </a:rPr>
              <a:t>Chatbot rule-based không thể hoàn tất workflow thật</a:t>
            </a:r>
          </a:p>
          <a:p>
            <a:pPr algn="l">
              <a:lnSpc>
                <a:spcPts val="2700"/>
              </a:lnSpc>
            </a:pPr>
          </a:p>
        </p:txBody>
      </p:sp>
      <p:sp>
        <p:nvSpPr>
          <p:cNvPr name="TextBox 21" id="21"/>
          <p:cNvSpPr txBox="true"/>
          <p:nvPr/>
        </p:nvSpPr>
        <p:spPr>
          <a:xfrm rot="0">
            <a:off x="1111733" y="3094853"/>
            <a:ext cx="9727577" cy="392430"/>
          </a:xfrm>
          <a:prstGeom prst="rect">
            <a:avLst/>
          </a:prstGeom>
        </p:spPr>
        <p:txBody>
          <a:bodyPr anchor="t" rtlCol="false" tIns="0" lIns="0" bIns="0" rIns="0">
            <a:spAutoFit/>
          </a:bodyPr>
          <a:lstStyle/>
          <a:p>
            <a:pPr algn="l" marL="0" indent="0" lvl="0">
              <a:lnSpc>
                <a:spcPts val="3300"/>
              </a:lnSpc>
              <a:spcBef>
                <a:spcPct val="0"/>
              </a:spcBef>
            </a:pPr>
            <a:r>
              <a:rPr lang="en-US" sz="2200" i="true">
                <a:solidFill>
                  <a:srgbClr val="000000"/>
                </a:solidFill>
                <a:latin typeface="Open Sauce Italics"/>
                <a:ea typeface="Open Sauce Italics"/>
                <a:cs typeface="Open Sauce Italics"/>
                <a:sym typeface="Open Sauce Italics"/>
              </a:rPr>
              <a:t>SMEs</a:t>
            </a:r>
            <a:r>
              <a:rPr lang="en-US" sz="2200" i="true" strike="noStrike" u="none">
                <a:solidFill>
                  <a:srgbClr val="000000"/>
                </a:solidFill>
                <a:latin typeface="Open Sauce Italics"/>
                <a:ea typeface="Open Sauce Italics"/>
                <a:cs typeface="Open Sauce Italics"/>
                <a:sym typeface="Open Sauce Italics"/>
              </a:rPr>
              <a:t> a</a:t>
            </a:r>
            <a:r>
              <a:rPr lang="en-US" sz="2200" i="true" strike="noStrike" u="none">
                <a:solidFill>
                  <a:srgbClr val="000000"/>
                </a:solidFill>
                <a:latin typeface="Open Sauce Italics"/>
                <a:ea typeface="Open Sauce Italics"/>
                <a:cs typeface="Open Sauce Italics"/>
                <a:sym typeface="Open Sauce Italics"/>
              </a:rPr>
              <a:t>l</a:t>
            </a:r>
            <a:r>
              <a:rPr lang="en-US" sz="2200" i="true" strike="noStrike" u="none">
                <a:solidFill>
                  <a:srgbClr val="000000"/>
                </a:solidFill>
                <a:latin typeface="Open Sauce Italics"/>
                <a:ea typeface="Open Sauce Italics"/>
                <a:cs typeface="Open Sauce Italics"/>
                <a:sym typeface="Open Sauce Italics"/>
              </a:rPr>
              <a:t>re</a:t>
            </a:r>
            <a:r>
              <a:rPr lang="en-US" sz="2200" i="true" strike="noStrike" u="none">
                <a:solidFill>
                  <a:srgbClr val="000000"/>
                </a:solidFill>
                <a:latin typeface="Open Sauce Italics"/>
                <a:ea typeface="Open Sauce Italics"/>
                <a:cs typeface="Open Sauce Italics"/>
                <a:sym typeface="Open Sauce Italics"/>
              </a:rPr>
              <a:t>ad</a:t>
            </a:r>
            <a:r>
              <a:rPr lang="en-US" sz="2200" i="true" strike="noStrike" u="none">
                <a:solidFill>
                  <a:srgbClr val="000000"/>
                </a:solidFill>
                <a:latin typeface="Open Sauce Italics"/>
                <a:ea typeface="Open Sauce Italics"/>
                <a:cs typeface="Open Sauce Italics"/>
                <a:sym typeface="Open Sauce Italics"/>
              </a:rPr>
              <a:t>y hav</a:t>
            </a:r>
            <a:r>
              <a:rPr lang="en-US" sz="2200" i="true" strike="noStrike" u="none">
                <a:solidFill>
                  <a:srgbClr val="000000"/>
                </a:solidFill>
                <a:latin typeface="Open Sauce Italics"/>
                <a:ea typeface="Open Sauce Italics"/>
                <a:cs typeface="Open Sauce Italics"/>
                <a:sym typeface="Open Sauce Italics"/>
              </a:rPr>
              <a:t>e</a:t>
            </a:r>
            <a:r>
              <a:rPr lang="en-US" sz="2200" i="true" strike="noStrike" u="none">
                <a:solidFill>
                  <a:srgbClr val="000000"/>
                </a:solidFill>
                <a:latin typeface="Open Sauce Italics"/>
                <a:ea typeface="Open Sauce Italics"/>
                <a:cs typeface="Open Sauce Italics"/>
                <a:sym typeface="Open Sauce Italics"/>
              </a:rPr>
              <a:t> </a:t>
            </a:r>
            <a:r>
              <a:rPr lang="en-US" sz="2200" i="true" strike="noStrike" u="none">
                <a:solidFill>
                  <a:srgbClr val="000000"/>
                </a:solidFill>
                <a:latin typeface="Open Sauce Italics"/>
                <a:ea typeface="Open Sauce Italics"/>
                <a:cs typeface="Open Sauce Italics"/>
                <a:sym typeface="Open Sauce Italics"/>
              </a:rPr>
              <a:t>t</a:t>
            </a:r>
            <a:r>
              <a:rPr lang="en-US" sz="2200" i="true" strike="noStrike" u="none">
                <a:solidFill>
                  <a:srgbClr val="000000"/>
                </a:solidFill>
                <a:latin typeface="Open Sauce Italics"/>
                <a:ea typeface="Open Sauce Italics"/>
                <a:cs typeface="Open Sauce Italics"/>
                <a:sym typeface="Open Sauce Italics"/>
              </a:rPr>
              <a:t>ools, b</a:t>
            </a:r>
            <a:r>
              <a:rPr lang="en-US" sz="2200" i="true" strike="noStrike" u="none">
                <a:solidFill>
                  <a:srgbClr val="000000"/>
                </a:solidFill>
                <a:latin typeface="Open Sauce Italics"/>
                <a:ea typeface="Open Sauce Italics"/>
                <a:cs typeface="Open Sauce Italics"/>
                <a:sym typeface="Open Sauce Italics"/>
              </a:rPr>
              <a:t>u</a:t>
            </a:r>
            <a:r>
              <a:rPr lang="en-US" sz="2200" i="true" strike="noStrike" u="none">
                <a:solidFill>
                  <a:srgbClr val="000000"/>
                </a:solidFill>
                <a:latin typeface="Open Sauce Italics"/>
                <a:ea typeface="Open Sauce Italics"/>
                <a:cs typeface="Open Sauce Italics"/>
                <a:sym typeface="Open Sauce Italics"/>
              </a:rPr>
              <a:t>t sales o</a:t>
            </a:r>
            <a:r>
              <a:rPr lang="en-US" sz="2200" i="true" strike="noStrike" u="none">
                <a:solidFill>
                  <a:srgbClr val="000000"/>
                </a:solidFill>
                <a:latin typeface="Open Sauce Italics"/>
                <a:ea typeface="Open Sauce Italics"/>
                <a:cs typeface="Open Sauce Italics"/>
                <a:sym typeface="Open Sauce Italics"/>
              </a:rPr>
              <a:t>p</a:t>
            </a:r>
            <a:r>
              <a:rPr lang="en-US" sz="2200" i="true" strike="noStrike" u="none">
                <a:solidFill>
                  <a:srgbClr val="000000"/>
                </a:solidFill>
                <a:latin typeface="Open Sauce Italics"/>
                <a:ea typeface="Open Sauce Italics"/>
                <a:cs typeface="Open Sauce Italics"/>
                <a:sym typeface="Open Sauce Italics"/>
              </a:rPr>
              <a:t>er</a:t>
            </a:r>
            <a:r>
              <a:rPr lang="en-US" sz="2200" i="true" strike="noStrike" u="none">
                <a:solidFill>
                  <a:srgbClr val="000000"/>
                </a:solidFill>
                <a:latin typeface="Open Sauce Italics"/>
                <a:ea typeface="Open Sauce Italics"/>
                <a:cs typeface="Open Sauce Italics"/>
                <a:sym typeface="Open Sauce Italics"/>
              </a:rPr>
              <a:t>a</a:t>
            </a:r>
            <a:r>
              <a:rPr lang="en-US" sz="2200" i="true" strike="noStrike" u="none">
                <a:solidFill>
                  <a:srgbClr val="000000"/>
                </a:solidFill>
                <a:latin typeface="Open Sauce Italics"/>
                <a:ea typeface="Open Sauce Italics"/>
                <a:cs typeface="Open Sauce Italics"/>
                <a:sym typeface="Open Sauce Italics"/>
              </a:rPr>
              <a:t>tio</a:t>
            </a:r>
            <a:r>
              <a:rPr lang="en-US" sz="2200" i="true" strike="noStrike" u="none">
                <a:solidFill>
                  <a:srgbClr val="000000"/>
                </a:solidFill>
                <a:latin typeface="Open Sauce Italics"/>
                <a:ea typeface="Open Sauce Italics"/>
                <a:cs typeface="Open Sauce Italics"/>
                <a:sym typeface="Open Sauce Italics"/>
              </a:rPr>
              <a:t>n</a:t>
            </a:r>
            <a:r>
              <a:rPr lang="en-US" sz="2200" i="true" strike="noStrike" u="none">
                <a:solidFill>
                  <a:srgbClr val="000000"/>
                </a:solidFill>
                <a:latin typeface="Open Sauce Italics"/>
                <a:ea typeface="Open Sauce Italics"/>
                <a:cs typeface="Open Sauce Italics"/>
                <a:sym typeface="Open Sauce Italics"/>
              </a:rPr>
              <a:t>s are </a:t>
            </a:r>
            <a:r>
              <a:rPr lang="en-US" sz="2200" i="true" strike="noStrike" u="none">
                <a:solidFill>
                  <a:srgbClr val="000000"/>
                </a:solidFill>
                <a:latin typeface="Open Sauce Italics"/>
                <a:ea typeface="Open Sauce Italics"/>
                <a:cs typeface="Open Sauce Italics"/>
                <a:sym typeface="Open Sauce Italics"/>
              </a:rPr>
              <a:t>st</a:t>
            </a:r>
            <a:r>
              <a:rPr lang="en-US" sz="2200" i="true" strike="noStrike" u="none">
                <a:solidFill>
                  <a:srgbClr val="000000"/>
                </a:solidFill>
                <a:latin typeface="Open Sauce Italics"/>
                <a:ea typeface="Open Sauce Italics"/>
                <a:cs typeface="Open Sauce Italics"/>
                <a:sym typeface="Open Sauce Italics"/>
              </a:rPr>
              <a:t>ill manual.</a:t>
            </a:r>
          </a:p>
        </p:txBody>
      </p:sp>
      <p:grpSp>
        <p:nvGrpSpPr>
          <p:cNvPr name="Group 22" id="22"/>
          <p:cNvGrpSpPr/>
          <p:nvPr/>
        </p:nvGrpSpPr>
        <p:grpSpPr>
          <a:xfrm rot="0">
            <a:off x="1589996" y="3639682"/>
            <a:ext cx="3703493" cy="1794618"/>
            <a:chOff x="0" y="0"/>
            <a:chExt cx="4937991" cy="2392824"/>
          </a:xfrm>
        </p:grpSpPr>
        <p:grpSp>
          <p:nvGrpSpPr>
            <p:cNvPr name="Group 23" id="23"/>
            <p:cNvGrpSpPr/>
            <p:nvPr/>
          </p:nvGrpSpPr>
          <p:grpSpPr>
            <a:xfrm rot="0">
              <a:off x="0" y="0"/>
              <a:ext cx="4937991" cy="2392824"/>
              <a:chOff x="0" y="0"/>
              <a:chExt cx="300162" cy="145451"/>
            </a:xfrm>
          </p:grpSpPr>
          <p:sp>
            <p:nvSpPr>
              <p:cNvPr name="Freeform 24" id="24"/>
              <p:cNvSpPr/>
              <p:nvPr/>
            </p:nvSpPr>
            <p:spPr>
              <a:xfrm flipH="false" flipV="false" rot="0">
                <a:off x="0" y="0"/>
                <a:ext cx="300162" cy="145451"/>
              </a:xfrm>
              <a:custGeom>
                <a:avLst/>
                <a:gdLst/>
                <a:ahLst/>
                <a:cxnLst/>
                <a:rect r="r" b="b" t="t" l="l"/>
                <a:pathLst>
                  <a:path h="145451" w="300162">
                    <a:moveTo>
                      <a:pt x="62713" y="0"/>
                    </a:moveTo>
                    <a:lnTo>
                      <a:pt x="237449" y="0"/>
                    </a:lnTo>
                    <a:cubicBezTo>
                      <a:pt x="254081" y="0"/>
                      <a:pt x="270033" y="6607"/>
                      <a:pt x="281794" y="18368"/>
                    </a:cubicBezTo>
                    <a:cubicBezTo>
                      <a:pt x="293555" y="30129"/>
                      <a:pt x="300162" y="46081"/>
                      <a:pt x="300162" y="62713"/>
                    </a:cubicBezTo>
                    <a:lnTo>
                      <a:pt x="300162" y="82738"/>
                    </a:lnTo>
                    <a:cubicBezTo>
                      <a:pt x="300162" y="99370"/>
                      <a:pt x="293555" y="115322"/>
                      <a:pt x="281794" y="127083"/>
                    </a:cubicBezTo>
                    <a:cubicBezTo>
                      <a:pt x="270033" y="138844"/>
                      <a:pt x="254081" y="145451"/>
                      <a:pt x="237449" y="145451"/>
                    </a:cubicBezTo>
                    <a:lnTo>
                      <a:pt x="62713" y="145451"/>
                    </a:lnTo>
                    <a:cubicBezTo>
                      <a:pt x="46081" y="145451"/>
                      <a:pt x="30129" y="138844"/>
                      <a:pt x="18368" y="127083"/>
                    </a:cubicBezTo>
                    <a:cubicBezTo>
                      <a:pt x="6607" y="115322"/>
                      <a:pt x="0" y="99370"/>
                      <a:pt x="0" y="82738"/>
                    </a:cubicBezTo>
                    <a:lnTo>
                      <a:pt x="0" y="62713"/>
                    </a:lnTo>
                    <a:cubicBezTo>
                      <a:pt x="0" y="46081"/>
                      <a:pt x="6607" y="30129"/>
                      <a:pt x="18368" y="18368"/>
                    </a:cubicBezTo>
                    <a:cubicBezTo>
                      <a:pt x="30129" y="6607"/>
                      <a:pt x="46081" y="0"/>
                      <a:pt x="62713" y="0"/>
                    </a:cubicBezTo>
                    <a:close/>
                  </a:path>
                </a:pathLst>
              </a:custGeom>
              <a:solidFill>
                <a:srgbClr val="B4B4B4"/>
              </a:solidFill>
            </p:spPr>
          </p:sp>
          <p:sp>
            <p:nvSpPr>
              <p:cNvPr name="TextBox 25" id="25"/>
              <p:cNvSpPr txBox="true"/>
              <p:nvPr/>
            </p:nvSpPr>
            <p:spPr>
              <a:xfrm>
                <a:off x="0" y="-66675"/>
                <a:ext cx="300162" cy="212126"/>
              </a:xfrm>
              <a:prstGeom prst="rect">
                <a:avLst/>
              </a:prstGeom>
            </p:spPr>
            <p:txBody>
              <a:bodyPr anchor="ctr" rtlCol="false" tIns="50800" lIns="50800" bIns="50800" rIns="50800"/>
              <a:lstStyle/>
              <a:p>
                <a:pPr algn="ctr">
                  <a:lnSpc>
                    <a:spcPts val="3150"/>
                  </a:lnSpc>
                </a:pPr>
              </a:p>
            </p:txBody>
          </p:sp>
        </p:grpSp>
        <p:sp>
          <p:nvSpPr>
            <p:cNvPr name="TextBox 26" id="26"/>
            <p:cNvSpPr txBox="true"/>
            <p:nvPr/>
          </p:nvSpPr>
          <p:spPr>
            <a:xfrm rot="0">
              <a:off x="95061" y="593058"/>
              <a:ext cx="4747869" cy="1140032"/>
            </a:xfrm>
            <a:prstGeom prst="rect">
              <a:avLst/>
            </a:prstGeom>
          </p:spPr>
          <p:txBody>
            <a:bodyPr anchor="t" rtlCol="false" tIns="0" lIns="0" bIns="0" rIns="0">
              <a:spAutoFit/>
            </a:bodyPr>
            <a:lstStyle/>
            <a:p>
              <a:pPr algn="ctr">
                <a:lnSpc>
                  <a:spcPts val="3556"/>
                </a:lnSpc>
              </a:pPr>
              <a:r>
                <a:rPr lang="en-US" sz="2370" b="true">
                  <a:solidFill>
                    <a:srgbClr val="000000"/>
                  </a:solidFill>
                  <a:latin typeface="Open Sauce Bold"/>
                  <a:ea typeface="Open Sauce Bold"/>
                  <a:cs typeface="Open Sauce Bold"/>
                  <a:sym typeface="Open Sauce Bold"/>
                </a:rPr>
                <a:t>Pancake</a:t>
              </a:r>
            </a:p>
            <a:p>
              <a:pPr algn="ctr">
                <a:lnSpc>
                  <a:spcPts val="3556"/>
                </a:lnSpc>
              </a:pPr>
              <a:r>
                <a:rPr lang="en-US" sz="2370" b="true">
                  <a:solidFill>
                    <a:srgbClr val="000000"/>
                  </a:solidFill>
                  <a:latin typeface="Open Sauce Bold"/>
                  <a:ea typeface="Open Sauce Bold"/>
                  <a:cs typeface="Open Sauce Bold"/>
                  <a:sym typeface="Open Sauce Bold"/>
                </a:rPr>
                <a:t>- </a:t>
              </a:r>
              <a:r>
                <a:rPr lang="en-US" sz="2370">
                  <a:solidFill>
                    <a:srgbClr val="000000"/>
                  </a:solidFill>
                  <a:latin typeface="Open Sauce"/>
                  <a:ea typeface="Open Sauce"/>
                  <a:cs typeface="Open Sauce"/>
                  <a:sym typeface="Open Sauce"/>
                </a:rPr>
                <a:t>Omnichannel -</a:t>
              </a:r>
            </a:p>
          </p:txBody>
        </p:sp>
      </p:grpSp>
      <p:grpSp>
        <p:nvGrpSpPr>
          <p:cNvPr name="Group 27" id="27"/>
          <p:cNvGrpSpPr/>
          <p:nvPr/>
        </p:nvGrpSpPr>
        <p:grpSpPr>
          <a:xfrm rot="0">
            <a:off x="6711950" y="3639682"/>
            <a:ext cx="3703493" cy="1794618"/>
            <a:chOff x="0" y="0"/>
            <a:chExt cx="4937991" cy="2392824"/>
          </a:xfrm>
        </p:grpSpPr>
        <p:grpSp>
          <p:nvGrpSpPr>
            <p:cNvPr name="Group 28" id="28"/>
            <p:cNvGrpSpPr/>
            <p:nvPr/>
          </p:nvGrpSpPr>
          <p:grpSpPr>
            <a:xfrm rot="0">
              <a:off x="0" y="0"/>
              <a:ext cx="4937991" cy="2392824"/>
              <a:chOff x="0" y="0"/>
              <a:chExt cx="300162" cy="145451"/>
            </a:xfrm>
          </p:grpSpPr>
          <p:sp>
            <p:nvSpPr>
              <p:cNvPr name="Freeform 29" id="29"/>
              <p:cNvSpPr/>
              <p:nvPr/>
            </p:nvSpPr>
            <p:spPr>
              <a:xfrm flipH="false" flipV="false" rot="0">
                <a:off x="0" y="0"/>
                <a:ext cx="300162" cy="145451"/>
              </a:xfrm>
              <a:custGeom>
                <a:avLst/>
                <a:gdLst/>
                <a:ahLst/>
                <a:cxnLst/>
                <a:rect r="r" b="b" t="t" l="l"/>
                <a:pathLst>
                  <a:path h="145451" w="300162">
                    <a:moveTo>
                      <a:pt x="62713" y="0"/>
                    </a:moveTo>
                    <a:lnTo>
                      <a:pt x="237449" y="0"/>
                    </a:lnTo>
                    <a:cubicBezTo>
                      <a:pt x="254081" y="0"/>
                      <a:pt x="270033" y="6607"/>
                      <a:pt x="281794" y="18368"/>
                    </a:cubicBezTo>
                    <a:cubicBezTo>
                      <a:pt x="293555" y="30129"/>
                      <a:pt x="300162" y="46081"/>
                      <a:pt x="300162" y="62713"/>
                    </a:cubicBezTo>
                    <a:lnTo>
                      <a:pt x="300162" y="82738"/>
                    </a:lnTo>
                    <a:cubicBezTo>
                      <a:pt x="300162" y="99370"/>
                      <a:pt x="293555" y="115322"/>
                      <a:pt x="281794" y="127083"/>
                    </a:cubicBezTo>
                    <a:cubicBezTo>
                      <a:pt x="270033" y="138844"/>
                      <a:pt x="254081" y="145451"/>
                      <a:pt x="237449" y="145451"/>
                    </a:cubicBezTo>
                    <a:lnTo>
                      <a:pt x="62713" y="145451"/>
                    </a:lnTo>
                    <a:cubicBezTo>
                      <a:pt x="46081" y="145451"/>
                      <a:pt x="30129" y="138844"/>
                      <a:pt x="18368" y="127083"/>
                    </a:cubicBezTo>
                    <a:cubicBezTo>
                      <a:pt x="6607" y="115322"/>
                      <a:pt x="0" y="99370"/>
                      <a:pt x="0" y="82738"/>
                    </a:cubicBezTo>
                    <a:lnTo>
                      <a:pt x="0" y="62713"/>
                    </a:lnTo>
                    <a:cubicBezTo>
                      <a:pt x="0" y="46081"/>
                      <a:pt x="6607" y="30129"/>
                      <a:pt x="18368" y="18368"/>
                    </a:cubicBezTo>
                    <a:cubicBezTo>
                      <a:pt x="30129" y="6607"/>
                      <a:pt x="46081" y="0"/>
                      <a:pt x="62713" y="0"/>
                    </a:cubicBezTo>
                    <a:close/>
                  </a:path>
                </a:pathLst>
              </a:custGeom>
              <a:solidFill>
                <a:srgbClr val="B4B4B4"/>
              </a:solidFill>
            </p:spPr>
          </p:sp>
          <p:sp>
            <p:nvSpPr>
              <p:cNvPr name="TextBox 30" id="30"/>
              <p:cNvSpPr txBox="true"/>
              <p:nvPr/>
            </p:nvSpPr>
            <p:spPr>
              <a:xfrm>
                <a:off x="0" y="-66675"/>
                <a:ext cx="300162" cy="212126"/>
              </a:xfrm>
              <a:prstGeom prst="rect">
                <a:avLst/>
              </a:prstGeom>
            </p:spPr>
            <p:txBody>
              <a:bodyPr anchor="ctr" rtlCol="false" tIns="50800" lIns="50800" bIns="50800" rIns="50800"/>
              <a:lstStyle/>
              <a:p>
                <a:pPr algn="ctr">
                  <a:lnSpc>
                    <a:spcPts val="3150"/>
                  </a:lnSpc>
                </a:pPr>
              </a:p>
            </p:txBody>
          </p:sp>
        </p:grpSp>
        <p:sp>
          <p:nvSpPr>
            <p:cNvPr name="TextBox 31" id="31"/>
            <p:cNvSpPr txBox="true"/>
            <p:nvPr/>
          </p:nvSpPr>
          <p:spPr>
            <a:xfrm rot="0">
              <a:off x="95061" y="593058"/>
              <a:ext cx="4747869" cy="1140032"/>
            </a:xfrm>
            <a:prstGeom prst="rect">
              <a:avLst/>
            </a:prstGeom>
          </p:spPr>
          <p:txBody>
            <a:bodyPr anchor="t" rtlCol="false" tIns="0" lIns="0" bIns="0" rIns="0">
              <a:spAutoFit/>
            </a:bodyPr>
            <a:lstStyle/>
            <a:p>
              <a:pPr algn="ctr">
                <a:lnSpc>
                  <a:spcPts val="3556"/>
                </a:lnSpc>
              </a:pPr>
              <a:r>
                <a:rPr lang="en-US" sz="2370" b="true">
                  <a:solidFill>
                    <a:srgbClr val="000000"/>
                  </a:solidFill>
                  <a:latin typeface="Open Sauce Bold"/>
                  <a:ea typeface="Open Sauce Bold"/>
                  <a:cs typeface="Open Sauce Bold"/>
                  <a:sym typeface="Open Sauce Bold"/>
                </a:rPr>
                <a:t>KiotViet / Sapo</a:t>
              </a:r>
            </a:p>
            <a:p>
              <a:pPr algn="ctr">
                <a:lnSpc>
                  <a:spcPts val="3556"/>
                </a:lnSpc>
              </a:pPr>
              <a:r>
                <a:rPr lang="en-US" sz="2370" b="true">
                  <a:solidFill>
                    <a:srgbClr val="000000"/>
                  </a:solidFill>
                  <a:latin typeface="Open Sauce Bold"/>
                  <a:ea typeface="Open Sauce Bold"/>
                  <a:cs typeface="Open Sauce Bold"/>
                  <a:sym typeface="Open Sauce Bold"/>
                </a:rPr>
                <a:t>- </a:t>
              </a:r>
              <a:r>
                <a:rPr lang="en-US" sz="2370">
                  <a:solidFill>
                    <a:srgbClr val="000000"/>
                  </a:solidFill>
                  <a:latin typeface="Open Sauce"/>
                  <a:ea typeface="Open Sauce"/>
                  <a:cs typeface="Open Sauce"/>
                  <a:sym typeface="Open Sauce"/>
                </a:rPr>
                <a:t>Quản lý đơn, đặt lịch -</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111733" y="4618592"/>
            <a:ext cx="8861596" cy="3412973"/>
            <a:chOff x="0" y="0"/>
            <a:chExt cx="718218" cy="276616"/>
          </a:xfrm>
        </p:grpSpPr>
        <p:sp>
          <p:nvSpPr>
            <p:cNvPr name="Freeform 3" id="3"/>
            <p:cNvSpPr/>
            <p:nvPr/>
          </p:nvSpPr>
          <p:spPr>
            <a:xfrm flipH="false" flipV="false" rot="0">
              <a:off x="0" y="0"/>
              <a:ext cx="718218" cy="276616"/>
            </a:xfrm>
            <a:custGeom>
              <a:avLst/>
              <a:gdLst/>
              <a:ahLst/>
              <a:cxnLst/>
              <a:rect r="r" b="b" t="t" l="l"/>
              <a:pathLst>
                <a:path h="276616" w="718218">
                  <a:moveTo>
                    <a:pt x="26209" y="0"/>
                  </a:moveTo>
                  <a:lnTo>
                    <a:pt x="692008" y="0"/>
                  </a:lnTo>
                  <a:cubicBezTo>
                    <a:pt x="698959" y="0"/>
                    <a:pt x="705626" y="2761"/>
                    <a:pt x="710541" y="7677"/>
                  </a:cubicBezTo>
                  <a:cubicBezTo>
                    <a:pt x="715456" y="12592"/>
                    <a:pt x="718218" y="19258"/>
                    <a:pt x="718218" y="26209"/>
                  </a:cubicBezTo>
                  <a:lnTo>
                    <a:pt x="718218" y="250406"/>
                  </a:lnTo>
                  <a:cubicBezTo>
                    <a:pt x="718218" y="257358"/>
                    <a:pt x="715456" y="264024"/>
                    <a:pt x="710541" y="268939"/>
                  </a:cubicBezTo>
                  <a:cubicBezTo>
                    <a:pt x="705626" y="273854"/>
                    <a:pt x="698959" y="276616"/>
                    <a:pt x="692008" y="276616"/>
                  </a:cubicBezTo>
                  <a:lnTo>
                    <a:pt x="26209" y="276616"/>
                  </a:lnTo>
                  <a:cubicBezTo>
                    <a:pt x="11734" y="276616"/>
                    <a:pt x="0" y="264881"/>
                    <a:pt x="0" y="250406"/>
                  </a:cubicBezTo>
                  <a:lnTo>
                    <a:pt x="0" y="26209"/>
                  </a:lnTo>
                  <a:cubicBezTo>
                    <a:pt x="0" y="11734"/>
                    <a:pt x="11734" y="0"/>
                    <a:pt x="26209" y="0"/>
                  </a:cubicBezTo>
                  <a:close/>
                </a:path>
              </a:pathLst>
            </a:custGeom>
            <a:solidFill>
              <a:srgbClr val="E57C7C"/>
            </a:solidFill>
          </p:spPr>
        </p:sp>
        <p:sp>
          <p:nvSpPr>
            <p:cNvPr name="TextBox 4" id="4"/>
            <p:cNvSpPr txBox="true"/>
            <p:nvPr/>
          </p:nvSpPr>
          <p:spPr>
            <a:xfrm>
              <a:off x="0" y="-66675"/>
              <a:ext cx="718218" cy="343291"/>
            </a:xfrm>
            <a:prstGeom prst="rect">
              <a:avLst/>
            </a:prstGeom>
          </p:spPr>
          <p:txBody>
            <a:bodyPr anchor="ctr" rtlCol="false" tIns="50800" lIns="50800" bIns="50800" rIns="50800"/>
            <a:lstStyle/>
            <a:p>
              <a:pPr algn="ctr">
                <a:lnSpc>
                  <a:spcPts val="3150"/>
                </a:lnSpc>
              </a:pPr>
            </a:p>
          </p:txBody>
        </p:sp>
      </p:grpSp>
      <p:grpSp>
        <p:nvGrpSpPr>
          <p:cNvPr name="Group 5" id="5"/>
          <p:cNvGrpSpPr/>
          <p:nvPr/>
        </p:nvGrpSpPr>
        <p:grpSpPr>
          <a:xfrm rot="0">
            <a:off x="11312706" y="733810"/>
            <a:ext cx="5681949" cy="9123868"/>
            <a:chOff x="0" y="0"/>
            <a:chExt cx="1317316" cy="2115298"/>
          </a:xfrm>
        </p:grpSpPr>
        <p:sp>
          <p:nvSpPr>
            <p:cNvPr name="Freeform 6" id="6"/>
            <p:cNvSpPr/>
            <p:nvPr/>
          </p:nvSpPr>
          <p:spPr>
            <a:xfrm flipH="false" flipV="false" rot="0">
              <a:off x="0" y="0"/>
              <a:ext cx="1317316" cy="2115298"/>
            </a:xfrm>
            <a:custGeom>
              <a:avLst/>
              <a:gdLst/>
              <a:ahLst/>
              <a:cxnLst/>
              <a:rect r="r" b="b" t="t" l="l"/>
              <a:pathLst>
                <a:path h="2115298" w="1317316">
                  <a:moveTo>
                    <a:pt x="72215" y="0"/>
                  </a:moveTo>
                  <a:lnTo>
                    <a:pt x="1245101" y="0"/>
                  </a:lnTo>
                  <a:cubicBezTo>
                    <a:pt x="1264253" y="0"/>
                    <a:pt x="1282621" y="7608"/>
                    <a:pt x="1296164" y="21151"/>
                  </a:cubicBezTo>
                  <a:cubicBezTo>
                    <a:pt x="1309707" y="34694"/>
                    <a:pt x="1317316" y="53062"/>
                    <a:pt x="1317316" y="72215"/>
                  </a:cubicBezTo>
                  <a:lnTo>
                    <a:pt x="1317316" y="2043083"/>
                  </a:lnTo>
                  <a:cubicBezTo>
                    <a:pt x="1317316" y="2062236"/>
                    <a:pt x="1309707" y="2080604"/>
                    <a:pt x="1296164" y="2094147"/>
                  </a:cubicBezTo>
                  <a:cubicBezTo>
                    <a:pt x="1282621" y="2107690"/>
                    <a:pt x="1264253" y="2115298"/>
                    <a:pt x="1245101" y="2115298"/>
                  </a:cubicBezTo>
                  <a:lnTo>
                    <a:pt x="72215" y="2115298"/>
                  </a:lnTo>
                  <a:cubicBezTo>
                    <a:pt x="53062" y="2115298"/>
                    <a:pt x="34694" y="2107690"/>
                    <a:pt x="21151" y="2094147"/>
                  </a:cubicBezTo>
                  <a:cubicBezTo>
                    <a:pt x="7608" y="2080604"/>
                    <a:pt x="0" y="2062236"/>
                    <a:pt x="0" y="2043083"/>
                  </a:cubicBezTo>
                  <a:lnTo>
                    <a:pt x="0" y="72215"/>
                  </a:lnTo>
                  <a:cubicBezTo>
                    <a:pt x="0" y="53062"/>
                    <a:pt x="7608" y="34694"/>
                    <a:pt x="21151" y="21151"/>
                  </a:cubicBezTo>
                  <a:cubicBezTo>
                    <a:pt x="34694" y="7608"/>
                    <a:pt x="53062" y="0"/>
                    <a:pt x="72215" y="0"/>
                  </a:cubicBezTo>
                  <a:close/>
                </a:path>
              </a:pathLst>
            </a:custGeom>
            <a:blipFill>
              <a:blip r:embed="rId3"/>
              <a:stretch>
                <a:fillRect l="0" t="-5727" r="0" b="-5727"/>
              </a:stretch>
            </a:blipFill>
            <a:ln w="142875" cap="rnd">
              <a:solidFill>
                <a:srgbClr val="E57C7C"/>
              </a:solidFill>
              <a:prstDash val="solid"/>
              <a:round/>
            </a:ln>
          </p:spPr>
        </p:sp>
      </p:grpSp>
      <p:sp>
        <p:nvSpPr>
          <p:cNvPr name="Freeform 7" id="7"/>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296797" y="1237072"/>
            <a:ext cx="9357451" cy="2373630"/>
          </a:xfrm>
          <a:prstGeom prst="rect">
            <a:avLst/>
          </a:prstGeom>
        </p:spPr>
        <p:txBody>
          <a:bodyPr anchor="t" rtlCol="false" tIns="0" lIns="0" bIns="0" rIns="0">
            <a:spAutoFit/>
          </a:bodyPr>
          <a:lstStyle/>
          <a:p>
            <a:pPr algn="l">
              <a:lnSpc>
                <a:spcPts val="9360"/>
              </a:lnSpc>
            </a:pPr>
            <a:r>
              <a:rPr lang="en-US" sz="8000" spc="-80" b="true">
                <a:solidFill>
                  <a:srgbClr val="000000"/>
                </a:solidFill>
                <a:latin typeface="Helvetica Now Display Bold"/>
                <a:ea typeface="Helvetica Now Display Bold"/>
                <a:cs typeface="Helvetica Now Display Bold"/>
                <a:sym typeface="Helvetica Now Display Bold"/>
              </a:rPr>
              <a:t>W</a:t>
            </a:r>
            <a:r>
              <a:rPr lang="en-US" b="true" sz="8000" spc="-80">
                <a:solidFill>
                  <a:srgbClr val="000000"/>
                </a:solidFill>
                <a:latin typeface="Helvetica Now Display Bold"/>
                <a:ea typeface="Helvetica Now Display Bold"/>
                <a:cs typeface="Helvetica Now Display Bold"/>
                <a:sym typeface="Helvetica Now Display Bold"/>
              </a:rPr>
              <a:t>hy Current Tools Are Not Enough</a:t>
            </a:r>
          </a:p>
        </p:txBody>
      </p:sp>
      <p:sp>
        <p:nvSpPr>
          <p:cNvPr name="TextBox 10" id="10"/>
          <p:cNvSpPr txBox="true"/>
          <p:nvPr/>
        </p:nvSpPr>
        <p:spPr>
          <a:xfrm rot="0">
            <a:off x="1864519" y="5248119"/>
            <a:ext cx="7437606" cy="2106295"/>
          </a:xfrm>
          <a:prstGeom prst="rect">
            <a:avLst/>
          </a:prstGeom>
        </p:spPr>
        <p:txBody>
          <a:bodyPr anchor="t" rtlCol="false" tIns="0" lIns="0" bIns="0" rIns="0">
            <a:spAutoFit/>
          </a:bodyPr>
          <a:lstStyle/>
          <a:p>
            <a:pPr algn="l" marL="431802" indent="-215901" lvl="1">
              <a:lnSpc>
                <a:spcPts val="2840"/>
              </a:lnSpc>
              <a:buFont typeface="Arial"/>
              <a:buChar char="•"/>
            </a:pPr>
            <a:r>
              <a:rPr lang="en-US" sz="2000">
                <a:solidFill>
                  <a:srgbClr val="000000"/>
                </a:solidFill>
                <a:latin typeface="Open Sauce"/>
                <a:ea typeface="Open Sauce"/>
                <a:cs typeface="Open Sauce"/>
                <a:sym typeface="Open Sauce"/>
              </a:rPr>
              <a:t>Nhân viên vẫn</a:t>
            </a:r>
            <a:r>
              <a:rPr lang="en-US" sz="2000">
                <a:solidFill>
                  <a:srgbClr val="000000"/>
                </a:solidFill>
                <a:latin typeface="Open Sauce"/>
                <a:ea typeface="Open Sauce"/>
                <a:cs typeface="Open Sauce"/>
                <a:sym typeface="Open Sauce"/>
              </a:rPr>
              <a:t> phải đọc chat và quyết định từng bước</a:t>
            </a:r>
          </a:p>
          <a:p>
            <a:pPr algn="l">
              <a:lnSpc>
                <a:spcPts val="2840"/>
              </a:lnSpc>
            </a:pPr>
          </a:p>
          <a:p>
            <a:pPr algn="l" marL="431802" indent="-215901" lvl="1">
              <a:lnSpc>
                <a:spcPts val="2840"/>
              </a:lnSpc>
              <a:buFont typeface="Arial"/>
              <a:buChar char="•"/>
            </a:pPr>
            <a:r>
              <a:rPr lang="en-US" sz="2000">
                <a:solidFill>
                  <a:srgbClr val="000000"/>
                </a:solidFill>
                <a:latin typeface="Open Sauce"/>
                <a:ea typeface="Open Sauce"/>
                <a:cs typeface="Open Sauce"/>
                <a:sym typeface="Open Sauce"/>
              </a:rPr>
              <a:t>Check tồn, báo giá, tạo đơn, follow-up vẫn bị làm tay</a:t>
            </a:r>
          </a:p>
          <a:p>
            <a:pPr algn="l">
              <a:lnSpc>
                <a:spcPts val="2840"/>
              </a:lnSpc>
            </a:pPr>
          </a:p>
          <a:p>
            <a:pPr algn="l" marL="431802" indent="-215901" lvl="1">
              <a:lnSpc>
                <a:spcPts val="2840"/>
              </a:lnSpc>
              <a:buFont typeface="Arial"/>
              <a:buChar char="•"/>
            </a:pPr>
            <a:r>
              <a:rPr lang="en-US" sz="2000">
                <a:solidFill>
                  <a:srgbClr val="000000"/>
                </a:solidFill>
                <a:latin typeface="Open Sauce"/>
                <a:ea typeface="Open Sauce"/>
                <a:cs typeface="Open Sauce"/>
                <a:sym typeface="Open Sauce"/>
              </a:rPr>
              <a:t>Chatbot rule-based không thể hoàn tất workflow thật</a:t>
            </a:r>
          </a:p>
          <a:p>
            <a:pPr algn="l">
              <a:lnSpc>
                <a:spcPts val="2840"/>
              </a:lnSpc>
            </a:pPr>
          </a:p>
        </p:txBody>
      </p:sp>
      <p:sp>
        <p:nvSpPr>
          <p:cNvPr name="TextBox 11" id="11"/>
          <p:cNvSpPr txBox="true"/>
          <p:nvPr/>
        </p:nvSpPr>
        <p:spPr>
          <a:xfrm rot="0">
            <a:off x="1111733" y="3760251"/>
            <a:ext cx="9727577" cy="407670"/>
          </a:xfrm>
          <a:prstGeom prst="rect">
            <a:avLst/>
          </a:prstGeom>
        </p:spPr>
        <p:txBody>
          <a:bodyPr anchor="t" rtlCol="false" tIns="0" lIns="0" bIns="0" rIns="0">
            <a:spAutoFit/>
          </a:bodyPr>
          <a:lstStyle/>
          <a:p>
            <a:pPr algn="l" marL="0" indent="0" lvl="0">
              <a:lnSpc>
                <a:spcPts val="3450"/>
              </a:lnSpc>
              <a:spcBef>
                <a:spcPct val="0"/>
              </a:spcBef>
            </a:pPr>
            <a:r>
              <a:rPr lang="en-US" sz="2300" i="true">
                <a:solidFill>
                  <a:srgbClr val="000000"/>
                </a:solidFill>
                <a:latin typeface="Open Sauce Italics"/>
                <a:ea typeface="Open Sauce Italics"/>
                <a:cs typeface="Open Sauce Italics"/>
                <a:sym typeface="Open Sauce Italics"/>
              </a:rPr>
              <a:t>SMEs</a:t>
            </a:r>
            <a:r>
              <a:rPr lang="en-US" sz="2300" i="true" strike="noStrike" u="none">
                <a:solidFill>
                  <a:srgbClr val="000000"/>
                </a:solidFill>
                <a:latin typeface="Open Sauce Italics"/>
                <a:ea typeface="Open Sauce Italics"/>
                <a:cs typeface="Open Sauce Italics"/>
                <a:sym typeface="Open Sauce Italics"/>
              </a:rPr>
              <a:t> a</a:t>
            </a:r>
            <a:r>
              <a:rPr lang="en-US" sz="2300" i="true" strike="noStrike" u="none">
                <a:solidFill>
                  <a:srgbClr val="000000"/>
                </a:solidFill>
                <a:latin typeface="Open Sauce Italics"/>
                <a:ea typeface="Open Sauce Italics"/>
                <a:cs typeface="Open Sauce Italics"/>
                <a:sym typeface="Open Sauce Italics"/>
              </a:rPr>
              <a:t>l</a:t>
            </a:r>
            <a:r>
              <a:rPr lang="en-US" sz="2300" i="true" strike="noStrike" u="none">
                <a:solidFill>
                  <a:srgbClr val="000000"/>
                </a:solidFill>
                <a:latin typeface="Open Sauce Italics"/>
                <a:ea typeface="Open Sauce Italics"/>
                <a:cs typeface="Open Sauce Italics"/>
                <a:sym typeface="Open Sauce Italics"/>
              </a:rPr>
              <a:t>re</a:t>
            </a:r>
            <a:r>
              <a:rPr lang="en-US" sz="2300" i="true" strike="noStrike" u="none">
                <a:solidFill>
                  <a:srgbClr val="000000"/>
                </a:solidFill>
                <a:latin typeface="Open Sauce Italics"/>
                <a:ea typeface="Open Sauce Italics"/>
                <a:cs typeface="Open Sauce Italics"/>
                <a:sym typeface="Open Sauce Italics"/>
              </a:rPr>
              <a:t>ad</a:t>
            </a:r>
            <a:r>
              <a:rPr lang="en-US" sz="2300" i="true" strike="noStrike" u="none">
                <a:solidFill>
                  <a:srgbClr val="000000"/>
                </a:solidFill>
                <a:latin typeface="Open Sauce Italics"/>
                <a:ea typeface="Open Sauce Italics"/>
                <a:cs typeface="Open Sauce Italics"/>
                <a:sym typeface="Open Sauce Italics"/>
              </a:rPr>
              <a:t>y hav</a:t>
            </a:r>
            <a:r>
              <a:rPr lang="en-US" sz="2300" i="true" strike="noStrike" u="none">
                <a:solidFill>
                  <a:srgbClr val="000000"/>
                </a:solidFill>
                <a:latin typeface="Open Sauce Italics"/>
                <a:ea typeface="Open Sauce Italics"/>
                <a:cs typeface="Open Sauce Italics"/>
                <a:sym typeface="Open Sauce Italics"/>
              </a:rPr>
              <a:t>e</a:t>
            </a:r>
            <a:r>
              <a:rPr lang="en-US" sz="2300" i="true" strike="noStrike" u="none">
                <a:solidFill>
                  <a:srgbClr val="000000"/>
                </a:solidFill>
                <a:latin typeface="Open Sauce Italics"/>
                <a:ea typeface="Open Sauce Italics"/>
                <a:cs typeface="Open Sauce Italics"/>
                <a:sym typeface="Open Sauce Italics"/>
              </a:rPr>
              <a:t> </a:t>
            </a:r>
            <a:r>
              <a:rPr lang="en-US" sz="2300" i="true" strike="noStrike" u="none">
                <a:solidFill>
                  <a:srgbClr val="000000"/>
                </a:solidFill>
                <a:latin typeface="Open Sauce Italics"/>
                <a:ea typeface="Open Sauce Italics"/>
                <a:cs typeface="Open Sauce Italics"/>
                <a:sym typeface="Open Sauce Italics"/>
              </a:rPr>
              <a:t>t</a:t>
            </a:r>
            <a:r>
              <a:rPr lang="en-US" sz="2300" i="true" strike="noStrike" u="none">
                <a:solidFill>
                  <a:srgbClr val="000000"/>
                </a:solidFill>
                <a:latin typeface="Open Sauce Italics"/>
                <a:ea typeface="Open Sauce Italics"/>
                <a:cs typeface="Open Sauce Italics"/>
                <a:sym typeface="Open Sauce Italics"/>
              </a:rPr>
              <a:t>ools, b</a:t>
            </a:r>
            <a:r>
              <a:rPr lang="en-US" sz="2300" i="true" strike="noStrike" u="none">
                <a:solidFill>
                  <a:srgbClr val="000000"/>
                </a:solidFill>
                <a:latin typeface="Open Sauce Italics"/>
                <a:ea typeface="Open Sauce Italics"/>
                <a:cs typeface="Open Sauce Italics"/>
                <a:sym typeface="Open Sauce Italics"/>
              </a:rPr>
              <a:t>u</a:t>
            </a:r>
            <a:r>
              <a:rPr lang="en-US" sz="2300" i="true" strike="noStrike" u="none">
                <a:solidFill>
                  <a:srgbClr val="000000"/>
                </a:solidFill>
                <a:latin typeface="Open Sauce Italics"/>
                <a:ea typeface="Open Sauce Italics"/>
                <a:cs typeface="Open Sauce Italics"/>
                <a:sym typeface="Open Sauce Italics"/>
              </a:rPr>
              <a:t>t sales o</a:t>
            </a:r>
            <a:r>
              <a:rPr lang="en-US" sz="2300" i="true" strike="noStrike" u="none">
                <a:solidFill>
                  <a:srgbClr val="000000"/>
                </a:solidFill>
                <a:latin typeface="Open Sauce Italics"/>
                <a:ea typeface="Open Sauce Italics"/>
                <a:cs typeface="Open Sauce Italics"/>
                <a:sym typeface="Open Sauce Italics"/>
              </a:rPr>
              <a:t>p</a:t>
            </a:r>
            <a:r>
              <a:rPr lang="en-US" sz="2300" i="true" strike="noStrike" u="none">
                <a:solidFill>
                  <a:srgbClr val="000000"/>
                </a:solidFill>
                <a:latin typeface="Open Sauce Italics"/>
                <a:ea typeface="Open Sauce Italics"/>
                <a:cs typeface="Open Sauce Italics"/>
                <a:sym typeface="Open Sauce Italics"/>
              </a:rPr>
              <a:t>er</a:t>
            </a:r>
            <a:r>
              <a:rPr lang="en-US" sz="2300" i="true" strike="noStrike" u="none">
                <a:solidFill>
                  <a:srgbClr val="000000"/>
                </a:solidFill>
                <a:latin typeface="Open Sauce Italics"/>
                <a:ea typeface="Open Sauce Italics"/>
                <a:cs typeface="Open Sauce Italics"/>
                <a:sym typeface="Open Sauce Italics"/>
              </a:rPr>
              <a:t>a</a:t>
            </a:r>
            <a:r>
              <a:rPr lang="en-US" sz="2300" i="true" strike="noStrike" u="none">
                <a:solidFill>
                  <a:srgbClr val="000000"/>
                </a:solidFill>
                <a:latin typeface="Open Sauce Italics"/>
                <a:ea typeface="Open Sauce Italics"/>
                <a:cs typeface="Open Sauce Italics"/>
                <a:sym typeface="Open Sauce Italics"/>
              </a:rPr>
              <a:t>tio</a:t>
            </a:r>
            <a:r>
              <a:rPr lang="en-US" sz="2300" i="true" strike="noStrike" u="none">
                <a:solidFill>
                  <a:srgbClr val="000000"/>
                </a:solidFill>
                <a:latin typeface="Open Sauce Italics"/>
                <a:ea typeface="Open Sauce Italics"/>
                <a:cs typeface="Open Sauce Italics"/>
                <a:sym typeface="Open Sauce Italics"/>
              </a:rPr>
              <a:t>n</a:t>
            </a:r>
            <a:r>
              <a:rPr lang="en-US" sz="2300" i="true" strike="noStrike" u="none">
                <a:solidFill>
                  <a:srgbClr val="000000"/>
                </a:solidFill>
                <a:latin typeface="Open Sauce Italics"/>
                <a:ea typeface="Open Sauce Italics"/>
                <a:cs typeface="Open Sauce Italics"/>
                <a:sym typeface="Open Sauce Italics"/>
              </a:rPr>
              <a:t>s are </a:t>
            </a:r>
            <a:r>
              <a:rPr lang="en-US" sz="2300" i="true" strike="noStrike" u="none">
                <a:solidFill>
                  <a:srgbClr val="000000"/>
                </a:solidFill>
                <a:latin typeface="Open Sauce Italics"/>
                <a:ea typeface="Open Sauce Italics"/>
                <a:cs typeface="Open Sauce Italics"/>
                <a:sym typeface="Open Sauce Italics"/>
              </a:rPr>
              <a:t>st</a:t>
            </a:r>
            <a:r>
              <a:rPr lang="en-US" sz="2300" i="true" strike="noStrike" u="none">
                <a:solidFill>
                  <a:srgbClr val="000000"/>
                </a:solidFill>
                <a:latin typeface="Open Sauce Italics"/>
                <a:ea typeface="Open Sauce Italics"/>
                <a:cs typeface="Open Sauce Italics"/>
                <a:sym typeface="Open Sauce Italics"/>
              </a:rPr>
              <a:t>ill manual.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054122" y="1028700"/>
            <a:ext cx="4112762" cy="486186"/>
            <a:chOff x="0" y="0"/>
            <a:chExt cx="5483683" cy="648248"/>
          </a:xfrm>
        </p:grpSpPr>
        <p:grpSp>
          <p:nvGrpSpPr>
            <p:cNvPr name="Group 3" id="3"/>
            <p:cNvGrpSpPr/>
            <p:nvPr/>
          </p:nvGrpSpPr>
          <p:grpSpPr>
            <a:xfrm rot="0">
              <a:off x="0" y="0"/>
              <a:ext cx="675833" cy="648248"/>
              <a:chOff x="0" y="0"/>
              <a:chExt cx="622300" cy="596900"/>
            </a:xfrm>
          </p:grpSpPr>
          <p:sp>
            <p:nvSpPr>
              <p:cNvPr name="Freeform 4" id="4"/>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5" id="5"/>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6" id="6"/>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grpSp>
        <p:nvGrpSpPr>
          <p:cNvPr name="Group 7" id="7"/>
          <p:cNvGrpSpPr/>
          <p:nvPr/>
        </p:nvGrpSpPr>
        <p:grpSpPr>
          <a:xfrm rot="0">
            <a:off x="6344278" y="183731"/>
            <a:ext cx="5599445" cy="9734193"/>
            <a:chOff x="0" y="0"/>
            <a:chExt cx="1298188" cy="2256797"/>
          </a:xfrm>
        </p:grpSpPr>
        <p:sp>
          <p:nvSpPr>
            <p:cNvPr name="Freeform 8" id="8"/>
            <p:cNvSpPr/>
            <p:nvPr/>
          </p:nvSpPr>
          <p:spPr>
            <a:xfrm flipH="false" flipV="false" rot="0">
              <a:off x="0" y="0"/>
              <a:ext cx="1298188" cy="2256797"/>
            </a:xfrm>
            <a:custGeom>
              <a:avLst/>
              <a:gdLst/>
              <a:ahLst/>
              <a:cxnLst/>
              <a:rect r="r" b="b" t="t" l="l"/>
              <a:pathLst>
                <a:path h="2256797" w="1298188">
                  <a:moveTo>
                    <a:pt x="91253" y="0"/>
                  </a:moveTo>
                  <a:lnTo>
                    <a:pt x="1206935" y="0"/>
                  </a:lnTo>
                  <a:cubicBezTo>
                    <a:pt x="1231136" y="0"/>
                    <a:pt x="1254347" y="9614"/>
                    <a:pt x="1271460" y="26727"/>
                  </a:cubicBezTo>
                  <a:cubicBezTo>
                    <a:pt x="1288574" y="43841"/>
                    <a:pt x="1298188" y="67051"/>
                    <a:pt x="1298188" y="91253"/>
                  </a:cubicBezTo>
                  <a:lnTo>
                    <a:pt x="1298188" y="2165544"/>
                  </a:lnTo>
                  <a:cubicBezTo>
                    <a:pt x="1298188" y="2215941"/>
                    <a:pt x="1257332" y="2256797"/>
                    <a:pt x="1206935" y="2256797"/>
                  </a:cubicBezTo>
                  <a:lnTo>
                    <a:pt x="91253" y="2256797"/>
                  </a:lnTo>
                  <a:cubicBezTo>
                    <a:pt x="67051" y="2256797"/>
                    <a:pt x="43841" y="2247183"/>
                    <a:pt x="26727" y="2230069"/>
                  </a:cubicBezTo>
                  <a:cubicBezTo>
                    <a:pt x="9614" y="2212956"/>
                    <a:pt x="0" y="2189746"/>
                    <a:pt x="0" y="2165544"/>
                  </a:cubicBezTo>
                  <a:lnTo>
                    <a:pt x="0" y="91253"/>
                  </a:lnTo>
                  <a:cubicBezTo>
                    <a:pt x="0" y="67051"/>
                    <a:pt x="9614" y="43841"/>
                    <a:pt x="26727" y="26727"/>
                  </a:cubicBezTo>
                  <a:cubicBezTo>
                    <a:pt x="43841" y="9614"/>
                    <a:pt x="67051" y="0"/>
                    <a:pt x="91253" y="0"/>
                  </a:cubicBezTo>
                  <a:close/>
                </a:path>
              </a:pathLst>
            </a:custGeom>
            <a:blipFill>
              <a:blip r:embed="rId3"/>
              <a:stretch>
                <a:fillRect l="0" t="-1475" r="0" b="-1475"/>
              </a:stretch>
            </a:blipFill>
            <a:ln w="142875" cap="rnd">
              <a:solidFill>
                <a:srgbClr val="E57C7C"/>
              </a:solidFill>
              <a:prstDash val="solid"/>
              <a:round/>
            </a:ln>
          </p:spPr>
        </p:sp>
      </p:grpSp>
      <p:grpSp>
        <p:nvGrpSpPr>
          <p:cNvPr name="Group 9" id="9"/>
          <p:cNvGrpSpPr/>
          <p:nvPr/>
        </p:nvGrpSpPr>
        <p:grpSpPr>
          <a:xfrm rot="0">
            <a:off x="12337900" y="2171520"/>
            <a:ext cx="4921400" cy="3412973"/>
            <a:chOff x="0" y="0"/>
            <a:chExt cx="398871" cy="276616"/>
          </a:xfrm>
        </p:grpSpPr>
        <p:sp>
          <p:nvSpPr>
            <p:cNvPr name="Freeform 10" id="10"/>
            <p:cNvSpPr/>
            <p:nvPr/>
          </p:nvSpPr>
          <p:spPr>
            <a:xfrm flipH="false" flipV="false" rot="0">
              <a:off x="0" y="0"/>
              <a:ext cx="398871" cy="276616"/>
            </a:xfrm>
            <a:custGeom>
              <a:avLst/>
              <a:gdLst/>
              <a:ahLst/>
              <a:cxnLst/>
              <a:rect r="r" b="b" t="t" l="l"/>
              <a:pathLst>
                <a:path h="276616" w="398871">
                  <a:moveTo>
                    <a:pt x="47193" y="0"/>
                  </a:moveTo>
                  <a:lnTo>
                    <a:pt x="351678" y="0"/>
                  </a:lnTo>
                  <a:cubicBezTo>
                    <a:pt x="364194" y="0"/>
                    <a:pt x="376198" y="4972"/>
                    <a:pt x="385049" y="13823"/>
                  </a:cubicBezTo>
                  <a:cubicBezTo>
                    <a:pt x="393899" y="22673"/>
                    <a:pt x="398871" y="34677"/>
                    <a:pt x="398871" y="47193"/>
                  </a:cubicBezTo>
                  <a:lnTo>
                    <a:pt x="398871" y="229422"/>
                  </a:lnTo>
                  <a:cubicBezTo>
                    <a:pt x="398871" y="241939"/>
                    <a:pt x="393899" y="253943"/>
                    <a:pt x="385049" y="262793"/>
                  </a:cubicBezTo>
                  <a:cubicBezTo>
                    <a:pt x="376198" y="271644"/>
                    <a:pt x="364194" y="276616"/>
                    <a:pt x="351678" y="276616"/>
                  </a:cubicBezTo>
                  <a:lnTo>
                    <a:pt x="47193" y="276616"/>
                  </a:lnTo>
                  <a:cubicBezTo>
                    <a:pt x="34677" y="276616"/>
                    <a:pt x="22673" y="271644"/>
                    <a:pt x="13823" y="262793"/>
                  </a:cubicBezTo>
                  <a:cubicBezTo>
                    <a:pt x="4972" y="253943"/>
                    <a:pt x="0" y="241939"/>
                    <a:pt x="0" y="229422"/>
                  </a:cubicBezTo>
                  <a:lnTo>
                    <a:pt x="0" y="47193"/>
                  </a:lnTo>
                  <a:cubicBezTo>
                    <a:pt x="0" y="34677"/>
                    <a:pt x="4972" y="22673"/>
                    <a:pt x="13823" y="13823"/>
                  </a:cubicBezTo>
                  <a:cubicBezTo>
                    <a:pt x="22673" y="4972"/>
                    <a:pt x="34677" y="0"/>
                    <a:pt x="47193" y="0"/>
                  </a:cubicBezTo>
                  <a:close/>
                </a:path>
              </a:pathLst>
            </a:custGeom>
            <a:solidFill>
              <a:srgbClr val="E57C7C"/>
            </a:solidFill>
          </p:spPr>
        </p:sp>
        <p:sp>
          <p:nvSpPr>
            <p:cNvPr name="TextBox 11" id="11"/>
            <p:cNvSpPr txBox="true"/>
            <p:nvPr/>
          </p:nvSpPr>
          <p:spPr>
            <a:xfrm>
              <a:off x="0" y="-66675"/>
              <a:ext cx="398871" cy="343291"/>
            </a:xfrm>
            <a:prstGeom prst="rect">
              <a:avLst/>
            </a:prstGeom>
          </p:spPr>
          <p:txBody>
            <a:bodyPr anchor="ctr" rtlCol="false" tIns="50800" lIns="50800" bIns="50800" rIns="50800"/>
            <a:lstStyle/>
            <a:p>
              <a:pPr algn="ctr">
                <a:lnSpc>
                  <a:spcPts val="3150"/>
                </a:lnSpc>
              </a:pPr>
            </a:p>
          </p:txBody>
        </p:sp>
      </p:grpSp>
      <p:grpSp>
        <p:nvGrpSpPr>
          <p:cNvPr name="Group 12" id="12"/>
          <p:cNvGrpSpPr/>
          <p:nvPr/>
        </p:nvGrpSpPr>
        <p:grpSpPr>
          <a:xfrm rot="0">
            <a:off x="12337900" y="5799607"/>
            <a:ext cx="4921400" cy="3412973"/>
            <a:chOff x="0" y="0"/>
            <a:chExt cx="398871" cy="276616"/>
          </a:xfrm>
        </p:grpSpPr>
        <p:sp>
          <p:nvSpPr>
            <p:cNvPr name="Freeform 13" id="13"/>
            <p:cNvSpPr/>
            <p:nvPr/>
          </p:nvSpPr>
          <p:spPr>
            <a:xfrm flipH="false" flipV="false" rot="0">
              <a:off x="0" y="0"/>
              <a:ext cx="398871" cy="276616"/>
            </a:xfrm>
            <a:custGeom>
              <a:avLst/>
              <a:gdLst/>
              <a:ahLst/>
              <a:cxnLst/>
              <a:rect r="r" b="b" t="t" l="l"/>
              <a:pathLst>
                <a:path h="276616" w="398871">
                  <a:moveTo>
                    <a:pt x="47193" y="0"/>
                  </a:moveTo>
                  <a:lnTo>
                    <a:pt x="351678" y="0"/>
                  </a:lnTo>
                  <a:cubicBezTo>
                    <a:pt x="364194" y="0"/>
                    <a:pt x="376198" y="4972"/>
                    <a:pt x="385049" y="13823"/>
                  </a:cubicBezTo>
                  <a:cubicBezTo>
                    <a:pt x="393899" y="22673"/>
                    <a:pt x="398871" y="34677"/>
                    <a:pt x="398871" y="47193"/>
                  </a:cubicBezTo>
                  <a:lnTo>
                    <a:pt x="398871" y="229422"/>
                  </a:lnTo>
                  <a:cubicBezTo>
                    <a:pt x="398871" y="241939"/>
                    <a:pt x="393899" y="253943"/>
                    <a:pt x="385049" y="262793"/>
                  </a:cubicBezTo>
                  <a:cubicBezTo>
                    <a:pt x="376198" y="271644"/>
                    <a:pt x="364194" y="276616"/>
                    <a:pt x="351678" y="276616"/>
                  </a:cubicBezTo>
                  <a:lnTo>
                    <a:pt x="47193" y="276616"/>
                  </a:lnTo>
                  <a:cubicBezTo>
                    <a:pt x="34677" y="276616"/>
                    <a:pt x="22673" y="271644"/>
                    <a:pt x="13823" y="262793"/>
                  </a:cubicBezTo>
                  <a:cubicBezTo>
                    <a:pt x="4972" y="253943"/>
                    <a:pt x="0" y="241939"/>
                    <a:pt x="0" y="229422"/>
                  </a:cubicBezTo>
                  <a:lnTo>
                    <a:pt x="0" y="47193"/>
                  </a:lnTo>
                  <a:cubicBezTo>
                    <a:pt x="0" y="34677"/>
                    <a:pt x="4972" y="22673"/>
                    <a:pt x="13823" y="13823"/>
                  </a:cubicBezTo>
                  <a:cubicBezTo>
                    <a:pt x="22673" y="4972"/>
                    <a:pt x="34677" y="0"/>
                    <a:pt x="47193" y="0"/>
                  </a:cubicBezTo>
                  <a:close/>
                </a:path>
              </a:pathLst>
            </a:custGeom>
            <a:solidFill>
              <a:srgbClr val="E57C7C"/>
            </a:solidFill>
          </p:spPr>
        </p:sp>
        <p:sp>
          <p:nvSpPr>
            <p:cNvPr name="TextBox 14" id="14"/>
            <p:cNvSpPr txBox="true"/>
            <p:nvPr/>
          </p:nvSpPr>
          <p:spPr>
            <a:xfrm>
              <a:off x="0" y="-66675"/>
              <a:ext cx="398871" cy="343291"/>
            </a:xfrm>
            <a:prstGeom prst="rect">
              <a:avLst/>
            </a:prstGeom>
          </p:spPr>
          <p:txBody>
            <a:bodyPr anchor="ctr" rtlCol="false" tIns="50800" lIns="50800" bIns="50800" rIns="50800"/>
            <a:lstStyle/>
            <a:p>
              <a:pPr algn="ctr">
                <a:lnSpc>
                  <a:spcPts val="3150"/>
                </a:lnSpc>
              </a:pPr>
            </a:p>
          </p:txBody>
        </p:sp>
      </p:grpSp>
      <p:sp>
        <p:nvSpPr>
          <p:cNvPr name="Freeform 15" id="15"/>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1079544" y="2621570"/>
            <a:ext cx="4874209" cy="2373630"/>
          </a:xfrm>
          <a:prstGeom prst="rect">
            <a:avLst/>
          </a:prstGeom>
        </p:spPr>
        <p:txBody>
          <a:bodyPr anchor="t" rtlCol="false" tIns="0" lIns="0" bIns="0" rIns="0">
            <a:spAutoFit/>
          </a:bodyPr>
          <a:lstStyle/>
          <a:p>
            <a:pPr algn="l">
              <a:lnSpc>
                <a:spcPts val="9360"/>
              </a:lnSpc>
            </a:pPr>
            <a:r>
              <a:rPr lang="en-US" sz="8000" spc="-80" b="true">
                <a:solidFill>
                  <a:srgbClr val="000000"/>
                </a:solidFill>
                <a:latin typeface="Helvetica Now Display Bold"/>
                <a:ea typeface="Helvetica Now Display Bold"/>
                <a:cs typeface="Helvetica Now Display Bold"/>
                <a:sym typeface="Helvetica Now Display Bold"/>
              </a:rPr>
              <a:t>T</a:t>
            </a:r>
            <a:r>
              <a:rPr lang="en-US" b="true" sz="8000" spc="-80">
                <a:solidFill>
                  <a:srgbClr val="000000"/>
                </a:solidFill>
                <a:latin typeface="Helvetica Now Display Bold"/>
                <a:ea typeface="Helvetica Now Display Bold"/>
                <a:cs typeface="Helvetica Now Display Bold"/>
                <a:sym typeface="Helvetica Now Display Bold"/>
              </a:rPr>
              <a:t>he Solution</a:t>
            </a:r>
          </a:p>
        </p:txBody>
      </p:sp>
      <p:sp>
        <p:nvSpPr>
          <p:cNvPr name="TextBox 18" id="18"/>
          <p:cNvSpPr txBox="true"/>
          <p:nvPr/>
        </p:nvSpPr>
        <p:spPr>
          <a:xfrm rot="0">
            <a:off x="12675254" y="2650287"/>
            <a:ext cx="4246693" cy="351790"/>
          </a:xfrm>
          <a:prstGeom prst="rect">
            <a:avLst/>
          </a:prstGeom>
        </p:spPr>
        <p:txBody>
          <a:bodyPr anchor="t" rtlCol="false" tIns="0" lIns="0" bIns="0" rIns="0">
            <a:spAutoFit/>
          </a:bodyPr>
          <a:lstStyle/>
          <a:p>
            <a:pPr algn="l">
              <a:lnSpc>
                <a:spcPts val="2990"/>
              </a:lnSpc>
            </a:pPr>
            <a:r>
              <a:rPr lang="en-US" sz="2300" b="true">
                <a:solidFill>
                  <a:srgbClr val="000000"/>
                </a:solidFill>
                <a:latin typeface="Open Sauce Bold"/>
                <a:ea typeface="Open Sauce Bold"/>
                <a:cs typeface="Open Sauce Bold"/>
                <a:sym typeface="Open Sauce Bold"/>
              </a:rPr>
              <a:t>AI-p</a:t>
            </a:r>
            <a:r>
              <a:rPr lang="en-US" b="true" sz="2300">
                <a:solidFill>
                  <a:srgbClr val="000000"/>
                </a:solidFill>
                <a:latin typeface="Open Sauce Bold"/>
                <a:ea typeface="Open Sauce Bold"/>
                <a:cs typeface="Open Sauce Bold"/>
                <a:sym typeface="Open Sauce Bold"/>
              </a:rPr>
              <a:t>owered conversation</a:t>
            </a:r>
          </a:p>
        </p:txBody>
      </p:sp>
      <p:sp>
        <p:nvSpPr>
          <p:cNvPr name="TextBox 19" id="19"/>
          <p:cNvSpPr txBox="true"/>
          <p:nvPr/>
        </p:nvSpPr>
        <p:spPr>
          <a:xfrm rot="0">
            <a:off x="12675254" y="6278374"/>
            <a:ext cx="4246693" cy="351790"/>
          </a:xfrm>
          <a:prstGeom prst="rect">
            <a:avLst/>
          </a:prstGeom>
        </p:spPr>
        <p:txBody>
          <a:bodyPr anchor="t" rtlCol="false" tIns="0" lIns="0" bIns="0" rIns="0">
            <a:spAutoFit/>
          </a:bodyPr>
          <a:lstStyle/>
          <a:p>
            <a:pPr algn="l">
              <a:lnSpc>
                <a:spcPts val="2990"/>
              </a:lnSpc>
            </a:pPr>
            <a:r>
              <a:rPr lang="en-US" sz="2300" b="true">
                <a:solidFill>
                  <a:srgbClr val="000000"/>
                </a:solidFill>
                <a:latin typeface="Open Sauce Bold"/>
                <a:ea typeface="Open Sauce Bold"/>
                <a:cs typeface="Open Sauce Bold"/>
                <a:sym typeface="Open Sauce Bold"/>
              </a:rPr>
              <a:t>End-t</a:t>
            </a:r>
            <a:r>
              <a:rPr lang="en-US" b="true" sz="2300">
                <a:solidFill>
                  <a:srgbClr val="000000"/>
                </a:solidFill>
                <a:latin typeface="Open Sauce Bold"/>
                <a:ea typeface="Open Sauce Bold"/>
                <a:cs typeface="Open Sauce Bold"/>
                <a:sym typeface="Open Sauce Bold"/>
              </a:rPr>
              <a:t>o-end automation</a:t>
            </a:r>
          </a:p>
        </p:txBody>
      </p:sp>
      <p:sp>
        <p:nvSpPr>
          <p:cNvPr name="TextBox 20" id="20"/>
          <p:cNvSpPr txBox="true"/>
          <p:nvPr/>
        </p:nvSpPr>
        <p:spPr>
          <a:xfrm rot="0">
            <a:off x="12675254" y="3492203"/>
            <a:ext cx="4246693" cy="674369"/>
          </a:xfrm>
          <a:prstGeom prst="rect">
            <a:avLst/>
          </a:prstGeom>
        </p:spPr>
        <p:txBody>
          <a:bodyPr anchor="t" rtlCol="false" tIns="0" lIns="0" bIns="0" rIns="0">
            <a:spAutoFit/>
          </a:bodyPr>
          <a:lstStyle/>
          <a:p>
            <a:pPr algn="l">
              <a:lnSpc>
                <a:spcPts val="2700"/>
              </a:lnSpc>
            </a:pPr>
            <a:r>
              <a:rPr lang="en-US" sz="1800">
                <a:solidFill>
                  <a:srgbClr val="000000"/>
                </a:solidFill>
                <a:latin typeface="Open Sauce"/>
                <a:ea typeface="Open Sauce"/>
                <a:cs typeface="Open Sauce"/>
                <a:sym typeface="Open Sauce"/>
              </a:rPr>
              <a:t>Hiể</a:t>
            </a:r>
            <a:r>
              <a:rPr lang="en-US" sz="1800">
                <a:solidFill>
                  <a:srgbClr val="000000"/>
                </a:solidFill>
                <a:latin typeface="Open Sauce"/>
                <a:ea typeface="Open Sauce"/>
                <a:cs typeface="Open Sauce"/>
                <a:sym typeface="Open Sauce"/>
              </a:rPr>
              <a:t>u ngữ cảnh tiếng Việt, luôn có thể </a:t>
            </a:r>
          </a:p>
          <a:p>
            <a:pPr algn="l">
              <a:lnSpc>
                <a:spcPts val="2700"/>
              </a:lnSpc>
            </a:pPr>
            <a:r>
              <a:rPr lang="en-US" sz="1800">
                <a:solidFill>
                  <a:srgbClr val="000000"/>
                </a:solidFill>
                <a:latin typeface="Open Sauce"/>
                <a:ea typeface="Open Sauce"/>
                <a:cs typeface="Open Sauce"/>
                <a:sym typeface="Open Sauce"/>
              </a:rPr>
              <a:t>trả lời 24 / 7.</a:t>
            </a:r>
          </a:p>
        </p:txBody>
      </p:sp>
      <p:sp>
        <p:nvSpPr>
          <p:cNvPr name="TextBox 21" id="21"/>
          <p:cNvSpPr txBox="true"/>
          <p:nvPr/>
        </p:nvSpPr>
        <p:spPr>
          <a:xfrm rot="0">
            <a:off x="12571455" y="6673676"/>
            <a:ext cx="4246693" cy="2388869"/>
          </a:xfrm>
          <a:prstGeom prst="rect">
            <a:avLst/>
          </a:prstGeom>
        </p:spPr>
        <p:txBody>
          <a:bodyPr anchor="t" rtlCol="false" tIns="0" lIns="0" bIns="0" rIns="0">
            <a:spAutoFit/>
          </a:bodyPr>
          <a:lstStyle/>
          <a:p>
            <a:pPr algn="l">
              <a:lnSpc>
                <a:spcPts val="2700"/>
              </a:lnSpc>
            </a:pPr>
          </a:p>
          <a:p>
            <a:pPr algn="l" marL="388623" indent="-194312" lvl="1">
              <a:lnSpc>
                <a:spcPts val="2700"/>
              </a:lnSpc>
              <a:buFont typeface="Arial"/>
              <a:buChar char="•"/>
            </a:pPr>
            <a:r>
              <a:rPr lang="en-US" sz="1800">
                <a:solidFill>
                  <a:srgbClr val="000000"/>
                </a:solidFill>
                <a:latin typeface="Open Sauce"/>
                <a:ea typeface="Open Sauce"/>
                <a:cs typeface="Open Sauce"/>
                <a:sym typeface="Open Sauce"/>
              </a:rPr>
              <a:t>hoàn thành end-to-end các workflow đã đủ điều kiện tự động hóa</a:t>
            </a:r>
          </a:p>
          <a:p>
            <a:pPr algn="l" marL="388623" indent="-194312" lvl="1">
              <a:lnSpc>
                <a:spcPts val="2700"/>
              </a:lnSpc>
              <a:buFont typeface="Arial"/>
              <a:buChar char="•"/>
            </a:pPr>
            <a:r>
              <a:rPr lang="en-US" sz="1800">
                <a:solidFill>
                  <a:srgbClr val="000000"/>
                </a:solidFill>
                <a:latin typeface="Open Sauce"/>
                <a:ea typeface="Open Sauce"/>
                <a:cs typeface="Open Sauce"/>
                <a:sym typeface="Open Sauce"/>
              </a:rPr>
              <a:t>Cho phép tạo workflow từ ngôn ngữ tự nhiên</a:t>
            </a:r>
          </a:p>
          <a:p>
            <a:pPr algn="l">
              <a:lnSpc>
                <a:spcPts val="2700"/>
              </a:lnSpc>
            </a:pPr>
          </a:p>
        </p:txBody>
      </p:sp>
      <p:sp>
        <p:nvSpPr>
          <p:cNvPr name="TextBox 22" id="22"/>
          <p:cNvSpPr txBox="true"/>
          <p:nvPr/>
        </p:nvSpPr>
        <p:spPr>
          <a:xfrm rot="0">
            <a:off x="1271344" y="6016159"/>
            <a:ext cx="4490608" cy="447675"/>
          </a:xfrm>
          <a:prstGeom prst="rect">
            <a:avLst/>
          </a:prstGeom>
        </p:spPr>
        <p:txBody>
          <a:bodyPr anchor="t" rtlCol="false" tIns="0" lIns="0" bIns="0" rIns="0">
            <a:spAutoFit/>
          </a:bodyPr>
          <a:lstStyle/>
          <a:p>
            <a:pPr algn="l" marL="0" indent="0" lvl="0">
              <a:lnSpc>
                <a:spcPts val="3750"/>
              </a:lnSpc>
              <a:spcBef>
                <a:spcPct val="0"/>
              </a:spcBef>
            </a:pPr>
            <a:r>
              <a:rPr lang="en-US" sz="2500" i="true">
                <a:solidFill>
                  <a:srgbClr val="000000"/>
                </a:solidFill>
                <a:latin typeface="Open Sauce Italics"/>
                <a:ea typeface="Open Sauce Italics"/>
                <a:cs typeface="Open Sauce Italics"/>
                <a:sym typeface="Open Sauce Italics"/>
              </a:rPr>
              <a:t>- </a:t>
            </a:r>
            <a:r>
              <a:rPr lang="en-US" sz="2500" i="true" strike="noStrike" u="none">
                <a:solidFill>
                  <a:srgbClr val="000000"/>
                </a:solidFill>
                <a:latin typeface="Open Sauce Italics"/>
                <a:ea typeface="Open Sauce Italics"/>
                <a:cs typeface="Open Sauce Italics"/>
                <a:sym typeface="Open Sauce Italics"/>
              </a:rPr>
              <a:t>AI Execution Layer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054122" y="1028700"/>
            <a:ext cx="4112762" cy="486186"/>
            <a:chOff x="0" y="0"/>
            <a:chExt cx="5483683" cy="648248"/>
          </a:xfrm>
        </p:grpSpPr>
        <p:grpSp>
          <p:nvGrpSpPr>
            <p:cNvPr name="Group 3" id="3"/>
            <p:cNvGrpSpPr/>
            <p:nvPr/>
          </p:nvGrpSpPr>
          <p:grpSpPr>
            <a:xfrm rot="0">
              <a:off x="0" y="0"/>
              <a:ext cx="675833" cy="648248"/>
              <a:chOff x="0" y="0"/>
              <a:chExt cx="622300" cy="596900"/>
            </a:xfrm>
          </p:grpSpPr>
          <p:sp>
            <p:nvSpPr>
              <p:cNvPr name="Freeform 4" id="4"/>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5" id="5"/>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6" id="6"/>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sp>
        <p:nvSpPr>
          <p:cNvPr name="Freeform 7" id="7"/>
          <p:cNvSpPr/>
          <p:nvPr/>
        </p:nvSpPr>
        <p:spPr>
          <a:xfrm flipH="false" flipV="false" rot="0">
            <a:off x="-675553" y="1028700"/>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3">
              <a:extLst>
                <a:ext uri="{96DAC541-7B7A-43D3-8B79-37D633B846F1}">
                  <asvg:svgBlip xmlns:asvg="http://schemas.microsoft.com/office/drawing/2016/SVG/main" r:embed="rId4"/>
                </a:ext>
              </a:extLst>
            </a:blip>
            <a:stretch>
              <a:fillRect l="0" t="0" r="-75980" b="-360761"/>
            </a:stretch>
          </a:blipFill>
        </p:spPr>
      </p:sp>
      <p:sp>
        <p:nvSpPr>
          <p:cNvPr name="Freeform 8" id="8"/>
          <p:cNvSpPr/>
          <p:nvPr/>
        </p:nvSpPr>
        <p:spPr>
          <a:xfrm flipH="false" flipV="false" rot="0">
            <a:off x="17802947" y="8938260"/>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3">
              <a:extLst>
                <a:ext uri="{96DAC541-7B7A-43D3-8B79-37D633B846F1}">
                  <asvg:svgBlip xmlns:asvg="http://schemas.microsoft.com/office/drawing/2016/SVG/main" r:embed="rId4"/>
                </a:ext>
              </a:extLst>
            </a:blip>
            <a:stretch>
              <a:fillRect l="0" t="0" r="-75980" b="-360761"/>
            </a:stretch>
          </a:blipFill>
        </p:spPr>
      </p:sp>
      <p:sp>
        <p:nvSpPr>
          <p:cNvPr name="Freeform 9" id="9"/>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8516070" y="1056554"/>
            <a:ext cx="8006339" cy="8006339"/>
          </a:xfrm>
          <a:custGeom>
            <a:avLst/>
            <a:gdLst/>
            <a:ahLst/>
            <a:cxnLst/>
            <a:rect r="r" b="b" t="t" l="l"/>
            <a:pathLst>
              <a:path h="8006339" w="8006339">
                <a:moveTo>
                  <a:pt x="0" y="0"/>
                </a:moveTo>
                <a:lnTo>
                  <a:pt x="8006339" y="0"/>
                </a:lnTo>
                <a:lnTo>
                  <a:pt x="8006339" y="8006339"/>
                </a:lnTo>
                <a:lnTo>
                  <a:pt x="0" y="8006339"/>
                </a:lnTo>
                <a:lnTo>
                  <a:pt x="0" y="0"/>
                </a:lnTo>
                <a:close/>
              </a:path>
            </a:pathLst>
          </a:custGeom>
          <a:blipFill>
            <a:blip r:embed="rId7"/>
            <a:stretch>
              <a:fillRect l="0" t="0" r="0" b="0"/>
            </a:stretch>
          </a:blipFill>
        </p:spPr>
      </p:sp>
      <p:sp>
        <p:nvSpPr>
          <p:cNvPr name="TextBox 12" id="12"/>
          <p:cNvSpPr txBox="true"/>
          <p:nvPr/>
        </p:nvSpPr>
        <p:spPr>
          <a:xfrm rot="0">
            <a:off x="1054122" y="1904044"/>
            <a:ext cx="6915870" cy="2373630"/>
          </a:xfrm>
          <a:prstGeom prst="rect">
            <a:avLst/>
          </a:prstGeom>
        </p:spPr>
        <p:txBody>
          <a:bodyPr anchor="t" rtlCol="false" tIns="0" lIns="0" bIns="0" rIns="0">
            <a:spAutoFit/>
          </a:bodyPr>
          <a:lstStyle/>
          <a:p>
            <a:pPr algn="l">
              <a:lnSpc>
                <a:spcPts val="9360"/>
              </a:lnSpc>
            </a:pPr>
            <a:r>
              <a:rPr lang="en-US" sz="8000" spc="-80" b="true">
                <a:solidFill>
                  <a:srgbClr val="000000"/>
                </a:solidFill>
                <a:latin typeface="Helvetica Now Display Bold"/>
                <a:ea typeface="Helvetica Now Display Bold"/>
                <a:cs typeface="Helvetica Now Display Bold"/>
                <a:sym typeface="Helvetica Now Display Bold"/>
              </a:rPr>
              <a:t>Mark</a:t>
            </a:r>
            <a:r>
              <a:rPr lang="en-US" b="true" sz="8000" spc="-80">
                <a:solidFill>
                  <a:srgbClr val="000000"/>
                </a:solidFill>
                <a:latin typeface="Helvetica Now Display Bold"/>
                <a:ea typeface="Helvetica Now Display Bold"/>
                <a:cs typeface="Helvetica Now Display Bold"/>
                <a:sym typeface="Helvetica Now Display Bold"/>
              </a:rPr>
              <a:t>et Opportunity</a:t>
            </a:r>
          </a:p>
        </p:txBody>
      </p:sp>
      <p:sp>
        <p:nvSpPr>
          <p:cNvPr name="TextBox 13" id="13"/>
          <p:cNvSpPr txBox="true"/>
          <p:nvPr/>
        </p:nvSpPr>
        <p:spPr>
          <a:xfrm rot="0">
            <a:off x="1028700" y="4774306"/>
            <a:ext cx="6915870" cy="4387215"/>
          </a:xfrm>
          <a:prstGeom prst="rect">
            <a:avLst/>
          </a:prstGeom>
        </p:spPr>
        <p:txBody>
          <a:bodyPr anchor="t" rtlCol="false" tIns="0" lIns="0" bIns="0" rIns="0">
            <a:spAutoFit/>
          </a:bodyPr>
          <a:lstStyle/>
          <a:p>
            <a:pPr algn="l" marL="453390" indent="-226695" lvl="1">
              <a:lnSpc>
                <a:spcPts val="3150"/>
              </a:lnSpc>
              <a:spcBef>
                <a:spcPct val="0"/>
              </a:spcBef>
              <a:buFont typeface="Arial"/>
              <a:buChar char="•"/>
            </a:pPr>
            <a:r>
              <a:rPr lang="en-US" sz="2100">
                <a:solidFill>
                  <a:srgbClr val="000000"/>
                </a:solidFill>
                <a:latin typeface="Open Sauce"/>
                <a:ea typeface="Open Sauce"/>
                <a:cs typeface="Open Sauce"/>
                <a:sym typeface="Open Sauce"/>
              </a:rPr>
              <a:t>~900,000 SMEs tại Việ</a:t>
            </a:r>
            <a:r>
              <a:rPr lang="en-US" sz="2100" strike="noStrike" u="none">
                <a:solidFill>
                  <a:srgbClr val="000000"/>
                </a:solidFill>
                <a:latin typeface="Open Sauce"/>
                <a:ea typeface="Open Sauce"/>
                <a:cs typeface="Open Sauce"/>
                <a:sym typeface="Open Sauce"/>
              </a:rPr>
              <a:t>t Nam</a:t>
            </a:r>
          </a:p>
          <a:p>
            <a:pPr algn="l">
              <a:lnSpc>
                <a:spcPts val="3150"/>
              </a:lnSpc>
              <a:spcBef>
                <a:spcPct val="0"/>
              </a:spcBef>
            </a:pPr>
          </a:p>
          <a:p>
            <a:pPr algn="l" marL="453390" indent="-226695" lvl="1">
              <a:lnSpc>
                <a:spcPts val="3150"/>
              </a:lnSpc>
              <a:spcBef>
                <a:spcPct val="0"/>
              </a:spcBef>
              <a:buFont typeface="Arial"/>
              <a:buChar char="•"/>
            </a:pPr>
            <a:r>
              <a:rPr lang="en-US" sz="2100" strike="noStrike" u="none">
                <a:solidFill>
                  <a:srgbClr val="000000"/>
                </a:solidFill>
                <a:latin typeface="Open Sauce"/>
                <a:ea typeface="Open Sauce"/>
                <a:cs typeface="Open Sauce"/>
                <a:sym typeface="Open Sauce"/>
              </a:rPr>
              <a:t>68% dùng social platforms như Facebook/Zalo làm kênh bán chính hoặc phụ</a:t>
            </a:r>
          </a:p>
          <a:p>
            <a:pPr algn="l">
              <a:lnSpc>
                <a:spcPts val="3150"/>
              </a:lnSpc>
              <a:spcBef>
                <a:spcPct val="0"/>
              </a:spcBef>
            </a:pPr>
          </a:p>
          <a:p>
            <a:pPr algn="l" marL="453390" indent="-226695" lvl="1">
              <a:lnSpc>
                <a:spcPts val="3150"/>
              </a:lnSpc>
              <a:spcBef>
                <a:spcPct val="0"/>
              </a:spcBef>
              <a:buFont typeface="Arial"/>
              <a:buChar char="•"/>
            </a:pPr>
            <a:r>
              <a:rPr lang="en-US" sz="2100" strike="noStrike" u="none">
                <a:solidFill>
                  <a:srgbClr val="000000"/>
                </a:solidFill>
                <a:latin typeface="Open Sauce"/>
                <a:ea typeface="Open Sauce"/>
                <a:cs typeface="Open Sauce"/>
                <a:sym typeface="Open Sauce"/>
              </a:rPr>
              <a:t>150,000-200,000 doanh nghiệp đã có digital stack phù hợp để gắn AI layer</a:t>
            </a:r>
          </a:p>
          <a:p>
            <a:pPr algn="l">
              <a:lnSpc>
                <a:spcPts val="3150"/>
              </a:lnSpc>
              <a:spcBef>
                <a:spcPct val="0"/>
              </a:spcBef>
            </a:pPr>
          </a:p>
          <a:p>
            <a:pPr algn="l" marL="453390" indent="-226695" lvl="1">
              <a:lnSpc>
                <a:spcPts val="3150"/>
              </a:lnSpc>
              <a:spcBef>
                <a:spcPct val="0"/>
              </a:spcBef>
              <a:buFont typeface="Arial"/>
              <a:buChar char="•"/>
            </a:pPr>
            <a:r>
              <a:rPr lang="en-US" sz="2100" strike="noStrike" u="none">
                <a:solidFill>
                  <a:srgbClr val="000000"/>
                </a:solidFill>
                <a:latin typeface="Open Sauce"/>
                <a:ea typeface="Open Sauce"/>
                <a:cs typeface="Open Sauce"/>
                <a:sym typeface="Open Sauce"/>
              </a:rPr>
              <a:t>~280M USD/year SAM cho nhóm khách có stack phù hợp</a:t>
            </a:r>
          </a:p>
          <a:p>
            <a:pPr algn="l" marL="0" indent="0" lvl="0">
              <a:lnSpc>
                <a:spcPts val="315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054122" y="1028700"/>
            <a:ext cx="4112762" cy="486186"/>
            <a:chOff x="0" y="0"/>
            <a:chExt cx="5483683" cy="648248"/>
          </a:xfrm>
        </p:grpSpPr>
        <p:grpSp>
          <p:nvGrpSpPr>
            <p:cNvPr name="Group 3" id="3"/>
            <p:cNvGrpSpPr/>
            <p:nvPr/>
          </p:nvGrpSpPr>
          <p:grpSpPr>
            <a:xfrm rot="0">
              <a:off x="0" y="0"/>
              <a:ext cx="675833" cy="648248"/>
              <a:chOff x="0" y="0"/>
              <a:chExt cx="622300" cy="596900"/>
            </a:xfrm>
          </p:grpSpPr>
          <p:sp>
            <p:nvSpPr>
              <p:cNvPr name="Freeform 4" id="4"/>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5" id="5"/>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6" id="6"/>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sp>
        <p:nvSpPr>
          <p:cNvPr name="Freeform 7" id="7"/>
          <p:cNvSpPr/>
          <p:nvPr/>
        </p:nvSpPr>
        <p:spPr>
          <a:xfrm flipH="false" flipV="false" rot="0">
            <a:off x="-675553" y="1028700"/>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3">
              <a:extLst>
                <a:ext uri="{96DAC541-7B7A-43D3-8B79-37D633B846F1}">
                  <asvg:svgBlip xmlns:asvg="http://schemas.microsoft.com/office/drawing/2016/SVG/main" r:embed="rId4"/>
                </a:ext>
              </a:extLst>
            </a:blip>
            <a:stretch>
              <a:fillRect l="0" t="0" r="-75980" b="-360761"/>
            </a:stretch>
          </a:blipFill>
        </p:spPr>
      </p:sp>
      <p:sp>
        <p:nvSpPr>
          <p:cNvPr name="Freeform 8" id="8"/>
          <p:cNvSpPr/>
          <p:nvPr/>
        </p:nvSpPr>
        <p:spPr>
          <a:xfrm flipH="false" flipV="false" rot="0">
            <a:off x="17802947" y="8938260"/>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3">
              <a:extLst>
                <a:ext uri="{96DAC541-7B7A-43D3-8B79-37D633B846F1}">
                  <asvg:svgBlip xmlns:asvg="http://schemas.microsoft.com/office/drawing/2016/SVG/main" r:embed="rId4"/>
                </a:ext>
              </a:extLst>
            </a:blip>
            <a:stretch>
              <a:fillRect l="0" t="0" r="-75980" b="-360761"/>
            </a:stretch>
          </a:blipFill>
        </p:spPr>
      </p:sp>
      <p:sp>
        <p:nvSpPr>
          <p:cNvPr name="Freeform 9" id="9"/>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9589646" y="1251961"/>
            <a:ext cx="7805300" cy="7805300"/>
          </a:xfrm>
          <a:custGeom>
            <a:avLst/>
            <a:gdLst/>
            <a:ahLst/>
            <a:cxnLst/>
            <a:rect r="r" b="b" t="t" l="l"/>
            <a:pathLst>
              <a:path h="7805300" w="7805300">
                <a:moveTo>
                  <a:pt x="0" y="0"/>
                </a:moveTo>
                <a:lnTo>
                  <a:pt x="7805300" y="0"/>
                </a:lnTo>
                <a:lnTo>
                  <a:pt x="7805300" y="7805300"/>
                </a:lnTo>
                <a:lnTo>
                  <a:pt x="0" y="7805300"/>
                </a:lnTo>
                <a:lnTo>
                  <a:pt x="0" y="0"/>
                </a:lnTo>
                <a:close/>
              </a:path>
            </a:pathLst>
          </a:custGeom>
          <a:blipFill>
            <a:blip r:embed="rId7"/>
            <a:stretch>
              <a:fillRect l="0" t="0" r="0" b="0"/>
            </a:stretch>
          </a:blipFill>
        </p:spPr>
      </p:sp>
      <p:sp>
        <p:nvSpPr>
          <p:cNvPr name="TextBox 12" id="12"/>
          <p:cNvSpPr txBox="true"/>
          <p:nvPr/>
        </p:nvSpPr>
        <p:spPr>
          <a:xfrm rot="0">
            <a:off x="1054122" y="4623687"/>
            <a:ext cx="8227668" cy="1080898"/>
          </a:xfrm>
          <a:prstGeom prst="rect">
            <a:avLst/>
          </a:prstGeom>
        </p:spPr>
        <p:txBody>
          <a:bodyPr anchor="t" rtlCol="false" tIns="0" lIns="0" bIns="0" rIns="0">
            <a:spAutoFit/>
          </a:bodyPr>
          <a:lstStyle/>
          <a:p>
            <a:pPr algn="l">
              <a:lnSpc>
                <a:spcPts val="4329"/>
              </a:lnSpc>
            </a:pPr>
            <a:r>
              <a:rPr lang="en-US" b="true" sz="3700" i="true" spc="-37">
                <a:solidFill>
                  <a:srgbClr val="000000"/>
                </a:solidFill>
                <a:latin typeface="Helvetica Now Display Bold Italics"/>
                <a:ea typeface="Helvetica Now Display Bold Italics"/>
                <a:cs typeface="Helvetica Now Display Bold Italics"/>
                <a:sym typeface="Helvetica Now Display Bold Italics"/>
              </a:rPr>
              <a:t>Q</a:t>
            </a:r>
            <a:r>
              <a:rPr lang="en-US" sz="3700" i="true" spc="-37">
                <a:solidFill>
                  <a:srgbClr val="000000"/>
                </a:solidFill>
                <a:latin typeface="Helvetica Now Display Italics"/>
                <a:ea typeface="Helvetica Now Display Italics"/>
                <a:cs typeface="Helvetica Now Display Italics"/>
                <a:sym typeface="Helvetica Now Display Italics"/>
              </a:rPr>
              <a:t>: Why Buy Ag</a:t>
            </a:r>
            <a:r>
              <a:rPr lang="en-US" sz="3700" i="true" spc="-37">
                <a:solidFill>
                  <a:srgbClr val="000000"/>
                </a:solidFill>
                <a:latin typeface="Helvetica Now Display Italics"/>
                <a:ea typeface="Helvetica Now Display Italics"/>
                <a:cs typeface="Helvetica Now Display Italics"/>
                <a:sym typeface="Helvetica Now Display Italics"/>
              </a:rPr>
              <a:t>entify If You Already Use Pancake / KiotViet / Sapo?</a:t>
            </a:r>
          </a:p>
        </p:txBody>
      </p:sp>
      <p:sp>
        <p:nvSpPr>
          <p:cNvPr name="TextBox 13" id="13"/>
          <p:cNvSpPr txBox="true"/>
          <p:nvPr/>
        </p:nvSpPr>
        <p:spPr>
          <a:xfrm rot="0">
            <a:off x="1054122" y="2363267"/>
            <a:ext cx="15965955" cy="1192530"/>
          </a:xfrm>
          <a:prstGeom prst="rect">
            <a:avLst/>
          </a:prstGeom>
        </p:spPr>
        <p:txBody>
          <a:bodyPr anchor="t" rtlCol="false" tIns="0" lIns="0" bIns="0" rIns="0">
            <a:spAutoFit/>
          </a:bodyPr>
          <a:lstStyle/>
          <a:p>
            <a:pPr algn="l">
              <a:lnSpc>
                <a:spcPts val="9360"/>
              </a:lnSpc>
            </a:pPr>
            <a:r>
              <a:rPr lang="en-US" sz="8000" spc="-80" b="true">
                <a:solidFill>
                  <a:srgbClr val="000000"/>
                </a:solidFill>
                <a:latin typeface="Helvetica Now Display Bold"/>
                <a:ea typeface="Helvetica Now Display Bold"/>
                <a:cs typeface="Helvetica Now Display Bold"/>
                <a:sym typeface="Helvetica Now Display Bold"/>
              </a:rPr>
              <a:t>Why Agentify?</a:t>
            </a:r>
          </a:p>
        </p:txBody>
      </p:sp>
      <p:sp>
        <p:nvSpPr>
          <p:cNvPr name="TextBox 14" id="14"/>
          <p:cNvSpPr txBox="true"/>
          <p:nvPr/>
        </p:nvSpPr>
        <p:spPr>
          <a:xfrm rot="0">
            <a:off x="1028700" y="6513512"/>
            <a:ext cx="8227668" cy="1831087"/>
          </a:xfrm>
          <a:prstGeom prst="rect">
            <a:avLst/>
          </a:prstGeom>
        </p:spPr>
        <p:txBody>
          <a:bodyPr anchor="t" rtlCol="false" tIns="0" lIns="0" bIns="0" rIns="0">
            <a:spAutoFit/>
          </a:bodyPr>
          <a:lstStyle/>
          <a:p>
            <a:pPr algn="l">
              <a:lnSpc>
                <a:spcPts val="3627"/>
              </a:lnSpc>
            </a:pPr>
            <a:r>
              <a:rPr lang="en-US" b="true" sz="3100" i="true" spc="-31">
                <a:solidFill>
                  <a:srgbClr val="000000"/>
                </a:solidFill>
                <a:latin typeface="Helvetica Now Display Bold Italics"/>
                <a:ea typeface="Helvetica Now Display Bold Italics"/>
                <a:cs typeface="Helvetica Now Display Bold Italics"/>
                <a:sym typeface="Helvetica Now Display Bold Italics"/>
              </a:rPr>
              <a:t>A</a:t>
            </a:r>
            <a:r>
              <a:rPr lang="en-US" sz="3100" i="true" spc="-31">
                <a:solidFill>
                  <a:srgbClr val="000000"/>
                </a:solidFill>
                <a:latin typeface="Helvetica Now Display Italics"/>
                <a:ea typeface="Helvetica Now Display Italics"/>
                <a:cs typeface="Helvetica Now Display Italics"/>
                <a:sym typeface="Helvetica Now Display Italics"/>
              </a:rPr>
              <a:t>: Hệ thống</a:t>
            </a:r>
            <a:r>
              <a:rPr lang="en-US" sz="3100" i="true" spc="-31">
                <a:solidFill>
                  <a:srgbClr val="000000"/>
                </a:solidFill>
                <a:latin typeface="Helvetica Now Display Italics"/>
                <a:ea typeface="Helvetica Now Display Italics"/>
                <a:cs typeface="Helvetica Now Display Italics"/>
                <a:sym typeface="Helvetica Now Display Italics"/>
              </a:rPr>
              <a:t> cũ lưu dữ liệu và tổ chức công việc rất tốt, nhưng chưa tự làm việc.</a:t>
            </a:r>
          </a:p>
          <a:p>
            <a:pPr algn="l">
              <a:lnSpc>
                <a:spcPts val="3627"/>
              </a:lnSpc>
            </a:pPr>
            <a:r>
              <a:rPr lang="en-US" sz="3100" i="true" spc="-31">
                <a:solidFill>
                  <a:srgbClr val="000000"/>
                </a:solidFill>
                <a:latin typeface="Helvetica Now Display Italics"/>
                <a:ea typeface="Helvetica Now Display Italics"/>
                <a:cs typeface="Helvetica Now Display Italics"/>
                <a:sym typeface="Helvetica Now Display Italics"/>
              </a:rPr>
              <a:t>Agentify sẽ cung cấp tạo luồng công việc tự động theo yêu cầu từ ngôn ngữ tự nhiên.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054122" y="1028700"/>
            <a:ext cx="4112762" cy="486186"/>
            <a:chOff x="0" y="0"/>
            <a:chExt cx="5483683" cy="648248"/>
          </a:xfrm>
        </p:grpSpPr>
        <p:grpSp>
          <p:nvGrpSpPr>
            <p:cNvPr name="Group 3" id="3"/>
            <p:cNvGrpSpPr/>
            <p:nvPr/>
          </p:nvGrpSpPr>
          <p:grpSpPr>
            <a:xfrm rot="0">
              <a:off x="0" y="0"/>
              <a:ext cx="675833" cy="648248"/>
              <a:chOff x="0" y="0"/>
              <a:chExt cx="622300" cy="596900"/>
            </a:xfrm>
          </p:grpSpPr>
          <p:sp>
            <p:nvSpPr>
              <p:cNvPr name="Freeform 4" id="4"/>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5" id="5"/>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6" id="6"/>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sp>
        <p:nvSpPr>
          <p:cNvPr name="Freeform 7" id="7"/>
          <p:cNvSpPr/>
          <p:nvPr/>
        </p:nvSpPr>
        <p:spPr>
          <a:xfrm flipH="false" flipV="false" rot="0">
            <a:off x="-580303" y="1028700"/>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3">
              <a:extLst>
                <a:ext uri="{96DAC541-7B7A-43D3-8B79-37D633B846F1}">
                  <asvg:svgBlip xmlns:asvg="http://schemas.microsoft.com/office/drawing/2016/SVG/main" r:embed="rId4"/>
                </a:ext>
              </a:extLst>
            </a:blip>
            <a:stretch>
              <a:fillRect l="0" t="0" r="-75980" b="-360761"/>
            </a:stretch>
          </a:blipFill>
        </p:spPr>
      </p:sp>
      <p:sp>
        <p:nvSpPr>
          <p:cNvPr name="Freeform 8" id="8"/>
          <p:cNvSpPr/>
          <p:nvPr/>
        </p:nvSpPr>
        <p:spPr>
          <a:xfrm flipH="false" flipV="false" rot="0">
            <a:off x="17802947" y="9075420"/>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3">
              <a:extLst>
                <a:ext uri="{96DAC541-7B7A-43D3-8B79-37D633B846F1}">
                  <asvg:svgBlip xmlns:asvg="http://schemas.microsoft.com/office/drawing/2016/SVG/main" r:embed="rId4"/>
                </a:ext>
              </a:extLst>
            </a:blip>
            <a:stretch>
              <a:fillRect l="0" t="0" r="-75980" b="-360761"/>
            </a:stretch>
          </a:blipFill>
        </p:spPr>
      </p:sp>
      <p:sp>
        <p:nvSpPr>
          <p:cNvPr name="Freeform 9" id="9"/>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Table 11" id="11"/>
          <p:cNvGraphicFramePr>
            <a:graphicFrameLocks noGrp="true"/>
          </p:cNvGraphicFramePr>
          <p:nvPr/>
        </p:nvGraphicFramePr>
        <p:xfrm>
          <a:off x="8249441" y="1251961"/>
          <a:ext cx="9009859" cy="7882059"/>
        </p:xfrm>
        <a:graphic>
          <a:graphicData uri="http://schemas.openxmlformats.org/drawingml/2006/table">
            <a:tbl>
              <a:tblPr/>
              <a:tblGrid>
                <a:gridCol w="2252465"/>
                <a:gridCol w="2252465"/>
                <a:gridCol w="2252465"/>
                <a:gridCol w="2252465"/>
              </a:tblGrid>
              <a:tr h="1361961">
                <a:tc>
                  <a:txBody>
                    <a:bodyPr anchor="t" rtlCol="false"/>
                    <a:lstStyle/>
                    <a:p>
                      <a:pPr algn="ctr">
                        <a:lnSpc>
                          <a:spcPts val="2520"/>
                        </a:lnSpc>
                        <a:defRPr/>
                      </a:pPr>
                      <a:r>
                        <a:rPr lang="en-US" sz="1800" b="true">
                          <a:solidFill>
                            <a:srgbClr val="000000"/>
                          </a:solidFill>
                          <a:latin typeface="Open Sauce Bold"/>
                          <a:ea typeface="Open Sauce Bold"/>
                          <a:cs typeface="Open Sauce Bold"/>
                          <a:sym typeface="Open Sauce Bold"/>
                        </a:rPr>
                        <a:t>Product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Open Sauce Bold"/>
                          <a:ea typeface="Open Sauce Bold"/>
                          <a:cs typeface="Open Sauce Bold"/>
                          <a:sym typeface="Open Sauce Bold"/>
                        </a:rPr>
                        <a:t>End-to-end Automation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Open Sauce Bold"/>
                          <a:ea typeface="Open Sauce Bold"/>
                          <a:cs typeface="Open Sauce Bold"/>
                          <a:sym typeface="Open Sauce Bold"/>
                        </a:rPr>
                        <a:t> Vietnam Stack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Open Sauce Bold"/>
                          <a:ea typeface="Open Sauce Bold"/>
                          <a:cs typeface="Open Sauce Bold"/>
                          <a:sym typeface="Open Sauce Bold"/>
                        </a:rPr>
                        <a:t>SME Ready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5926">
                <a:tc>
                  <a:txBody>
                    <a:bodyPr anchor="t" rtlCol="false"/>
                    <a:lstStyle/>
                    <a:p>
                      <a:pPr algn="ctr">
                        <a:lnSpc>
                          <a:spcPts val="2520"/>
                        </a:lnSpc>
                        <a:defRPr/>
                      </a:pPr>
                      <a:r>
                        <a:rPr lang="en-US" sz="1800" b="true">
                          <a:solidFill>
                            <a:srgbClr val="000000"/>
                          </a:solidFill>
                          <a:latin typeface="Open Sauce Bold"/>
                          <a:ea typeface="Open Sauce Bold"/>
                          <a:cs typeface="Open Sauce Bold"/>
                          <a:sym typeface="Open Sauce Bold"/>
                        </a:rPr>
                        <a:t>Agentify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b="true">
                          <a:solidFill>
                            <a:srgbClr val="000000"/>
                          </a:solidFill>
                          <a:latin typeface="Open Sauce Bold"/>
                          <a:ea typeface="Open Sauce Bold"/>
                          <a:cs typeface="Open Sauce Bold"/>
                          <a:sym typeface="Open Sauce Bold"/>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b="true">
                          <a:solidFill>
                            <a:srgbClr val="000000"/>
                          </a:solidFill>
                          <a:latin typeface="Open Sauce Bold"/>
                          <a:ea typeface="Open Sauce Bold"/>
                          <a:cs typeface="Open Sauce Bold"/>
                          <a:sym typeface="Open Sauce Bold"/>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b="true" sz="3399">
                          <a:solidFill>
                            <a:srgbClr val="000000"/>
                          </a:solidFill>
                          <a:latin typeface="Arimo Bold"/>
                          <a:ea typeface="Arimo Bold"/>
                          <a:cs typeface="Arimo Bold"/>
                          <a:sym typeface="Arimo Bold"/>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5926">
                <a:tc>
                  <a:txBody>
                    <a:bodyPr anchor="t" rtlCol="false"/>
                    <a:lstStyle/>
                    <a:p>
                      <a:pPr algn="ctr">
                        <a:lnSpc>
                          <a:spcPts val="2520"/>
                        </a:lnSpc>
                        <a:defRPr/>
                      </a:pPr>
                      <a:r>
                        <a:rPr lang="en-US" sz="1800">
                          <a:solidFill>
                            <a:srgbClr val="000000"/>
                          </a:solidFill>
                          <a:latin typeface="Open Sauce"/>
                          <a:ea typeface="Open Sauce"/>
                          <a:cs typeface="Open Sauce"/>
                          <a:sym typeface="Open Sauce"/>
                        </a:rPr>
                        <a:t>Pancake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b="true">
                          <a:solidFill>
                            <a:srgbClr val="000000"/>
                          </a:solidFill>
                          <a:latin typeface="Open Sauce Bold"/>
                          <a:ea typeface="Open Sauce Bold"/>
                          <a:cs typeface="Open Sauce Bold"/>
                          <a:sym typeface="Open Sauce Bold"/>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b="true">
                          <a:solidFill>
                            <a:srgbClr val="000000"/>
                          </a:solidFill>
                          <a:latin typeface="Open Sauce Bold"/>
                          <a:ea typeface="Open Sauce Bold"/>
                          <a:cs typeface="Open Sauce Bold"/>
                          <a:sym typeface="Open Sauce Bold"/>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b="true">
                          <a:solidFill>
                            <a:srgbClr val="000000"/>
                          </a:solidFill>
                          <a:latin typeface="Noto Sans Bold"/>
                          <a:ea typeface="Noto Sans Bold"/>
                          <a:cs typeface="Noto Sans Bold"/>
                          <a:sym typeface="Noto Sans Bold"/>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5926">
                <a:tc>
                  <a:txBody>
                    <a:bodyPr anchor="t" rtlCol="false"/>
                    <a:lstStyle/>
                    <a:p>
                      <a:pPr algn="ctr">
                        <a:lnSpc>
                          <a:spcPts val="2520"/>
                        </a:lnSpc>
                        <a:defRPr/>
                      </a:pPr>
                      <a:r>
                        <a:rPr lang="en-US" sz="1800">
                          <a:solidFill>
                            <a:srgbClr val="000000"/>
                          </a:solidFill>
                          <a:latin typeface="Open Sauce"/>
                          <a:ea typeface="Open Sauce"/>
                          <a:cs typeface="Open Sauce"/>
                          <a:sym typeface="Open Sauce"/>
                        </a:rPr>
                        <a:t>KiotViet / Sapo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b="true">
                          <a:solidFill>
                            <a:srgbClr val="000000"/>
                          </a:solidFill>
                          <a:latin typeface="Open Sauce Bold"/>
                          <a:ea typeface="Open Sauce Bold"/>
                          <a:cs typeface="Open Sauce Bold"/>
                          <a:sym typeface="Open Sauce Bold"/>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b="true">
                          <a:solidFill>
                            <a:srgbClr val="000000"/>
                          </a:solidFill>
                          <a:latin typeface="Open Sauce Bold"/>
                          <a:ea typeface="Open Sauce Bold"/>
                          <a:cs typeface="Open Sauce Bold"/>
                          <a:sym typeface="Open Sauce Bold"/>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b="true">
                          <a:solidFill>
                            <a:srgbClr val="000000"/>
                          </a:solidFill>
                          <a:latin typeface="Noto Sans Bold"/>
                          <a:ea typeface="Noto Sans Bold"/>
                          <a:cs typeface="Noto Sans Bold"/>
                          <a:sym typeface="Noto Sans Bold"/>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1160">
                <a:tc>
                  <a:txBody>
                    <a:bodyPr anchor="t" rtlCol="false"/>
                    <a:lstStyle/>
                    <a:p>
                      <a:pPr algn="ctr">
                        <a:lnSpc>
                          <a:spcPts val="2520"/>
                        </a:lnSpc>
                        <a:defRPr/>
                      </a:pPr>
                      <a:r>
                        <a:rPr lang="en-US" sz="1800">
                          <a:solidFill>
                            <a:srgbClr val="000000"/>
                          </a:solidFill>
                          <a:latin typeface="Open Sauce"/>
                          <a:ea typeface="Open Sauce"/>
                          <a:cs typeface="Open Sauce"/>
                          <a:sym typeface="Open Sauce"/>
                        </a:rPr>
                        <a:t>Subiz</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a:solidFill>
                            <a:srgbClr val="000000"/>
                          </a:solidFill>
                          <a:latin typeface="Noto Sans"/>
                          <a:ea typeface="Noto Sans"/>
                          <a:cs typeface="Noto Sans"/>
                          <a:sym typeface="Noto Sans"/>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a:solidFill>
                            <a:srgbClr val="000000"/>
                          </a:solidFill>
                          <a:latin typeface="Arimo"/>
                          <a:ea typeface="Arimo"/>
                          <a:cs typeface="Arimo"/>
                          <a:sym typeface="Arimo"/>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b="true">
                          <a:solidFill>
                            <a:srgbClr val="000000"/>
                          </a:solidFill>
                          <a:latin typeface="Noto Sans Bold"/>
                          <a:ea typeface="Noto Sans Bold"/>
                          <a:cs typeface="Noto Sans Bold"/>
                          <a:sym typeface="Noto Sans Bold"/>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1160">
                <a:tc>
                  <a:txBody>
                    <a:bodyPr anchor="t" rtlCol="false"/>
                    <a:lstStyle/>
                    <a:p>
                      <a:pPr algn="ctr">
                        <a:lnSpc>
                          <a:spcPts val="2520"/>
                        </a:lnSpc>
                        <a:defRPr/>
                      </a:pPr>
                      <a:r>
                        <a:rPr lang="en-US" sz="1800">
                          <a:solidFill>
                            <a:srgbClr val="000000"/>
                          </a:solidFill>
                          <a:latin typeface="Open Sauce"/>
                          <a:ea typeface="Open Sauce"/>
                          <a:cs typeface="Open Sauce"/>
                          <a:sym typeface="Open Sauce"/>
                        </a:rPr>
                        <a:t>Zapier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a:solidFill>
                            <a:srgbClr val="000000"/>
                          </a:solidFill>
                          <a:latin typeface="Arimo"/>
                          <a:ea typeface="Arimo"/>
                          <a:cs typeface="Arimo"/>
                          <a:sym typeface="Arimo"/>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a:solidFill>
                            <a:srgbClr val="000000"/>
                          </a:solidFill>
                          <a:latin typeface="Arimo"/>
                          <a:ea typeface="Arimo"/>
                          <a:cs typeface="Arimo"/>
                          <a:sym typeface="Arimo"/>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759"/>
                        </a:lnSpc>
                        <a:defRPr/>
                      </a:pPr>
                      <a:r>
                        <a:rPr lang="en-US" sz="3399">
                          <a:solidFill>
                            <a:srgbClr val="000000"/>
                          </a:solidFill>
                          <a:latin typeface="Arimo"/>
                          <a:ea typeface="Arimo"/>
                          <a:cs typeface="Arimo"/>
                          <a:sym typeface="Arimo"/>
                        </a:rPr>
                        <a: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2" id="12"/>
          <p:cNvSpPr txBox="true"/>
          <p:nvPr/>
        </p:nvSpPr>
        <p:spPr>
          <a:xfrm rot="0">
            <a:off x="1028700" y="2253748"/>
            <a:ext cx="6915870" cy="2373630"/>
          </a:xfrm>
          <a:prstGeom prst="rect">
            <a:avLst/>
          </a:prstGeom>
        </p:spPr>
        <p:txBody>
          <a:bodyPr anchor="t" rtlCol="false" tIns="0" lIns="0" bIns="0" rIns="0">
            <a:spAutoFit/>
          </a:bodyPr>
          <a:lstStyle/>
          <a:p>
            <a:pPr algn="l">
              <a:lnSpc>
                <a:spcPts val="9360"/>
              </a:lnSpc>
            </a:pPr>
            <a:r>
              <a:rPr lang="en-US" sz="8000" spc="-80" b="true">
                <a:solidFill>
                  <a:srgbClr val="000000"/>
                </a:solidFill>
                <a:latin typeface="Helvetica Now Display Bold"/>
                <a:ea typeface="Helvetica Now Display Bold"/>
                <a:cs typeface="Helvetica Now Display Bold"/>
                <a:sym typeface="Helvetica Now Display Bold"/>
              </a:rPr>
              <a:t>Com</a:t>
            </a:r>
            <a:r>
              <a:rPr lang="en-US" b="true" sz="8000" spc="-80">
                <a:solidFill>
                  <a:srgbClr val="000000"/>
                </a:solidFill>
                <a:latin typeface="Helvetica Now Display Bold"/>
                <a:ea typeface="Helvetica Now Display Bold"/>
                <a:cs typeface="Helvetica Now Display Bold"/>
                <a:sym typeface="Helvetica Now Display Bold"/>
              </a:rPr>
              <a:t>petitive</a:t>
            </a:r>
          </a:p>
          <a:p>
            <a:pPr algn="l">
              <a:lnSpc>
                <a:spcPts val="9360"/>
              </a:lnSpc>
            </a:pPr>
            <a:r>
              <a:rPr lang="en-US" b="true" sz="8000" spc="-80">
                <a:solidFill>
                  <a:srgbClr val="000000"/>
                </a:solidFill>
                <a:latin typeface="Helvetica Now Display Bold"/>
                <a:ea typeface="Helvetica Now Display Bold"/>
                <a:cs typeface="Helvetica Now Display Bold"/>
                <a:sym typeface="Helvetica Now Display Bold"/>
              </a:rPr>
              <a:t>Landscape</a:t>
            </a:r>
          </a:p>
        </p:txBody>
      </p:sp>
      <p:sp>
        <p:nvSpPr>
          <p:cNvPr name="TextBox 13" id="13"/>
          <p:cNvSpPr txBox="true"/>
          <p:nvPr/>
        </p:nvSpPr>
        <p:spPr>
          <a:xfrm rot="0">
            <a:off x="1054122" y="5757929"/>
            <a:ext cx="6915870" cy="1283970"/>
          </a:xfrm>
          <a:prstGeom prst="rect">
            <a:avLst/>
          </a:prstGeom>
        </p:spPr>
        <p:txBody>
          <a:bodyPr anchor="t" rtlCol="false" tIns="0" lIns="0" bIns="0" rIns="0">
            <a:spAutoFit/>
          </a:bodyPr>
          <a:lstStyle/>
          <a:p>
            <a:pPr algn="l" marL="0" indent="0" lvl="0">
              <a:lnSpc>
                <a:spcPts val="3450"/>
              </a:lnSpc>
              <a:spcBef>
                <a:spcPct val="0"/>
              </a:spcBef>
            </a:pPr>
            <a:r>
              <a:rPr lang="en-US" sz="2300" i="true">
                <a:solidFill>
                  <a:srgbClr val="000000"/>
                </a:solidFill>
                <a:latin typeface="Open Sauce Italics"/>
                <a:ea typeface="Open Sauce Italics"/>
                <a:cs typeface="Open Sauce Italics"/>
                <a:sym typeface="Open Sauce Italics"/>
              </a:rPr>
              <a:t>“Các</a:t>
            </a:r>
            <a:r>
              <a:rPr lang="en-US" sz="2300" i="true" strike="noStrike" u="none">
                <a:solidFill>
                  <a:srgbClr val="000000"/>
                </a:solidFill>
                <a:latin typeface="Open Sauce Italics"/>
                <a:ea typeface="Open Sauce Italics"/>
                <a:cs typeface="Open Sauce Italics"/>
                <a:sym typeface="Open Sauce Italics"/>
              </a:rPr>
              <a:t> nền tảng hiện tại giúp doanh nghiệp quản lý vận hành. Agentify giúp các workflow thật</a:t>
            </a:r>
          </a:p>
          <a:p>
            <a:pPr algn="l" marL="0" indent="0" lvl="0">
              <a:lnSpc>
                <a:spcPts val="3450"/>
              </a:lnSpc>
              <a:spcBef>
                <a:spcPct val="0"/>
              </a:spcBef>
            </a:pPr>
            <a:r>
              <a:rPr lang="en-US" sz="2300" i="true" strike="noStrike" u="none">
                <a:solidFill>
                  <a:srgbClr val="000000"/>
                </a:solidFill>
                <a:latin typeface="Open Sauce Italics"/>
                <a:ea typeface="Open Sauce Italics"/>
                <a:cs typeface="Open Sauce Italics"/>
                <a:sym typeface="Open Sauce Italics"/>
              </a:rPr>
              <a:t>  sự tự chạy.”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sp>
        <p:nvSpPr>
          <p:cNvPr name="TextBox 2" id="2"/>
          <p:cNvSpPr txBox="true"/>
          <p:nvPr/>
        </p:nvSpPr>
        <p:spPr>
          <a:xfrm rot="0">
            <a:off x="-1390313" y="1761353"/>
            <a:ext cx="10785360" cy="1192530"/>
          </a:xfrm>
          <a:prstGeom prst="rect">
            <a:avLst/>
          </a:prstGeom>
        </p:spPr>
        <p:txBody>
          <a:bodyPr anchor="t" rtlCol="false" tIns="0" lIns="0" bIns="0" rIns="0">
            <a:spAutoFit/>
          </a:bodyPr>
          <a:lstStyle/>
          <a:p>
            <a:pPr algn="ctr">
              <a:lnSpc>
                <a:spcPts val="9360"/>
              </a:lnSpc>
            </a:pPr>
            <a:r>
              <a:rPr lang="en-US" b="true" sz="8000" spc="-80">
                <a:solidFill>
                  <a:srgbClr val="000000"/>
                </a:solidFill>
                <a:latin typeface="Helvetica Now Display Bold"/>
                <a:ea typeface="Helvetica Now Display Bold"/>
                <a:cs typeface="Helvetica Now Display Bold"/>
                <a:sym typeface="Helvetica Now Display Bold"/>
              </a:rPr>
              <a:t>Moat</a:t>
            </a:r>
          </a:p>
        </p:txBody>
      </p:sp>
      <p:grpSp>
        <p:nvGrpSpPr>
          <p:cNvPr name="Group 3" id="3"/>
          <p:cNvGrpSpPr/>
          <p:nvPr/>
        </p:nvGrpSpPr>
        <p:grpSpPr>
          <a:xfrm rot="0">
            <a:off x="1054122" y="1028700"/>
            <a:ext cx="4112762" cy="486186"/>
            <a:chOff x="0" y="0"/>
            <a:chExt cx="5483683" cy="648248"/>
          </a:xfrm>
        </p:grpSpPr>
        <p:grpSp>
          <p:nvGrpSpPr>
            <p:cNvPr name="Group 4" id="4"/>
            <p:cNvGrpSpPr/>
            <p:nvPr/>
          </p:nvGrpSpPr>
          <p:grpSpPr>
            <a:xfrm rot="0">
              <a:off x="0" y="0"/>
              <a:ext cx="675833" cy="648248"/>
              <a:chOff x="0" y="0"/>
              <a:chExt cx="622300" cy="596900"/>
            </a:xfrm>
          </p:grpSpPr>
          <p:sp>
            <p:nvSpPr>
              <p:cNvPr name="Freeform 5" id="5"/>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6" id="6"/>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7" id="7"/>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grpSp>
        <p:nvGrpSpPr>
          <p:cNvPr name="Group 8" id="8"/>
          <p:cNvGrpSpPr/>
          <p:nvPr/>
        </p:nvGrpSpPr>
        <p:grpSpPr>
          <a:xfrm rot="0">
            <a:off x="1153737" y="3467199"/>
            <a:ext cx="5985724" cy="918097"/>
            <a:chOff x="0" y="0"/>
            <a:chExt cx="7980965" cy="1224130"/>
          </a:xfrm>
        </p:grpSpPr>
        <p:grpSp>
          <p:nvGrpSpPr>
            <p:cNvPr name="Group 9" id="9"/>
            <p:cNvGrpSpPr/>
            <p:nvPr/>
          </p:nvGrpSpPr>
          <p:grpSpPr>
            <a:xfrm rot="0">
              <a:off x="0" y="0"/>
              <a:ext cx="7980965" cy="1224130"/>
              <a:chOff x="0" y="0"/>
              <a:chExt cx="424526" cy="65114"/>
            </a:xfrm>
          </p:grpSpPr>
          <p:sp>
            <p:nvSpPr>
              <p:cNvPr name="Freeform 10" id="10"/>
              <p:cNvSpPr/>
              <p:nvPr/>
            </p:nvSpPr>
            <p:spPr>
              <a:xfrm flipH="false" flipV="false" rot="0">
                <a:off x="0" y="0"/>
                <a:ext cx="424526" cy="65114"/>
              </a:xfrm>
              <a:custGeom>
                <a:avLst/>
                <a:gdLst/>
                <a:ahLst/>
                <a:cxnLst/>
                <a:rect r="r" b="b" t="t" l="l"/>
                <a:pathLst>
                  <a:path h="65114" w="424526">
                    <a:moveTo>
                      <a:pt x="32557" y="0"/>
                    </a:moveTo>
                    <a:lnTo>
                      <a:pt x="391969" y="0"/>
                    </a:lnTo>
                    <a:cubicBezTo>
                      <a:pt x="409949" y="0"/>
                      <a:pt x="424526" y="14576"/>
                      <a:pt x="424526" y="32557"/>
                    </a:cubicBezTo>
                    <a:lnTo>
                      <a:pt x="424526" y="32557"/>
                    </a:lnTo>
                    <a:cubicBezTo>
                      <a:pt x="424526" y="41192"/>
                      <a:pt x="421096" y="49473"/>
                      <a:pt x="414990" y="55578"/>
                    </a:cubicBezTo>
                    <a:cubicBezTo>
                      <a:pt x="408884" y="61684"/>
                      <a:pt x="400603" y="65114"/>
                      <a:pt x="391969" y="65114"/>
                    </a:cubicBezTo>
                    <a:lnTo>
                      <a:pt x="32557" y="65114"/>
                    </a:lnTo>
                    <a:cubicBezTo>
                      <a:pt x="23922" y="65114"/>
                      <a:pt x="15641" y="61684"/>
                      <a:pt x="9536" y="55578"/>
                    </a:cubicBezTo>
                    <a:cubicBezTo>
                      <a:pt x="3430" y="49473"/>
                      <a:pt x="0" y="41192"/>
                      <a:pt x="0" y="32557"/>
                    </a:cubicBezTo>
                    <a:lnTo>
                      <a:pt x="0" y="32557"/>
                    </a:lnTo>
                    <a:cubicBezTo>
                      <a:pt x="0" y="23922"/>
                      <a:pt x="3430" y="15641"/>
                      <a:pt x="9536" y="9536"/>
                    </a:cubicBezTo>
                    <a:cubicBezTo>
                      <a:pt x="15641" y="3430"/>
                      <a:pt x="23922" y="0"/>
                      <a:pt x="32557" y="0"/>
                    </a:cubicBezTo>
                    <a:close/>
                  </a:path>
                </a:pathLst>
              </a:custGeom>
              <a:solidFill>
                <a:srgbClr val="E57C7C"/>
              </a:solidFill>
            </p:spPr>
          </p:sp>
          <p:sp>
            <p:nvSpPr>
              <p:cNvPr name="TextBox 11" id="11"/>
              <p:cNvSpPr txBox="true"/>
              <p:nvPr/>
            </p:nvSpPr>
            <p:spPr>
              <a:xfrm>
                <a:off x="0" y="-66675"/>
                <a:ext cx="424526" cy="131789"/>
              </a:xfrm>
              <a:prstGeom prst="rect">
                <a:avLst/>
              </a:prstGeom>
            </p:spPr>
            <p:txBody>
              <a:bodyPr anchor="ctr" rtlCol="false" tIns="50800" lIns="50800" bIns="50800" rIns="50800"/>
              <a:lstStyle/>
              <a:p>
                <a:pPr algn="ctr">
                  <a:lnSpc>
                    <a:spcPts val="3149"/>
                  </a:lnSpc>
                </a:pPr>
              </a:p>
            </p:txBody>
          </p:sp>
        </p:grpSp>
        <p:sp>
          <p:nvSpPr>
            <p:cNvPr name="TextBox 12" id="12"/>
            <p:cNvSpPr txBox="true"/>
            <p:nvPr/>
          </p:nvSpPr>
          <p:spPr>
            <a:xfrm rot="0">
              <a:off x="931519" y="332263"/>
              <a:ext cx="6886802" cy="540554"/>
            </a:xfrm>
            <a:prstGeom prst="rect">
              <a:avLst/>
            </a:prstGeom>
          </p:spPr>
          <p:txBody>
            <a:bodyPr anchor="t" rtlCol="false" tIns="0" lIns="0" bIns="0" rIns="0">
              <a:spAutoFit/>
            </a:bodyPr>
            <a:lstStyle/>
            <a:p>
              <a:pPr algn="l">
                <a:lnSpc>
                  <a:spcPts val="3416"/>
                </a:lnSpc>
              </a:pPr>
              <a:r>
                <a:rPr lang="en-US" b="true" sz="2628">
                  <a:solidFill>
                    <a:srgbClr val="000000"/>
                  </a:solidFill>
                  <a:latin typeface="Open Sauce Bold"/>
                  <a:ea typeface="Open Sauce Bold"/>
                  <a:cs typeface="Open Sauce Bold"/>
                  <a:sym typeface="Open Sauce Bold"/>
                </a:rPr>
                <a:t>1 - Vertical depth</a:t>
              </a:r>
            </a:p>
          </p:txBody>
        </p:sp>
      </p:grpSp>
      <p:sp>
        <p:nvSpPr>
          <p:cNvPr name="Freeform 13" id="13"/>
          <p:cNvSpPr/>
          <p:nvPr/>
        </p:nvSpPr>
        <p:spPr>
          <a:xfrm flipH="false" flipV="false" rot="0">
            <a:off x="-580303" y="1165479"/>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3">
              <a:extLst>
                <a:ext uri="{96DAC541-7B7A-43D3-8B79-37D633B846F1}">
                  <asvg:svgBlip xmlns:asvg="http://schemas.microsoft.com/office/drawing/2016/SVG/main" r:embed="rId4"/>
                </a:ext>
              </a:extLst>
            </a:blip>
            <a:stretch>
              <a:fillRect l="0" t="0" r="-75980" b="-360761"/>
            </a:stretch>
          </a:blipFill>
        </p:spPr>
      </p:sp>
      <p:sp>
        <p:nvSpPr>
          <p:cNvPr name="Freeform 14" id="14"/>
          <p:cNvSpPr/>
          <p:nvPr/>
        </p:nvSpPr>
        <p:spPr>
          <a:xfrm flipH="false" flipV="false" rot="0">
            <a:off x="17802947" y="9212580"/>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3">
              <a:extLst>
                <a:ext uri="{96DAC541-7B7A-43D3-8B79-37D633B846F1}">
                  <asvg:svgBlip xmlns:asvg="http://schemas.microsoft.com/office/drawing/2016/SVG/main" r:embed="rId4"/>
                </a:ext>
              </a:extLst>
            </a:blip>
            <a:stretch>
              <a:fillRect l="0" t="0" r="-75980" b="-360761"/>
            </a:stretch>
          </a:blipFill>
        </p:spPr>
      </p:sp>
      <p:sp>
        <p:nvSpPr>
          <p:cNvPr name="Freeform 15" id="15"/>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7" id="17"/>
          <p:cNvGrpSpPr/>
          <p:nvPr/>
        </p:nvGrpSpPr>
        <p:grpSpPr>
          <a:xfrm rot="0">
            <a:off x="1153737" y="4899646"/>
            <a:ext cx="5985724" cy="918097"/>
            <a:chOff x="0" y="0"/>
            <a:chExt cx="7980965" cy="1224130"/>
          </a:xfrm>
        </p:grpSpPr>
        <p:grpSp>
          <p:nvGrpSpPr>
            <p:cNvPr name="Group 18" id="18"/>
            <p:cNvGrpSpPr/>
            <p:nvPr/>
          </p:nvGrpSpPr>
          <p:grpSpPr>
            <a:xfrm rot="0">
              <a:off x="0" y="0"/>
              <a:ext cx="7980965" cy="1224130"/>
              <a:chOff x="0" y="0"/>
              <a:chExt cx="424526" cy="65114"/>
            </a:xfrm>
          </p:grpSpPr>
          <p:sp>
            <p:nvSpPr>
              <p:cNvPr name="Freeform 19" id="19"/>
              <p:cNvSpPr/>
              <p:nvPr/>
            </p:nvSpPr>
            <p:spPr>
              <a:xfrm flipH="false" flipV="false" rot="0">
                <a:off x="0" y="0"/>
                <a:ext cx="424526" cy="65114"/>
              </a:xfrm>
              <a:custGeom>
                <a:avLst/>
                <a:gdLst/>
                <a:ahLst/>
                <a:cxnLst/>
                <a:rect r="r" b="b" t="t" l="l"/>
                <a:pathLst>
                  <a:path h="65114" w="424526">
                    <a:moveTo>
                      <a:pt x="32557" y="0"/>
                    </a:moveTo>
                    <a:lnTo>
                      <a:pt x="391969" y="0"/>
                    </a:lnTo>
                    <a:cubicBezTo>
                      <a:pt x="409949" y="0"/>
                      <a:pt x="424526" y="14576"/>
                      <a:pt x="424526" y="32557"/>
                    </a:cubicBezTo>
                    <a:lnTo>
                      <a:pt x="424526" y="32557"/>
                    </a:lnTo>
                    <a:cubicBezTo>
                      <a:pt x="424526" y="41192"/>
                      <a:pt x="421096" y="49473"/>
                      <a:pt x="414990" y="55578"/>
                    </a:cubicBezTo>
                    <a:cubicBezTo>
                      <a:pt x="408884" y="61684"/>
                      <a:pt x="400603" y="65114"/>
                      <a:pt x="391969" y="65114"/>
                    </a:cubicBezTo>
                    <a:lnTo>
                      <a:pt x="32557" y="65114"/>
                    </a:lnTo>
                    <a:cubicBezTo>
                      <a:pt x="23922" y="65114"/>
                      <a:pt x="15641" y="61684"/>
                      <a:pt x="9536" y="55578"/>
                    </a:cubicBezTo>
                    <a:cubicBezTo>
                      <a:pt x="3430" y="49473"/>
                      <a:pt x="0" y="41192"/>
                      <a:pt x="0" y="32557"/>
                    </a:cubicBezTo>
                    <a:lnTo>
                      <a:pt x="0" y="32557"/>
                    </a:lnTo>
                    <a:cubicBezTo>
                      <a:pt x="0" y="23922"/>
                      <a:pt x="3430" y="15641"/>
                      <a:pt x="9536" y="9536"/>
                    </a:cubicBezTo>
                    <a:cubicBezTo>
                      <a:pt x="15641" y="3430"/>
                      <a:pt x="23922" y="0"/>
                      <a:pt x="32557" y="0"/>
                    </a:cubicBezTo>
                    <a:close/>
                  </a:path>
                </a:pathLst>
              </a:custGeom>
              <a:solidFill>
                <a:srgbClr val="E57C7C"/>
              </a:solidFill>
            </p:spPr>
          </p:sp>
          <p:sp>
            <p:nvSpPr>
              <p:cNvPr name="TextBox 20" id="20"/>
              <p:cNvSpPr txBox="true"/>
              <p:nvPr/>
            </p:nvSpPr>
            <p:spPr>
              <a:xfrm>
                <a:off x="0" y="-66675"/>
                <a:ext cx="424526" cy="131789"/>
              </a:xfrm>
              <a:prstGeom prst="rect">
                <a:avLst/>
              </a:prstGeom>
            </p:spPr>
            <p:txBody>
              <a:bodyPr anchor="ctr" rtlCol="false" tIns="50800" lIns="50800" bIns="50800" rIns="50800"/>
              <a:lstStyle/>
              <a:p>
                <a:pPr algn="ctr">
                  <a:lnSpc>
                    <a:spcPts val="3149"/>
                  </a:lnSpc>
                </a:pPr>
              </a:p>
            </p:txBody>
          </p:sp>
        </p:grpSp>
        <p:sp>
          <p:nvSpPr>
            <p:cNvPr name="TextBox 21" id="21"/>
            <p:cNvSpPr txBox="true"/>
            <p:nvPr/>
          </p:nvSpPr>
          <p:spPr>
            <a:xfrm rot="0">
              <a:off x="931519" y="332263"/>
              <a:ext cx="6886802" cy="540554"/>
            </a:xfrm>
            <a:prstGeom prst="rect">
              <a:avLst/>
            </a:prstGeom>
          </p:spPr>
          <p:txBody>
            <a:bodyPr anchor="t" rtlCol="false" tIns="0" lIns="0" bIns="0" rIns="0">
              <a:spAutoFit/>
            </a:bodyPr>
            <a:lstStyle/>
            <a:p>
              <a:pPr algn="l">
                <a:lnSpc>
                  <a:spcPts val="3416"/>
                </a:lnSpc>
              </a:pPr>
              <a:r>
                <a:rPr lang="en-US" sz="2628" b="true">
                  <a:solidFill>
                    <a:srgbClr val="000000"/>
                  </a:solidFill>
                  <a:latin typeface="Open Sauce Bold"/>
                  <a:ea typeface="Open Sauce Bold"/>
                  <a:cs typeface="Open Sauce Bold"/>
                  <a:sym typeface="Open Sauce Bold"/>
                </a:rPr>
                <a:t>2 - Better agent quality</a:t>
              </a:r>
            </a:p>
          </p:txBody>
        </p:sp>
      </p:grpSp>
      <p:grpSp>
        <p:nvGrpSpPr>
          <p:cNvPr name="Group 22" id="22"/>
          <p:cNvGrpSpPr/>
          <p:nvPr/>
        </p:nvGrpSpPr>
        <p:grpSpPr>
          <a:xfrm rot="0">
            <a:off x="1153737" y="6332093"/>
            <a:ext cx="5985724" cy="918097"/>
            <a:chOff x="0" y="0"/>
            <a:chExt cx="7980965" cy="1224130"/>
          </a:xfrm>
        </p:grpSpPr>
        <p:grpSp>
          <p:nvGrpSpPr>
            <p:cNvPr name="Group 23" id="23"/>
            <p:cNvGrpSpPr/>
            <p:nvPr/>
          </p:nvGrpSpPr>
          <p:grpSpPr>
            <a:xfrm rot="0">
              <a:off x="0" y="0"/>
              <a:ext cx="7980965" cy="1224130"/>
              <a:chOff x="0" y="0"/>
              <a:chExt cx="424526" cy="65114"/>
            </a:xfrm>
          </p:grpSpPr>
          <p:sp>
            <p:nvSpPr>
              <p:cNvPr name="Freeform 24" id="24"/>
              <p:cNvSpPr/>
              <p:nvPr/>
            </p:nvSpPr>
            <p:spPr>
              <a:xfrm flipH="false" flipV="false" rot="0">
                <a:off x="0" y="0"/>
                <a:ext cx="424526" cy="65114"/>
              </a:xfrm>
              <a:custGeom>
                <a:avLst/>
                <a:gdLst/>
                <a:ahLst/>
                <a:cxnLst/>
                <a:rect r="r" b="b" t="t" l="l"/>
                <a:pathLst>
                  <a:path h="65114" w="424526">
                    <a:moveTo>
                      <a:pt x="32557" y="0"/>
                    </a:moveTo>
                    <a:lnTo>
                      <a:pt x="391969" y="0"/>
                    </a:lnTo>
                    <a:cubicBezTo>
                      <a:pt x="409949" y="0"/>
                      <a:pt x="424526" y="14576"/>
                      <a:pt x="424526" y="32557"/>
                    </a:cubicBezTo>
                    <a:lnTo>
                      <a:pt x="424526" y="32557"/>
                    </a:lnTo>
                    <a:cubicBezTo>
                      <a:pt x="424526" y="41192"/>
                      <a:pt x="421096" y="49473"/>
                      <a:pt x="414990" y="55578"/>
                    </a:cubicBezTo>
                    <a:cubicBezTo>
                      <a:pt x="408884" y="61684"/>
                      <a:pt x="400603" y="65114"/>
                      <a:pt x="391969" y="65114"/>
                    </a:cubicBezTo>
                    <a:lnTo>
                      <a:pt x="32557" y="65114"/>
                    </a:lnTo>
                    <a:cubicBezTo>
                      <a:pt x="23922" y="65114"/>
                      <a:pt x="15641" y="61684"/>
                      <a:pt x="9536" y="55578"/>
                    </a:cubicBezTo>
                    <a:cubicBezTo>
                      <a:pt x="3430" y="49473"/>
                      <a:pt x="0" y="41192"/>
                      <a:pt x="0" y="32557"/>
                    </a:cubicBezTo>
                    <a:lnTo>
                      <a:pt x="0" y="32557"/>
                    </a:lnTo>
                    <a:cubicBezTo>
                      <a:pt x="0" y="23922"/>
                      <a:pt x="3430" y="15641"/>
                      <a:pt x="9536" y="9536"/>
                    </a:cubicBezTo>
                    <a:cubicBezTo>
                      <a:pt x="15641" y="3430"/>
                      <a:pt x="23922" y="0"/>
                      <a:pt x="32557" y="0"/>
                    </a:cubicBezTo>
                    <a:close/>
                  </a:path>
                </a:pathLst>
              </a:custGeom>
              <a:solidFill>
                <a:srgbClr val="E57C7C"/>
              </a:solidFill>
            </p:spPr>
          </p:sp>
          <p:sp>
            <p:nvSpPr>
              <p:cNvPr name="TextBox 25" id="25"/>
              <p:cNvSpPr txBox="true"/>
              <p:nvPr/>
            </p:nvSpPr>
            <p:spPr>
              <a:xfrm>
                <a:off x="0" y="-66675"/>
                <a:ext cx="424526" cy="131789"/>
              </a:xfrm>
              <a:prstGeom prst="rect">
                <a:avLst/>
              </a:prstGeom>
            </p:spPr>
            <p:txBody>
              <a:bodyPr anchor="ctr" rtlCol="false" tIns="50800" lIns="50800" bIns="50800" rIns="50800"/>
              <a:lstStyle/>
              <a:p>
                <a:pPr algn="ctr">
                  <a:lnSpc>
                    <a:spcPts val="3149"/>
                  </a:lnSpc>
                </a:pPr>
              </a:p>
            </p:txBody>
          </p:sp>
        </p:grpSp>
        <p:sp>
          <p:nvSpPr>
            <p:cNvPr name="TextBox 26" id="26"/>
            <p:cNvSpPr txBox="true"/>
            <p:nvPr/>
          </p:nvSpPr>
          <p:spPr>
            <a:xfrm rot="0">
              <a:off x="931519" y="332263"/>
              <a:ext cx="6886802" cy="540554"/>
            </a:xfrm>
            <a:prstGeom prst="rect">
              <a:avLst/>
            </a:prstGeom>
          </p:spPr>
          <p:txBody>
            <a:bodyPr anchor="t" rtlCol="false" tIns="0" lIns="0" bIns="0" rIns="0">
              <a:spAutoFit/>
            </a:bodyPr>
            <a:lstStyle/>
            <a:p>
              <a:pPr algn="l">
                <a:lnSpc>
                  <a:spcPts val="3416"/>
                </a:lnSpc>
              </a:pPr>
              <a:r>
                <a:rPr lang="en-US" sz="2628" b="true">
                  <a:solidFill>
                    <a:srgbClr val="000000"/>
                  </a:solidFill>
                  <a:latin typeface="Open Sauce Bold"/>
                  <a:ea typeface="Open Sauce Bold"/>
                  <a:cs typeface="Open Sauce Bold"/>
                  <a:sym typeface="Open Sauce Bold"/>
                </a:rPr>
                <a:t>3 - Vendor-neutral integration</a:t>
              </a:r>
            </a:p>
          </p:txBody>
        </p:sp>
      </p:grpSp>
      <p:grpSp>
        <p:nvGrpSpPr>
          <p:cNvPr name="Group 27" id="27"/>
          <p:cNvGrpSpPr/>
          <p:nvPr/>
        </p:nvGrpSpPr>
        <p:grpSpPr>
          <a:xfrm rot="0">
            <a:off x="1153737" y="7764541"/>
            <a:ext cx="5985724" cy="1342606"/>
            <a:chOff x="0" y="0"/>
            <a:chExt cx="7980965" cy="1790141"/>
          </a:xfrm>
        </p:grpSpPr>
        <p:grpSp>
          <p:nvGrpSpPr>
            <p:cNvPr name="Group 28" id="28"/>
            <p:cNvGrpSpPr/>
            <p:nvPr/>
          </p:nvGrpSpPr>
          <p:grpSpPr>
            <a:xfrm rot="0">
              <a:off x="0" y="0"/>
              <a:ext cx="7980965" cy="1790141"/>
              <a:chOff x="0" y="0"/>
              <a:chExt cx="424526" cy="95222"/>
            </a:xfrm>
          </p:grpSpPr>
          <p:sp>
            <p:nvSpPr>
              <p:cNvPr name="Freeform 29" id="29"/>
              <p:cNvSpPr/>
              <p:nvPr/>
            </p:nvSpPr>
            <p:spPr>
              <a:xfrm flipH="false" flipV="false" rot="0">
                <a:off x="0" y="0"/>
                <a:ext cx="424526" cy="95222"/>
              </a:xfrm>
              <a:custGeom>
                <a:avLst/>
                <a:gdLst/>
                <a:ahLst/>
                <a:cxnLst/>
                <a:rect r="r" b="b" t="t" l="l"/>
                <a:pathLst>
                  <a:path h="95222" w="424526">
                    <a:moveTo>
                      <a:pt x="44341" y="0"/>
                    </a:moveTo>
                    <a:lnTo>
                      <a:pt x="380184" y="0"/>
                    </a:lnTo>
                    <a:cubicBezTo>
                      <a:pt x="404673" y="0"/>
                      <a:pt x="424526" y="19852"/>
                      <a:pt x="424526" y="44341"/>
                    </a:cubicBezTo>
                    <a:lnTo>
                      <a:pt x="424526" y="50880"/>
                    </a:lnTo>
                    <a:cubicBezTo>
                      <a:pt x="424526" y="62640"/>
                      <a:pt x="419854" y="73919"/>
                      <a:pt x="411539" y="82234"/>
                    </a:cubicBezTo>
                    <a:cubicBezTo>
                      <a:pt x="403223" y="90550"/>
                      <a:pt x="391944" y="95222"/>
                      <a:pt x="380184" y="95222"/>
                    </a:cubicBezTo>
                    <a:lnTo>
                      <a:pt x="44341" y="95222"/>
                    </a:lnTo>
                    <a:cubicBezTo>
                      <a:pt x="32581" y="95222"/>
                      <a:pt x="21303" y="90550"/>
                      <a:pt x="12987" y="82234"/>
                    </a:cubicBezTo>
                    <a:cubicBezTo>
                      <a:pt x="4672" y="73919"/>
                      <a:pt x="0" y="62640"/>
                      <a:pt x="0" y="50880"/>
                    </a:cubicBezTo>
                    <a:lnTo>
                      <a:pt x="0" y="44341"/>
                    </a:lnTo>
                    <a:cubicBezTo>
                      <a:pt x="0" y="32581"/>
                      <a:pt x="4672" y="21303"/>
                      <a:pt x="12987" y="12987"/>
                    </a:cubicBezTo>
                    <a:cubicBezTo>
                      <a:pt x="21303" y="4672"/>
                      <a:pt x="32581" y="0"/>
                      <a:pt x="44341" y="0"/>
                    </a:cubicBezTo>
                    <a:close/>
                  </a:path>
                </a:pathLst>
              </a:custGeom>
              <a:solidFill>
                <a:srgbClr val="E57C7C"/>
              </a:solidFill>
            </p:spPr>
          </p:sp>
          <p:sp>
            <p:nvSpPr>
              <p:cNvPr name="TextBox 30" id="30"/>
              <p:cNvSpPr txBox="true"/>
              <p:nvPr/>
            </p:nvSpPr>
            <p:spPr>
              <a:xfrm>
                <a:off x="0" y="-66675"/>
                <a:ext cx="424526" cy="161897"/>
              </a:xfrm>
              <a:prstGeom prst="rect">
                <a:avLst/>
              </a:prstGeom>
            </p:spPr>
            <p:txBody>
              <a:bodyPr anchor="ctr" rtlCol="false" tIns="50800" lIns="50800" bIns="50800" rIns="50800"/>
              <a:lstStyle/>
              <a:p>
                <a:pPr algn="ctr">
                  <a:lnSpc>
                    <a:spcPts val="3149"/>
                  </a:lnSpc>
                </a:pPr>
              </a:p>
            </p:txBody>
          </p:sp>
        </p:grpSp>
        <p:sp>
          <p:nvSpPr>
            <p:cNvPr name="TextBox 31" id="31"/>
            <p:cNvSpPr txBox="true"/>
            <p:nvPr/>
          </p:nvSpPr>
          <p:spPr>
            <a:xfrm rot="0">
              <a:off x="879844" y="332263"/>
              <a:ext cx="6886802" cy="1106566"/>
            </a:xfrm>
            <a:prstGeom prst="rect">
              <a:avLst/>
            </a:prstGeom>
          </p:spPr>
          <p:txBody>
            <a:bodyPr anchor="t" rtlCol="false" tIns="0" lIns="0" bIns="0" rIns="0">
              <a:spAutoFit/>
            </a:bodyPr>
            <a:lstStyle/>
            <a:p>
              <a:pPr algn="l">
                <a:lnSpc>
                  <a:spcPts val="3416"/>
                </a:lnSpc>
              </a:pPr>
              <a:r>
                <a:rPr lang="en-US" sz="2628" b="true">
                  <a:solidFill>
                    <a:srgbClr val="000000"/>
                  </a:solidFill>
                  <a:latin typeface="Open Sauce Bold"/>
                  <a:ea typeface="Open Sauce Bold"/>
                  <a:cs typeface="Open Sauce Bold"/>
                  <a:sym typeface="Open Sauce Bold"/>
                </a:rPr>
                <a:t>4 - Faster deployment and iteration</a:t>
              </a:r>
            </a:p>
          </p:txBody>
        </p:sp>
      </p:grpSp>
      <p:grpSp>
        <p:nvGrpSpPr>
          <p:cNvPr name="Group 32" id="32"/>
          <p:cNvGrpSpPr/>
          <p:nvPr/>
        </p:nvGrpSpPr>
        <p:grpSpPr>
          <a:xfrm rot="0">
            <a:off x="7963074" y="1636869"/>
            <a:ext cx="9691911" cy="7470277"/>
            <a:chOff x="0" y="0"/>
            <a:chExt cx="2246994" cy="1731926"/>
          </a:xfrm>
        </p:grpSpPr>
        <p:sp>
          <p:nvSpPr>
            <p:cNvPr name="Freeform 33" id="33"/>
            <p:cNvSpPr/>
            <p:nvPr/>
          </p:nvSpPr>
          <p:spPr>
            <a:xfrm flipH="false" flipV="false" rot="0">
              <a:off x="0" y="0"/>
              <a:ext cx="2246994" cy="1731926"/>
            </a:xfrm>
            <a:custGeom>
              <a:avLst/>
              <a:gdLst/>
              <a:ahLst/>
              <a:cxnLst/>
              <a:rect r="r" b="b" t="t" l="l"/>
              <a:pathLst>
                <a:path h="1731926" w="2246994">
                  <a:moveTo>
                    <a:pt x="42337" y="0"/>
                  </a:moveTo>
                  <a:lnTo>
                    <a:pt x="2204658" y="0"/>
                  </a:lnTo>
                  <a:cubicBezTo>
                    <a:pt x="2215886" y="0"/>
                    <a:pt x="2226655" y="4460"/>
                    <a:pt x="2234594" y="12400"/>
                  </a:cubicBezTo>
                  <a:cubicBezTo>
                    <a:pt x="2242534" y="20340"/>
                    <a:pt x="2246994" y="31108"/>
                    <a:pt x="2246994" y="42337"/>
                  </a:cubicBezTo>
                  <a:lnTo>
                    <a:pt x="2246994" y="1689589"/>
                  </a:lnTo>
                  <a:cubicBezTo>
                    <a:pt x="2246994" y="1700818"/>
                    <a:pt x="2242534" y="1711586"/>
                    <a:pt x="2234594" y="1719526"/>
                  </a:cubicBezTo>
                  <a:cubicBezTo>
                    <a:pt x="2226655" y="1727465"/>
                    <a:pt x="2215886" y="1731926"/>
                    <a:pt x="2204658" y="1731926"/>
                  </a:cubicBezTo>
                  <a:lnTo>
                    <a:pt x="42337" y="1731926"/>
                  </a:lnTo>
                  <a:cubicBezTo>
                    <a:pt x="31108" y="1731926"/>
                    <a:pt x="20340" y="1727465"/>
                    <a:pt x="12400" y="1719526"/>
                  </a:cubicBezTo>
                  <a:cubicBezTo>
                    <a:pt x="4460" y="1711586"/>
                    <a:pt x="0" y="1700818"/>
                    <a:pt x="0" y="1689589"/>
                  </a:cubicBezTo>
                  <a:lnTo>
                    <a:pt x="0" y="42337"/>
                  </a:lnTo>
                  <a:cubicBezTo>
                    <a:pt x="0" y="31108"/>
                    <a:pt x="4460" y="20340"/>
                    <a:pt x="12400" y="12400"/>
                  </a:cubicBezTo>
                  <a:cubicBezTo>
                    <a:pt x="20340" y="4460"/>
                    <a:pt x="31108" y="0"/>
                    <a:pt x="42337" y="0"/>
                  </a:cubicBezTo>
                  <a:close/>
                </a:path>
              </a:pathLst>
            </a:custGeom>
            <a:blipFill>
              <a:blip r:embed="rId7"/>
              <a:stretch>
                <a:fillRect l="-18973" t="0" r="-18973" b="0"/>
              </a:stretch>
            </a:blipFill>
            <a:ln w="142875" cap="rnd">
              <a:solidFill>
                <a:srgbClr val="E57C7C"/>
              </a:solidFill>
              <a:prstDash val="solid"/>
              <a:round/>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054122" y="1028700"/>
            <a:ext cx="4112762" cy="486186"/>
            <a:chOff x="0" y="0"/>
            <a:chExt cx="5483683" cy="648248"/>
          </a:xfrm>
        </p:grpSpPr>
        <p:grpSp>
          <p:nvGrpSpPr>
            <p:cNvPr name="Group 3" id="3"/>
            <p:cNvGrpSpPr/>
            <p:nvPr/>
          </p:nvGrpSpPr>
          <p:grpSpPr>
            <a:xfrm rot="0">
              <a:off x="0" y="0"/>
              <a:ext cx="675833" cy="648248"/>
              <a:chOff x="0" y="0"/>
              <a:chExt cx="622300" cy="596900"/>
            </a:xfrm>
          </p:grpSpPr>
          <p:sp>
            <p:nvSpPr>
              <p:cNvPr name="Freeform 4" id="4"/>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5" id="5"/>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6" id="6"/>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grpSp>
        <p:nvGrpSpPr>
          <p:cNvPr name="Group 7" id="7"/>
          <p:cNvGrpSpPr/>
          <p:nvPr/>
        </p:nvGrpSpPr>
        <p:grpSpPr>
          <a:xfrm rot="0">
            <a:off x="1054122" y="4868654"/>
            <a:ext cx="4921400" cy="3412973"/>
            <a:chOff x="0" y="0"/>
            <a:chExt cx="398871" cy="276616"/>
          </a:xfrm>
        </p:grpSpPr>
        <p:sp>
          <p:nvSpPr>
            <p:cNvPr name="Freeform 8" id="8"/>
            <p:cNvSpPr/>
            <p:nvPr/>
          </p:nvSpPr>
          <p:spPr>
            <a:xfrm flipH="false" flipV="false" rot="0">
              <a:off x="0" y="0"/>
              <a:ext cx="398871" cy="276616"/>
            </a:xfrm>
            <a:custGeom>
              <a:avLst/>
              <a:gdLst/>
              <a:ahLst/>
              <a:cxnLst/>
              <a:rect r="r" b="b" t="t" l="l"/>
              <a:pathLst>
                <a:path h="276616" w="398871">
                  <a:moveTo>
                    <a:pt x="47193" y="0"/>
                  </a:moveTo>
                  <a:lnTo>
                    <a:pt x="351678" y="0"/>
                  </a:lnTo>
                  <a:cubicBezTo>
                    <a:pt x="364194" y="0"/>
                    <a:pt x="376198" y="4972"/>
                    <a:pt x="385049" y="13823"/>
                  </a:cubicBezTo>
                  <a:cubicBezTo>
                    <a:pt x="393899" y="22673"/>
                    <a:pt x="398871" y="34677"/>
                    <a:pt x="398871" y="47193"/>
                  </a:cubicBezTo>
                  <a:lnTo>
                    <a:pt x="398871" y="229422"/>
                  </a:lnTo>
                  <a:cubicBezTo>
                    <a:pt x="398871" y="241939"/>
                    <a:pt x="393899" y="253943"/>
                    <a:pt x="385049" y="262793"/>
                  </a:cubicBezTo>
                  <a:cubicBezTo>
                    <a:pt x="376198" y="271644"/>
                    <a:pt x="364194" y="276616"/>
                    <a:pt x="351678" y="276616"/>
                  </a:cubicBezTo>
                  <a:lnTo>
                    <a:pt x="47193" y="276616"/>
                  </a:lnTo>
                  <a:cubicBezTo>
                    <a:pt x="34677" y="276616"/>
                    <a:pt x="22673" y="271644"/>
                    <a:pt x="13823" y="262793"/>
                  </a:cubicBezTo>
                  <a:cubicBezTo>
                    <a:pt x="4972" y="253943"/>
                    <a:pt x="0" y="241939"/>
                    <a:pt x="0" y="229422"/>
                  </a:cubicBezTo>
                  <a:lnTo>
                    <a:pt x="0" y="47193"/>
                  </a:lnTo>
                  <a:cubicBezTo>
                    <a:pt x="0" y="34677"/>
                    <a:pt x="4972" y="22673"/>
                    <a:pt x="13823" y="13823"/>
                  </a:cubicBezTo>
                  <a:cubicBezTo>
                    <a:pt x="22673" y="4972"/>
                    <a:pt x="34677" y="0"/>
                    <a:pt x="47193" y="0"/>
                  </a:cubicBezTo>
                  <a:close/>
                </a:path>
              </a:pathLst>
            </a:custGeom>
            <a:solidFill>
              <a:srgbClr val="E57C7C"/>
            </a:solidFill>
          </p:spPr>
        </p:sp>
        <p:sp>
          <p:nvSpPr>
            <p:cNvPr name="TextBox 9" id="9"/>
            <p:cNvSpPr txBox="true"/>
            <p:nvPr/>
          </p:nvSpPr>
          <p:spPr>
            <a:xfrm>
              <a:off x="0" y="-66675"/>
              <a:ext cx="398871" cy="343291"/>
            </a:xfrm>
            <a:prstGeom prst="rect">
              <a:avLst/>
            </a:prstGeom>
          </p:spPr>
          <p:txBody>
            <a:bodyPr anchor="ctr" rtlCol="false" tIns="50800" lIns="50800" bIns="50800" rIns="50800"/>
            <a:lstStyle/>
            <a:p>
              <a:pPr algn="ctr">
                <a:lnSpc>
                  <a:spcPts val="3150"/>
                </a:lnSpc>
              </a:pPr>
            </a:p>
          </p:txBody>
        </p:sp>
      </p:grpSp>
      <p:grpSp>
        <p:nvGrpSpPr>
          <p:cNvPr name="Group 10" id="10"/>
          <p:cNvGrpSpPr/>
          <p:nvPr/>
        </p:nvGrpSpPr>
        <p:grpSpPr>
          <a:xfrm rot="0">
            <a:off x="11338128" y="1514886"/>
            <a:ext cx="5921172" cy="7743414"/>
            <a:chOff x="0" y="0"/>
            <a:chExt cx="1372778" cy="1795250"/>
          </a:xfrm>
        </p:grpSpPr>
        <p:sp>
          <p:nvSpPr>
            <p:cNvPr name="Freeform 11" id="11"/>
            <p:cNvSpPr/>
            <p:nvPr/>
          </p:nvSpPr>
          <p:spPr>
            <a:xfrm flipH="false" flipV="false" rot="0">
              <a:off x="0" y="0"/>
              <a:ext cx="1372778" cy="1795250"/>
            </a:xfrm>
            <a:custGeom>
              <a:avLst/>
              <a:gdLst/>
              <a:ahLst/>
              <a:cxnLst/>
              <a:rect r="r" b="b" t="t" l="l"/>
              <a:pathLst>
                <a:path h="1795250" w="1372778">
                  <a:moveTo>
                    <a:pt x="69297" y="0"/>
                  </a:moveTo>
                  <a:lnTo>
                    <a:pt x="1303480" y="0"/>
                  </a:lnTo>
                  <a:cubicBezTo>
                    <a:pt x="1321859" y="0"/>
                    <a:pt x="1339485" y="7301"/>
                    <a:pt x="1352481" y="20297"/>
                  </a:cubicBezTo>
                  <a:cubicBezTo>
                    <a:pt x="1365477" y="33293"/>
                    <a:pt x="1372778" y="50919"/>
                    <a:pt x="1372778" y="69297"/>
                  </a:cubicBezTo>
                  <a:lnTo>
                    <a:pt x="1372778" y="1725953"/>
                  </a:lnTo>
                  <a:cubicBezTo>
                    <a:pt x="1372778" y="1744332"/>
                    <a:pt x="1365477" y="1761958"/>
                    <a:pt x="1352481" y="1774953"/>
                  </a:cubicBezTo>
                  <a:cubicBezTo>
                    <a:pt x="1339485" y="1787949"/>
                    <a:pt x="1321859" y="1795250"/>
                    <a:pt x="1303480" y="1795250"/>
                  </a:cubicBezTo>
                  <a:lnTo>
                    <a:pt x="69297" y="1795250"/>
                  </a:lnTo>
                  <a:cubicBezTo>
                    <a:pt x="50919" y="1795250"/>
                    <a:pt x="33293" y="1787949"/>
                    <a:pt x="20297" y="1774953"/>
                  </a:cubicBezTo>
                  <a:cubicBezTo>
                    <a:pt x="7301" y="1761958"/>
                    <a:pt x="0" y="1744332"/>
                    <a:pt x="0" y="1725953"/>
                  </a:cubicBezTo>
                  <a:lnTo>
                    <a:pt x="0" y="69297"/>
                  </a:lnTo>
                  <a:cubicBezTo>
                    <a:pt x="0" y="50919"/>
                    <a:pt x="7301" y="33293"/>
                    <a:pt x="20297" y="20297"/>
                  </a:cubicBezTo>
                  <a:cubicBezTo>
                    <a:pt x="33293" y="7301"/>
                    <a:pt x="50919" y="0"/>
                    <a:pt x="69297" y="0"/>
                  </a:cubicBezTo>
                  <a:close/>
                </a:path>
              </a:pathLst>
            </a:custGeom>
            <a:blipFill>
              <a:blip r:embed="rId2"/>
              <a:stretch>
                <a:fillRect l="-39619" t="0" r="-92869" b="0"/>
              </a:stretch>
            </a:blipFill>
            <a:ln w="142875" cap="rnd">
              <a:solidFill>
                <a:srgbClr val="E57C7C"/>
              </a:solidFill>
              <a:prstDash val="solid"/>
              <a:round/>
            </a:ln>
          </p:spPr>
        </p:sp>
      </p:grpSp>
      <p:grpSp>
        <p:nvGrpSpPr>
          <p:cNvPr name="Group 12" id="12"/>
          <p:cNvGrpSpPr/>
          <p:nvPr/>
        </p:nvGrpSpPr>
        <p:grpSpPr>
          <a:xfrm rot="0">
            <a:off x="6197653" y="4868654"/>
            <a:ext cx="4921400" cy="3412973"/>
            <a:chOff x="0" y="0"/>
            <a:chExt cx="398871" cy="276616"/>
          </a:xfrm>
        </p:grpSpPr>
        <p:sp>
          <p:nvSpPr>
            <p:cNvPr name="Freeform 13" id="13"/>
            <p:cNvSpPr/>
            <p:nvPr/>
          </p:nvSpPr>
          <p:spPr>
            <a:xfrm flipH="false" flipV="false" rot="0">
              <a:off x="0" y="0"/>
              <a:ext cx="398871" cy="276616"/>
            </a:xfrm>
            <a:custGeom>
              <a:avLst/>
              <a:gdLst/>
              <a:ahLst/>
              <a:cxnLst/>
              <a:rect r="r" b="b" t="t" l="l"/>
              <a:pathLst>
                <a:path h="276616" w="398871">
                  <a:moveTo>
                    <a:pt x="47193" y="0"/>
                  </a:moveTo>
                  <a:lnTo>
                    <a:pt x="351678" y="0"/>
                  </a:lnTo>
                  <a:cubicBezTo>
                    <a:pt x="364194" y="0"/>
                    <a:pt x="376198" y="4972"/>
                    <a:pt x="385049" y="13823"/>
                  </a:cubicBezTo>
                  <a:cubicBezTo>
                    <a:pt x="393899" y="22673"/>
                    <a:pt x="398871" y="34677"/>
                    <a:pt x="398871" y="47193"/>
                  </a:cubicBezTo>
                  <a:lnTo>
                    <a:pt x="398871" y="229422"/>
                  </a:lnTo>
                  <a:cubicBezTo>
                    <a:pt x="398871" y="241939"/>
                    <a:pt x="393899" y="253943"/>
                    <a:pt x="385049" y="262793"/>
                  </a:cubicBezTo>
                  <a:cubicBezTo>
                    <a:pt x="376198" y="271644"/>
                    <a:pt x="364194" y="276616"/>
                    <a:pt x="351678" y="276616"/>
                  </a:cubicBezTo>
                  <a:lnTo>
                    <a:pt x="47193" y="276616"/>
                  </a:lnTo>
                  <a:cubicBezTo>
                    <a:pt x="34677" y="276616"/>
                    <a:pt x="22673" y="271644"/>
                    <a:pt x="13823" y="262793"/>
                  </a:cubicBezTo>
                  <a:cubicBezTo>
                    <a:pt x="4972" y="253943"/>
                    <a:pt x="0" y="241939"/>
                    <a:pt x="0" y="229422"/>
                  </a:cubicBezTo>
                  <a:lnTo>
                    <a:pt x="0" y="47193"/>
                  </a:lnTo>
                  <a:cubicBezTo>
                    <a:pt x="0" y="34677"/>
                    <a:pt x="4972" y="22673"/>
                    <a:pt x="13823" y="13823"/>
                  </a:cubicBezTo>
                  <a:cubicBezTo>
                    <a:pt x="22673" y="4972"/>
                    <a:pt x="34677" y="0"/>
                    <a:pt x="47193" y="0"/>
                  </a:cubicBezTo>
                  <a:close/>
                </a:path>
              </a:pathLst>
            </a:custGeom>
            <a:solidFill>
              <a:srgbClr val="E57C7C"/>
            </a:solidFill>
          </p:spPr>
        </p:sp>
        <p:sp>
          <p:nvSpPr>
            <p:cNvPr name="TextBox 14" id="14"/>
            <p:cNvSpPr txBox="true"/>
            <p:nvPr/>
          </p:nvSpPr>
          <p:spPr>
            <a:xfrm>
              <a:off x="0" y="-66675"/>
              <a:ext cx="398871" cy="343291"/>
            </a:xfrm>
            <a:prstGeom prst="rect">
              <a:avLst/>
            </a:prstGeom>
          </p:spPr>
          <p:txBody>
            <a:bodyPr anchor="ctr" rtlCol="false" tIns="50800" lIns="50800" bIns="50800" rIns="50800"/>
            <a:lstStyle/>
            <a:p>
              <a:pPr algn="ctr">
                <a:lnSpc>
                  <a:spcPts val="3150"/>
                </a:lnSpc>
              </a:pPr>
            </a:p>
          </p:txBody>
        </p:sp>
      </p:grpSp>
      <p:sp>
        <p:nvSpPr>
          <p:cNvPr name="TextBox 15" id="15"/>
          <p:cNvSpPr txBox="true"/>
          <p:nvPr/>
        </p:nvSpPr>
        <p:spPr>
          <a:xfrm rot="0">
            <a:off x="1054122" y="1807073"/>
            <a:ext cx="8981144" cy="1192530"/>
          </a:xfrm>
          <a:prstGeom prst="rect">
            <a:avLst/>
          </a:prstGeom>
        </p:spPr>
        <p:txBody>
          <a:bodyPr anchor="t" rtlCol="false" tIns="0" lIns="0" bIns="0" rIns="0">
            <a:spAutoFit/>
          </a:bodyPr>
          <a:lstStyle/>
          <a:p>
            <a:pPr algn="l">
              <a:lnSpc>
                <a:spcPts val="9360"/>
              </a:lnSpc>
            </a:pPr>
            <a:r>
              <a:rPr lang="en-US" sz="8000" spc="-80" b="true">
                <a:solidFill>
                  <a:srgbClr val="000000"/>
                </a:solidFill>
                <a:latin typeface="Helvetica Now Display Bold"/>
                <a:ea typeface="Helvetica Now Display Bold"/>
                <a:cs typeface="Helvetica Now Display Bold"/>
                <a:sym typeface="Helvetica Now Display Bold"/>
              </a:rPr>
              <a:t>Target User</a:t>
            </a:r>
          </a:p>
        </p:txBody>
      </p:sp>
      <p:sp>
        <p:nvSpPr>
          <p:cNvPr name="TextBox 16" id="16"/>
          <p:cNvSpPr txBox="true"/>
          <p:nvPr/>
        </p:nvSpPr>
        <p:spPr>
          <a:xfrm rot="0">
            <a:off x="1731885" y="5347421"/>
            <a:ext cx="4246693" cy="351790"/>
          </a:xfrm>
          <a:prstGeom prst="rect">
            <a:avLst/>
          </a:prstGeom>
        </p:spPr>
        <p:txBody>
          <a:bodyPr anchor="t" rtlCol="false" tIns="0" lIns="0" bIns="0" rIns="0">
            <a:spAutoFit/>
          </a:bodyPr>
          <a:lstStyle/>
          <a:p>
            <a:pPr algn="l">
              <a:lnSpc>
                <a:spcPts val="2990"/>
              </a:lnSpc>
            </a:pPr>
            <a:r>
              <a:rPr lang="en-US" b="true" sz="2300">
                <a:solidFill>
                  <a:srgbClr val="000000"/>
                </a:solidFill>
                <a:latin typeface="Open Sauce Bold"/>
                <a:ea typeface="Open Sauce Bold"/>
                <a:cs typeface="Open Sauce Bold"/>
                <a:sym typeface="Open Sauce Bold"/>
              </a:rPr>
              <a:t>01</a:t>
            </a:r>
          </a:p>
        </p:txBody>
      </p:sp>
      <p:sp>
        <p:nvSpPr>
          <p:cNvPr name="TextBox 17" id="17"/>
          <p:cNvSpPr txBox="true"/>
          <p:nvPr/>
        </p:nvSpPr>
        <p:spPr>
          <a:xfrm rot="0">
            <a:off x="6754624" y="5347421"/>
            <a:ext cx="4246693" cy="351790"/>
          </a:xfrm>
          <a:prstGeom prst="rect">
            <a:avLst/>
          </a:prstGeom>
        </p:spPr>
        <p:txBody>
          <a:bodyPr anchor="t" rtlCol="false" tIns="0" lIns="0" bIns="0" rIns="0">
            <a:spAutoFit/>
          </a:bodyPr>
          <a:lstStyle/>
          <a:p>
            <a:pPr algn="l">
              <a:lnSpc>
                <a:spcPts val="2990"/>
              </a:lnSpc>
            </a:pPr>
            <a:r>
              <a:rPr lang="en-US" b="true" sz="2300">
                <a:solidFill>
                  <a:srgbClr val="000000"/>
                </a:solidFill>
                <a:latin typeface="Open Sauce Bold"/>
                <a:ea typeface="Open Sauce Bold"/>
                <a:cs typeface="Open Sauce Bold"/>
                <a:sym typeface="Open Sauce Bold"/>
              </a:rPr>
              <a:t>02</a:t>
            </a:r>
          </a:p>
        </p:txBody>
      </p:sp>
      <p:sp>
        <p:nvSpPr>
          <p:cNvPr name="TextBox 18" id="18"/>
          <p:cNvSpPr txBox="true"/>
          <p:nvPr/>
        </p:nvSpPr>
        <p:spPr>
          <a:xfrm rot="0">
            <a:off x="1731885" y="5913466"/>
            <a:ext cx="3812809" cy="1986915"/>
          </a:xfrm>
          <a:prstGeom prst="rect">
            <a:avLst/>
          </a:prstGeom>
        </p:spPr>
        <p:txBody>
          <a:bodyPr anchor="t" rtlCol="false" tIns="0" lIns="0" bIns="0" rIns="0">
            <a:spAutoFit/>
          </a:bodyPr>
          <a:lstStyle/>
          <a:p>
            <a:pPr algn="l">
              <a:lnSpc>
                <a:spcPts val="3150"/>
              </a:lnSpc>
            </a:pPr>
            <a:r>
              <a:rPr lang="en-US" sz="2100" b="true">
                <a:solidFill>
                  <a:srgbClr val="000000"/>
                </a:solidFill>
                <a:latin typeface="Open Sauce Bold"/>
                <a:ea typeface="Open Sauce Bold"/>
                <a:cs typeface="Open Sauce Bold"/>
                <a:sym typeface="Open Sauce Bold"/>
              </a:rPr>
              <a:t>Primary buyer</a:t>
            </a:r>
          </a:p>
          <a:p>
            <a:pPr algn="l">
              <a:lnSpc>
                <a:spcPts val="3150"/>
              </a:lnSpc>
            </a:pPr>
          </a:p>
          <a:p>
            <a:pPr algn="l">
              <a:lnSpc>
                <a:spcPts val="3150"/>
              </a:lnSpc>
            </a:pPr>
            <a:r>
              <a:rPr lang="en-US" sz="2100">
                <a:solidFill>
                  <a:srgbClr val="000000"/>
                </a:solidFill>
                <a:latin typeface="Open Sauce"/>
                <a:ea typeface="Open Sauce"/>
                <a:cs typeface="Open Sauce"/>
                <a:sym typeface="Open Sauce"/>
              </a:rPr>
              <a:t>Owner / operations manager của shop hoặc clinic</a:t>
            </a:r>
          </a:p>
          <a:p>
            <a:pPr algn="l">
              <a:lnSpc>
                <a:spcPts val="3150"/>
              </a:lnSpc>
            </a:pPr>
          </a:p>
        </p:txBody>
      </p:sp>
      <p:sp>
        <p:nvSpPr>
          <p:cNvPr name="TextBox 19" id="19"/>
          <p:cNvSpPr txBox="true"/>
          <p:nvPr/>
        </p:nvSpPr>
        <p:spPr>
          <a:xfrm rot="0">
            <a:off x="6754624" y="5857340"/>
            <a:ext cx="4246693" cy="1186815"/>
          </a:xfrm>
          <a:prstGeom prst="rect">
            <a:avLst/>
          </a:prstGeom>
        </p:spPr>
        <p:txBody>
          <a:bodyPr anchor="t" rtlCol="false" tIns="0" lIns="0" bIns="0" rIns="0">
            <a:spAutoFit/>
          </a:bodyPr>
          <a:lstStyle/>
          <a:p>
            <a:pPr algn="l">
              <a:lnSpc>
                <a:spcPts val="3150"/>
              </a:lnSpc>
            </a:pPr>
            <a:r>
              <a:rPr lang="en-US" sz="2100" b="true">
                <a:solidFill>
                  <a:srgbClr val="000000"/>
                </a:solidFill>
                <a:latin typeface="Open Sauce Bold"/>
                <a:ea typeface="Open Sauce Bold"/>
                <a:cs typeface="Open Sauce Bold"/>
                <a:sym typeface="Open Sauce Bold"/>
              </a:rPr>
              <a:t>Prima</a:t>
            </a:r>
            <a:r>
              <a:rPr lang="en-US" sz="2100" b="true">
                <a:solidFill>
                  <a:srgbClr val="000000"/>
                </a:solidFill>
                <a:latin typeface="Open Sauce Bold"/>
                <a:ea typeface="Open Sauce Bold"/>
                <a:cs typeface="Open Sauce Bold"/>
                <a:sym typeface="Open Sauce Bold"/>
              </a:rPr>
              <a:t>ry user</a:t>
            </a:r>
          </a:p>
          <a:p>
            <a:pPr algn="l">
              <a:lnSpc>
                <a:spcPts val="3150"/>
              </a:lnSpc>
            </a:pPr>
          </a:p>
          <a:p>
            <a:pPr algn="l">
              <a:lnSpc>
                <a:spcPts val="3150"/>
              </a:lnSpc>
            </a:pPr>
            <a:r>
              <a:rPr lang="en-US" sz="2100">
                <a:solidFill>
                  <a:srgbClr val="000000"/>
                </a:solidFill>
                <a:latin typeface="Open Sauce"/>
                <a:ea typeface="Open Sauce"/>
                <a:cs typeface="Open Sauce"/>
                <a:sym typeface="Open Sauce"/>
              </a:rPr>
              <a:t>Sales / CS / booking team</a:t>
            </a:r>
          </a:p>
        </p:txBody>
      </p:sp>
      <p:sp>
        <p:nvSpPr>
          <p:cNvPr name="TextBox 20" id="20"/>
          <p:cNvSpPr txBox="true"/>
          <p:nvPr/>
        </p:nvSpPr>
        <p:spPr>
          <a:xfrm rot="0">
            <a:off x="1054122" y="3516450"/>
            <a:ext cx="9727577" cy="674369"/>
          </a:xfrm>
          <a:prstGeom prst="rect">
            <a:avLst/>
          </a:prstGeom>
        </p:spPr>
        <p:txBody>
          <a:bodyPr anchor="t" rtlCol="false" tIns="0" lIns="0" bIns="0" rIns="0">
            <a:spAutoFit/>
          </a:bodyPr>
          <a:lstStyle/>
          <a:p>
            <a:pPr algn="l" marL="0" indent="0" lvl="0">
              <a:lnSpc>
                <a:spcPts val="2700"/>
              </a:lnSpc>
              <a:spcBef>
                <a:spcPct val="0"/>
              </a:spcBef>
            </a:pPr>
            <a:r>
              <a:rPr lang="en-US" b="true" sz="1800">
                <a:solidFill>
                  <a:srgbClr val="000000"/>
                </a:solidFill>
                <a:latin typeface="Open Sauce Bold"/>
                <a:ea typeface="Open Sauce Bold"/>
                <a:cs typeface="Open Sauce Bold"/>
                <a:sym typeface="Open Sauce Bold"/>
              </a:rPr>
              <a:t>Pai</a:t>
            </a:r>
            <a:r>
              <a:rPr lang="en-US" b="true" sz="1800" strike="noStrike" u="none">
                <a:solidFill>
                  <a:srgbClr val="000000"/>
                </a:solidFill>
                <a:latin typeface="Open Sauce Bold"/>
                <a:ea typeface="Open Sauce Bold"/>
                <a:cs typeface="Open Sauce Bold"/>
                <a:sym typeface="Open Sauce Bold"/>
              </a:rPr>
              <a:t>n</a:t>
            </a:r>
            <a:r>
              <a:rPr lang="en-US" sz="1800" strike="noStrike" u="none">
                <a:solidFill>
                  <a:srgbClr val="000000"/>
                </a:solidFill>
                <a:latin typeface="Open Sauce"/>
                <a:ea typeface="Open Sauce"/>
                <a:cs typeface="Open Sauce"/>
                <a:sym typeface="Open Sauce"/>
              </a:rPr>
              <a:t>:   </a:t>
            </a:r>
            <a:r>
              <a:rPr lang="en-US" sz="1800" strike="noStrike" u="none">
                <a:solidFill>
                  <a:srgbClr val="000000"/>
                </a:solidFill>
                <a:latin typeface="Open Sauce"/>
                <a:ea typeface="Open Sauce"/>
                <a:cs typeface="Open Sauce"/>
                <a:sym typeface="Open Sauce"/>
              </a:rPr>
              <a:t>inbox nhiều, follow-up</a:t>
            </a:r>
            <a:r>
              <a:rPr lang="en-US" sz="1800" strike="noStrike" u="none">
                <a:solidFill>
                  <a:srgbClr val="000000"/>
                </a:solidFill>
                <a:latin typeface="Open Sauce"/>
                <a:ea typeface="Open Sauce"/>
                <a:cs typeface="Open Sauce"/>
                <a:sym typeface="Open Sauce"/>
              </a:rPr>
              <a:t> chậm,</a:t>
            </a:r>
            <a:r>
              <a:rPr lang="en-US" sz="1800" strike="noStrike" u="none">
                <a:solidFill>
                  <a:srgbClr val="000000"/>
                </a:solidFill>
                <a:latin typeface="Open Sauce"/>
                <a:ea typeface="Open Sauce"/>
                <a:cs typeface="Open Sauce"/>
                <a:sym typeface="Open Sauce"/>
              </a:rPr>
              <a:t> b</a:t>
            </a:r>
            <a:r>
              <a:rPr lang="en-US" sz="1800" strike="noStrike" u="none">
                <a:solidFill>
                  <a:srgbClr val="000000"/>
                </a:solidFill>
                <a:latin typeface="Open Sauce"/>
                <a:ea typeface="Open Sauce"/>
                <a:cs typeface="Open Sauce"/>
                <a:sym typeface="Open Sauce"/>
              </a:rPr>
              <a:t>ỏ </a:t>
            </a:r>
            <a:r>
              <a:rPr lang="en-US" sz="1800" strike="noStrike" u="none">
                <a:solidFill>
                  <a:srgbClr val="000000"/>
                </a:solidFill>
                <a:latin typeface="Open Sauce"/>
                <a:ea typeface="Open Sauce"/>
                <a:cs typeface="Open Sauce"/>
                <a:sym typeface="Open Sauce"/>
              </a:rPr>
              <a:t>sót</a:t>
            </a:r>
            <a:r>
              <a:rPr lang="en-US" sz="1800" strike="noStrike" u="none">
                <a:solidFill>
                  <a:srgbClr val="000000"/>
                </a:solidFill>
                <a:latin typeface="Open Sauce"/>
                <a:ea typeface="Open Sauce"/>
                <a:cs typeface="Open Sauce"/>
                <a:sym typeface="Open Sauce"/>
              </a:rPr>
              <a:t> le</a:t>
            </a:r>
            <a:r>
              <a:rPr lang="en-US" sz="1800" strike="noStrike" u="none">
                <a:solidFill>
                  <a:srgbClr val="000000"/>
                </a:solidFill>
                <a:latin typeface="Open Sauce"/>
                <a:ea typeface="Open Sauce"/>
                <a:cs typeface="Open Sauce"/>
                <a:sym typeface="Open Sauce"/>
              </a:rPr>
              <a:t>ad, wor</a:t>
            </a:r>
            <a:r>
              <a:rPr lang="en-US" sz="1800" strike="noStrike" u="none">
                <a:solidFill>
                  <a:srgbClr val="000000"/>
                </a:solidFill>
                <a:latin typeface="Open Sauce"/>
                <a:ea typeface="Open Sauce"/>
                <a:cs typeface="Open Sauce"/>
                <a:sym typeface="Open Sauce"/>
              </a:rPr>
              <a:t>kfl</a:t>
            </a:r>
            <a:r>
              <a:rPr lang="en-US" sz="1800" strike="noStrike" u="none">
                <a:solidFill>
                  <a:srgbClr val="000000"/>
                </a:solidFill>
                <a:latin typeface="Open Sauce"/>
                <a:ea typeface="Open Sauce"/>
                <a:cs typeface="Open Sauce"/>
                <a:sym typeface="Open Sauce"/>
              </a:rPr>
              <a:t>o</a:t>
            </a:r>
            <a:r>
              <a:rPr lang="en-US" sz="1800" strike="noStrike" u="none">
                <a:solidFill>
                  <a:srgbClr val="000000"/>
                </a:solidFill>
                <a:latin typeface="Open Sauce"/>
                <a:ea typeface="Open Sauce"/>
                <a:cs typeface="Open Sauce"/>
                <a:sym typeface="Open Sauce"/>
              </a:rPr>
              <a:t>w</a:t>
            </a:r>
            <a:r>
              <a:rPr lang="en-US" sz="1800" strike="noStrike" u="none">
                <a:solidFill>
                  <a:srgbClr val="000000"/>
                </a:solidFill>
                <a:latin typeface="Open Sauce"/>
                <a:ea typeface="Open Sauce"/>
                <a:cs typeface="Open Sauce"/>
                <a:sym typeface="Open Sauce"/>
              </a:rPr>
              <a:t> l</a:t>
            </a:r>
            <a:r>
              <a:rPr lang="en-US" sz="1800" strike="noStrike" u="none">
                <a:solidFill>
                  <a:srgbClr val="000000"/>
                </a:solidFill>
                <a:latin typeface="Open Sauce"/>
                <a:ea typeface="Open Sauce"/>
                <a:cs typeface="Open Sauce"/>
                <a:sym typeface="Open Sauce"/>
              </a:rPr>
              <a:t>ặp </a:t>
            </a:r>
            <a:r>
              <a:rPr lang="en-US" sz="1800" strike="noStrike" u="none">
                <a:solidFill>
                  <a:srgbClr val="000000"/>
                </a:solidFill>
                <a:latin typeface="Open Sauce"/>
                <a:ea typeface="Open Sauce"/>
                <a:cs typeface="Open Sauce"/>
                <a:sym typeface="Open Sauce"/>
              </a:rPr>
              <a:t>l</a:t>
            </a:r>
            <a:r>
              <a:rPr lang="en-US" sz="1800" strike="noStrike" u="none">
                <a:solidFill>
                  <a:srgbClr val="000000"/>
                </a:solidFill>
                <a:latin typeface="Open Sauce"/>
                <a:ea typeface="Open Sauce"/>
                <a:cs typeface="Open Sauce"/>
                <a:sym typeface="Open Sauce"/>
              </a:rPr>
              <a:t>ại</a:t>
            </a:r>
          </a:p>
          <a:p>
            <a:pPr algn="l" marL="0" indent="0" lvl="0">
              <a:lnSpc>
                <a:spcPts val="2700"/>
              </a:lnSpc>
              <a:spcBef>
                <a:spcPct val="0"/>
              </a:spcBef>
            </a:pPr>
            <a:r>
              <a:rPr lang="en-US" b="true" sz="1800" strike="noStrike" u="none">
                <a:solidFill>
                  <a:srgbClr val="000000"/>
                </a:solidFill>
                <a:latin typeface="Open Sauce Bold"/>
                <a:ea typeface="Open Sauce Bold"/>
                <a:cs typeface="Open Sauce Bold"/>
                <a:sym typeface="Open Sauce Bold"/>
              </a:rPr>
              <a:t>Willingness to pa</a:t>
            </a:r>
            <a:r>
              <a:rPr lang="en-US" b="true" sz="1800" strike="noStrike" u="none">
                <a:solidFill>
                  <a:srgbClr val="000000"/>
                </a:solidFill>
                <a:latin typeface="Open Sauce Bold"/>
                <a:ea typeface="Open Sauce Bold"/>
                <a:cs typeface="Open Sauce Bold"/>
                <a:sym typeface="Open Sauce Bold"/>
              </a:rPr>
              <a:t>y</a:t>
            </a:r>
            <a:r>
              <a:rPr lang="en-US" sz="1800" strike="noStrike" u="none">
                <a:solidFill>
                  <a:srgbClr val="000000"/>
                </a:solidFill>
                <a:latin typeface="Open Sauce"/>
                <a:ea typeface="Open Sauce"/>
                <a:cs typeface="Open Sauce"/>
                <a:sym typeface="Open Sauce"/>
              </a:rPr>
              <a:t>: nếu g</a:t>
            </a:r>
            <a:r>
              <a:rPr lang="en-US" sz="1800" strike="noStrike" u="none">
                <a:solidFill>
                  <a:srgbClr val="000000"/>
                </a:solidFill>
                <a:latin typeface="Open Sauce"/>
                <a:ea typeface="Open Sauce"/>
                <a:cs typeface="Open Sauce"/>
                <a:sym typeface="Open Sauce"/>
              </a:rPr>
              <a:t>iảm được nhân sự hoặc tăn</a:t>
            </a:r>
            <a:r>
              <a:rPr lang="en-US" sz="1800" strike="noStrike" u="none">
                <a:solidFill>
                  <a:srgbClr val="000000"/>
                </a:solidFill>
                <a:latin typeface="Open Sauce"/>
                <a:ea typeface="Open Sauce"/>
                <a:cs typeface="Open Sauce"/>
                <a:sym typeface="Open Sauce"/>
              </a:rPr>
              <a:t>g</a:t>
            </a:r>
            <a:r>
              <a:rPr lang="en-US" sz="1800" strike="noStrike" u="none">
                <a:solidFill>
                  <a:srgbClr val="000000"/>
                </a:solidFill>
                <a:latin typeface="Open Sauce"/>
                <a:ea typeface="Open Sauce"/>
                <a:cs typeface="Open Sauce"/>
                <a:sym typeface="Open Sauce"/>
              </a:rPr>
              <a:t> conversion rõ ràng</a:t>
            </a:r>
          </a:p>
        </p:txBody>
      </p:sp>
      <p:sp>
        <p:nvSpPr>
          <p:cNvPr name="Freeform 21" id="21"/>
          <p:cNvSpPr/>
          <p:nvPr/>
        </p:nvSpPr>
        <p:spPr>
          <a:xfrm flipH="false" flipV="false" rot="0">
            <a:off x="8563697" y="1341501"/>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3">
              <a:extLst>
                <a:ext uri="{96DAC541-7B7A-43D3-8B79-37D633B846F1}">
                  <asvg:svgBlip xmlns:asvg="http://schemas.microsoft.com/office/drawing/2016/SVG/main" r:embed="rId4"/>
                </a:ext>
              </a:extLst>
            </a:blip>
            <a:stretch>
              <a:fillRect l="0" t="0" r="-75980" b="-360761"/>
            </a:stretch>
          </a:blipFill>
        </p:spPr>
      </p:sp>
      <p:sp>
        <p:nvSpPr>
          <p:cNvPr name="Freeform 22" id="22"/>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054122" y="1028700"/>
            <a:ext cx="4112762" cy="486186"/>
            <a:chOff x="0" y="0"/>
            <a:chExt cx="5483683" cy="648248"/>
          </a:xfrm>
        </p:grpSpPr>
        <p:grpSp>
          <p:nvGrpSpPr>
            <p:cNvPr name="Group 3" id="3"/>
            <p:cNvGrpSpPr/>
            <p:nvPr/>
          </p:nvGrpSpPr>
          <p:grpSpPr>
            <a:xfrm rot="0">
              <a:off x="0" y="0"/>
              <a:ext cx="675833" cy="648248"/>
              <a:chOff x="0" y="0"/>
              <a:chExt cx="622300" cy="596900"/>
            </a:xfrm>
          </p:grpSpPr>
          <p:sp>
            <p:nvSpPr>
              <p:cNvPr name="Freeform 4" id="4"/>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5" id="5"/>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6" id="6"/>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grpSp>
        <p:nvGrpSpPr>
          <p:cNvPr name="Group 7" id="7"/>
          <p:cNvGrpSpPr/>
          <p:nvPr/>
        </p:nvGrpSpPr>
        <p:grpSpPr>
          <a:xfrm rot="0">
            <a:off x="1054122" y="4868654"/>
            <a:ext cx="4921400" cy="3412973"/>
            <a:chOff x="0" y="0"/>
            <a:chExt cx="398871" cy="276616"/>
          </a:xfrm>
        </p:grpSpPr>
        <p:sp>
          <p:nvSpPr>
            <p:cNvPr name="Freeform 8" id="8"/>
            <p:cNvSpPr/>
            <p:nvPr/>
          </p:nvSpPr>
          <p:spPr>
            <a:xfrm flipH="false" flipV="false" rot="0">
              <a:off x="0" y="0"/>
              <a:ext cx="398871" cy="276616"/>
            </a:xfrm>
            <a:custGeom>
              <a:avLst/>
              <a:gdLst/>
              <a:ahLst/>
              <a:cxnLst/>
              <a:rect r="r" b="b" t="t" l="l"/>
              <a:pathLst>
                <a:path h="276616" w="398871">
                  <a:moveTo>
                    <a:pt x="47193" y="0"/>
                  </a:moveTo>
                  <a:lnTo>
                    <a:pt x="351678" y="0"/>
                  </a:lnTo>
                  <a:cubicBezTo>
                    <a:pt x="364194" y="0"/>
                    <a:pt x="376198" y="4972"/>
                    <a:pt x="385049" y="13823"/>
                  </a:cubicBezTo>
                  <a:cubicBezTo>
                    <a:pt x="393899" y="22673"/>
                    <a:pt x="398871" y="34677"/>
                    <a:pt x="398871" y="47193"/>
                  </a:cubicBezTo>
                  <a:lnTo>
                    <a:pt x="398871" y="229422"/>
                  </a:lnTo>
                  <a:cubicBezTo>
                    <a:pt x="398871" y="241939"/>
                    <a:pt x="393899" y="253943"/>
                    <a:pt x="385049" y="262793"/>
                  </a:cubicBezTo>
                  <a:cubicBezTo>
                    <a:pt x="376198" y="271644"/>
                    <a:pt x="364194" y="276616"/>
                    <a:pt x="351678" y="276616"/>
                  </a:cubicBezTo>
                  <a:lnTo>
                    <a:pt x="47193" y="276616"/>
                  </a:lnTo>
                  <a:cubicBezTo>
                    <a:pt x="34677" y="276616"/>
                    <a:pt x="22673" y="271644"/>
                    <a:pt x="13823" y="262793"/>
                  </a:cubicBezTo>
                  <a:cubicBezTo>
                    <a:pt x="4972" y="253943"/>
                    <a:pt x="0" y="241939"/>
                    <a:pt x="0" y="229422"/>
                  </a:cubicBezTo>
                  <a:lnTo>
                    <a:pt x="0" y="47193"/>
                  </a:lnTo>
                  <a:cubicBezTo>
                    <a:pt x="0" y="34677"/>
                    <a:pt x="4972" y="22673"/>
                    <a:pt x="13823" y="13823"/>
                  </a:cubicBezTo>
                  <a:cubicBezTo>
                    <a:pt x="22673" y="4972"/>
                    <a:pt x="34677" y="0"/>
                    <a:pt x="47193" y="0"/>
                  </a:cubicBezTo>
                  <a:close/>
                </a:path>
              </a:pathLst>
            </a:custGeom>
            <a:solidFill>
              <a:srgbClr val="E57C7C"/>
            </a:solidFill>
          </p:spPr>
        </p:sp>
        <p:sp>
          <p:nvSpPr>
            <p:cNvPr name="TextBox 9" id="9"/>
            <p:cNvSpPr txBox="true"/>
            <p:nvPr/>
          </p:nvSpPr>
          <p:spPr>
            <a:xfrm>
              <a:off x="0" y="-66675"/>
              <a:ext cx="398871" cy="343291"/>
            </a:xfrm>
            <a:prstGeom prst="rect">
              <a:avLst/>
            </a:prstGeom>
          </p:spPr>
          <p:txBody>
            <a:bodyPr anchor="ctr" rtlCol="false" tIns="50800" lIns="50800" bIns="50800" rIns="50800"/>
            <a:lstStyle/>
            <a:p>
              <a:pPr algn="ctr">
                <a:lnSpc>
                  <a:spcPts val="3150"/>
                </a:lnSpc>
              </a:pPr>
            </a:p>
          </p:txBody>
        </p:sp>
      </p:grpSp>
      <p:grpSp>
        <p:nvGrpSpPr>
          <p:cNvPr name="Group 10" id="10"/>
          <p:cNvGrpSpPr/>
          <p:nvPr/>
        </p:nvGrpSpPr>
        <p:grpSpPr>
          <a:xfrm rot="0">
            <a:off x="11338128" y="1514886"/>
            <a:ext cx="5921172" cy="7743414"/>
            <a:chOff x="0" y="0"/>
            <a:chExt cx="1372778" cy="1795250"/>
          </a:xfrm>
        </p:grpSpPr>
        <p:sp>
          <p:nvSpPr>
            <p:cNvPr name="Freeform 11" id="11"/>
            <p:cNvSpPr/>
            <p:nvPr/>
          </p:nvSpPr>
          <p:spPr>
            <a:xfrm flipH="false" flipV="false" rot="0">
              <a:off x="0" y="0"/>
              <a:ext cx="1372778" cy="1795250"/>
            </a:xfrm>
            <a:custGeom>
              <a:avLst/>
              <a:gdLst/>
              <a:ahLst/>
              <a:cxnLst/>
              <a:rect r="r" b="b" t="t" l="l"/>
              <a:pathLst>
                <a:path h="1795250" w="1372778">
                  <a:moveTo>
                    <a:pt x="69297" y="0"/>
                  </a:moveTo>
                  <a:lnTo>
                    <a:pt x="1303480" y="0"/>
                  </a:lnTo>
                  <a:cubicBezTo>
                    <a:pt x="1321859" y="0"/>
                    <a:pt x="1339485" y="7301"/>
                    <a:pt x="1352481" y="20297"/>
                  </a:cubicBezTo>
                  <a:cubicBezTo>
                    <a:pt x="1365477" y="33293"/>
                    <a:pt x="1372778" y="50919"/>
                    <a:pt x="1372778" y="69297"/>
                  </a:cubicBezTo>
                  <a:lnTo>
                    <a:pt x="1372778" y="1725953"/>
                  </a:lnTo>
                  <a:cubicBezTo>
                    <a:pt x="1372778" y="1744332"/>
                    <a:pt x="1365477" y="1761958"/>
                    <a:pt x="1352481" y="1774953"/>
                  </a:cubicBezTo>
                  <a:cubicBezTo>
                    <a:pt x="1339485" y="1787949"/>
                    <a:pt x="1321859" y="1795250"/>
                    <a:pt x="1303480" y="1795250"/>
                  </a:cubicBezTo>
                  <a:lnTo>
                    <a:pt x="69297" y="1795250"/>
                  </a:lnTo>
                  <a:cubicBezTo>
                    <a:pt x="50919" y="1795250"/>
                    <a:pt x="33293" y="1787949"/>
                    <a:pt x="20297" y="1774953"/>
                  </a:cubicBezTo>
                  <a:cubicBezTo>
                    <a:pt x="7301" y="1761958"/>
                    <a:pt x="0" y="1744332"/>
                    <a:pt x="0" y="1725953"/>
                  </a:cubicBezTo>
                  <a:lnTo>
                    <a:pt x="0" y="69297"/>
                  </a:lnTo>
                  <a:cubicBezTo>
                    <a:pt x="0" y="50919"/>
                    <a:pt x="7301" y="33293"/>
                    <a:pt x="20297" y="20297"/>
                  </a:cubicBezTo>
                  <a:cubicBezTo>
                    <a:pt x="33293" y="7301"/>
                    <a:pt x="50919" y="0"/>
                    <a:pt x="69297" y="0"/>
                  </a:cubicBezTo>
                  <a:close/>
                </a:path>
              </a:pathLst>
            </a:custGeom>
            <a:blipFill>
              <a:blip r:embed="rId2"/>
              <a:stretch>
                <a:fillRect l="-39619" t="0" r="-92869" b="0"/>
              </a:stretch>
            </a:blipFill>
            <a:ln w="142875" cap="rnd">
              <a:solidFill>
                <a:srgbClr val="E57C7C"/>
              </a:solidFill>
              <a:prstDash val="solid"/>
              <a:round/>
            </a:ln>
          </p:spPr>
        </p:sp>
      </p:grpSp>
      <p:grpSp>
        <p:nvGrpSpPr>
          <p:cNvPr name="Group 12" id="12"/>
          <p:cNvGrpSpPr/>
          <p:nvPr/>
        </p:nvGrpSpPr>
        <p:grpSpPr>
          <a:xfrm rot="0">
            <a:off x="6197653" y="4868654"/>
            <a:ext cx="4921400" cy="3412973"/>
            <a:chOff x="0" y="0"/>
            <a:chExt cx="398871" cy="276616"/>
          </a:xfrm>
        </p:grpSpPr>
        <p:sp>
          <p:nvSpPr>
            <p:cNvPr name="Freeform 13" id="13"/>
            <p:cNvSpPr/>
            <p:nvPr/>
          </p:nvSpPr>
          <p:spPr>
            <a:xfrm flipH="false" flipV="false" rot="0">
              <a:off x="0" y="0"/>
              <a:ext cx="398871" cy="276616"/>
            </a:xfrm>
            <a:custGeom>
              <a:avLst/>
              <a:gdLst/>
              <a:ahLst/>
              <a:cxnLst/>
              <a:rect r="r" b="b" t="t" l="l"/>
              <a:pathLst>
                <a:path h="276616" w="398871">
                  <a:moveTo>
                    <a:pt x="47193" y="0"/>
                  </a:moveTo>
                  <a:lnTo>
                    <a:pt x="351678" y="0"/>
                  </a:lnTo>
                  <a:cubicBezTo>
                    <a:pt x="364194" y="0"/>
                    <a:pt x="376198" y="4972"/>
                    <a:pt x="385049" y="13823"/>
                  </a:cubicBezTo>
                  <a:cubicBezTo>
                    <a:pt x="393899" y="22673"/>
                    <a:pt x="398871" y="34677"/>
                    <a:pt x="398871" y="47193"/>
                  </a:cubicBezTo>
                  <a:lnTo>
                    <a:pt x="398871" y="229422"/>
                  </a:lnTo>
                  <a:cubicBezTo>
                    <a:pt x="398871" y="241939"/>
                    <a:pt x="393899" y="253943"/>
                    <a:pt x="385049" y="262793"/>
                  </a:cubicBezTo>
                  <a:cubicBezTo>
                    <a:pt x="376198" y="271644"/>
                    <a:pt x="364194" y="276616"/>
                    <a:pt x="351678" y="276616"/>
                  </a:cubicBezTo>
                  <a:lnTo>
                    <a:pt x="47193" y="276616"/>
                  </a:lnTo>
                  <a:cubicBezTo>
                    <a:pt x="34677" y="276616"/>
                    <a:pt x="22673" y="271644"/>
                    <a:pt x="13823" y="262793"/>
                  </a:cubicBezTo>
                  <a:cubicBezTo>
                    <a:pt x="4972" y="253943"/>
                    <a:pt x="0" y="241939"/>
                    <a:pt x="0" y="229422"/>
                  </a:cubicBezTo>
                  <a:lnTo>
                    <a:pt x="0" y="47193"/>
                  </a:lnTo>
                  <a:cubicBezTo>
                    <a:pt x="0" y="34677"/>
                    <a:pt x="4972" y="22673"/>
                    <a:pt x="13823" y="13823"/>
                  </a:cubicBezTo>
                  <a:cubicBezTo>
                    <a:pt x="22673" y="4972"/>
                    <a:pt x="34677" y="0"/>
                    <a:pt x="47193" y="0"/>
                  </a:cubicBezTo>
                  <a:close/>
                </a:path>
              </a:pathLst>
            </a:custGeom>
            <a:solidFill>
              <a:srgbClr val="E57C7C"/>
            </a:solidFill>
          </p:spPr>
        </p:sp>
        <p:sp>
          <p:nvSpPr>
            <p:cNvPr name="TextBox 14" id="14"/>
            <p:cNvSpPr txBox="true"/>
            <p:nvPr/>
          </p:nvSpPr>
          <p:spPr>
            <a:xfrm>
              <a:off x="0" y="-66675"/>
              <a:ext cx="398871" cy="343291"/>
            </a:xfrm>
            <a:prstGeom prst="rect">
              <a:avLst/>
            </a:prstGeom>
          </p:spPr>
          <p:txBody>
            <a:bodyPr anchor="ctr" rtlCol="false" tIns="50800" lIns="50800" bIns="50800" rIns="50800"/>
            <a:lstStyle/>
            <a:p>
              <a:pPr algn="ctr">
                <a:lnSpc>
                  <a:spcPts val="3150"/>
                </a:lnSpc>
              </a:pPr>
            </a:p>
          </p:txBody>
        </p:sp>
      </p:grpSp>
      <p:sp>
        <p:nvSpPr>
          <p:cNvPr name="TextBox 15" id="15"/>
          <p:cNvSpPr txBox="true"/>
          <p:nvPr/>
        </p:nvSpPr>
        <p:spPr>
          <a:xfrm rot="0">
            <a:off x="1079544" y="2190570"/>
            <a:ext cx="8981144" cy="1192530"/>
          </a:xfrm>
          <a:prstGeom prst="rect">
            <a:avLst/>
          </a:prstGeom>
        </p:spPr>
        <p:txBody>
          <a:bodyPr anchor="t" rtlCol="false" tIns="0" lIns="0" bIns="0" rIns="0">
            <a:spAutoFit/>
          </a:bodyPr>
          <a:lstStyle/>
          <a:p>
            <a:pPr algn="l">
              <a:lnSpc>
                <a:spcPts val="9360"/>
              </a:lnSpc>
            </a:pPr>
            <a:r>
              <a:rPr lang="en-US" sz="8000" spc="-80" b="true">
                <a:solidFill>
                  <a:srgbClr val="000000"/>
                </a:solidFill>
                <a:latin typeface="Helvetica Now Display Bold"/>
                <a:ea typeface="Helvetica Now Display Bold"/>
                <a:cs typeface="Helvetica Now Display Bold"/>
                <a:sym typeface="Helvetica Now Display Bold"/>
              </a:rPr>
              <a:t>Busin</a:t>
            </a:r>
            <a:r>
              <a:rPr lang="en-US" b="true" sz="8000" spc="-80">
                <a:solidFill>
                  <a:srgbClr val="000000"/>
                </a:solidFill>
                <a:latin typeface="Helvetica Now Display Bold"/>
                <a:ea typeface="Helvetica Now Display Bold"/>
                <a:cs typeface="Helvetica Now Display Bold"/>
                <a:sym typeface="Helvetica Now Display Bold"/>
              </a:rPr>
              <a:t>ess Model</a:t>
            </a:r>
          </a:p>
        </p:txBody>
      </p:sp>
      <p:sp>
        <p:nvSpPr>
          <p:cNvPr name="TextBox 16" id="16"/>
          <p:cNvSpPr txBox="true"/>
          <p:nvPr/>
        </p:nvSpPr>
        <p:spPr>
          <a:xfrm rot="0">
            <a:off x="1731885" y="5347421"/>
            <a:ext cx="4246693" cy="351790"/>
          </a:xfrm>
          <a:prstGeom prst="rect">
            <a:avLst/>
          </a:prstGeom>
        </p:spPr>
        <p:txBody>
          <a:bodyPr anchor="t" rtlCol="false" tIns="0" lIns="0" bIns="0" rIns="0">
            <a:spAutoFit/>
          </a:bodyPr>
          <a:lstStyle/>
          <a:p>
            <a:pPr algn="l">
              <a:lnSpc>
                <a:spcPts val="2990"/>
              </a:lnSpc>
            </a:pPr>
            <a:r>
              <a:rPr lang="en-US" b="true" sz="2300">
                <a:solidFill>
                  <a:srgbClr val="000000"/>
                </a:solidFill>
                <a:latin typeface="Open Sauce Bold"/>
                <a:ea typeface="Open Sauce Bold"/>
                <a:cs typeface="Open Sauce Bold"/>
                <a:sym typeface="Open Sauce Bold"/>
              </a:rPr>
              <a:t>01</a:t>
            </a:r>
          </a:p>
        </p:txBody>
      </p:sp>
      <p:sp>
        <p:nvSpPr>
          <p:cNvPr name="TextBox 17" id="17"/>
          <p:cNvSpPr txBox="true"/>
          <p:nvPr/>
        </p:nvSpPr>
        <p:spPr>
          <a:xfrm rot="0">
            <a:off x="6754624" y="5347421"/>
            <a:ext cx="4246693" cy="351790"/>
          </a:xfrm>
          <a:prstGeom prst="rect">
            <a:avLst/>
          </a:prstGeom>
        </p:spPr>
        <p:txBody>
          <a:bodyPr anchor="t" rtlCol="false" tIns="0" lIns="0" bIns="0" rIns="0">
            <a:spAutoFit/>
          </a:bodyPr>
          <a:lstStyle/>
          <a:p>
            <a:pPr algn="l">
              <a:lnSpc>
                <a:spcPts val="2990"/>
              </a:lnSpc>
            </a:pPr>
            <a:r>
              <a:rPr lang="en-US" b="true" sz="2300">
                <a:solidFill>
                  <a:srgbClr val="000000"/>
                </a:solidFill>
                <a:latin typeface="Open Sauce Bold"/>
                <a:ea typeface="Open Sauce Bold"/>
                <a:cs typeface="Open Sauce Bold"/>
                <a:sym typeface="Open Sauce Bold"/>
              </a:rPr>
              <a:t>02</a:t>
            </a:r>
          </a:p>
        </p:txBody>
      </p:sp>
      <p:sp>
        <p:nvSpPr>
          <p:cNvPr name="TextBox 18" id="18"/>
          <p:cNvSpPr txBox="true"/>
          <p:nvPr/>
        </p:nvSpPr>
        <p:spPr>
          <a:xfrm rot="0">
            <a:off x="1731885" y="5913466"/>
            <a:ext cx="4246693" cy="1586865"/>
          </a:xfrm>
          <a:prstGeom prst="rect">
            <a:avLst/>
          </a:prstGeom>
        </p:spPr>
        <p:txBody>
          <a:bodyPr anchor="t" rtlCol="false" tIns="0" lIns="0" bIns="0" rIns="0">
            <a:spAutoFit/>
          </a:bodyPr>
          <a:lstStyle/>
          <a:p>
            <a:pPr algn="l">
              <a:lnSpc>
                <a:spcPts val="3150"/>
              </a:lnSpc>
            </a:pPr>
            <a:r>
              <a:rPr lang="en-US" sz="2100" b="true">
                <a:solidFill>
                  <a:srgbClr val="000000"/>
                </a:solidFill>
                <a:latin typeface="Open Sauce Bold"/>
                <a:ea typeface="Open Sauce Bold"/>
                <a:cs typeface="Open Sauce Bold"/>
                <a:sym typeface="Open Sauce Bold"/>
              </a:rPr>
              <a:t>S</a:t>
            </a:r>
            <a:r>
              <a:rPr lang="en-US" sz="2100" b="true">
                <a:solidFill>
                  <a:srgbClr val="000000"/>
                </a:solidFill>
                <a:latin typeface="Open Sauce Bold"/>
                <a:ea typeface="Open Sauce Bold"/>
                <a:cs typeface="Open Sauce Bold"/>
                <a:sym typeface="Open Sauce Bold"/>
              </a:rPr>
              <a:t>ubscription plans</a:t>
            </a:r>
          </a:p>
          <a:p>
            <a:pPr algn="l">
              <a:lnSpc>
                <a:spcPts val="3150"/>
              </a:lnSpc>
            </a:pPr>
          </a:p>
          <a:p>
            <a:pPr algn="l">
              <a:lnSpc>
                <a:spcPts val="3150"/>
              </a:lnSpc>
            </a:pPr>
            <a:r>
              <a:rPr lang="en-US" sz="2100">
                <a:solidFill>
                  <a:srgbClr val="000000"/>
                </a:solidFill>
                <a:latin typeface="Open Sauce"/>
                <a:ea typeface="Open Sauce"/>
                <a:cs typeface="Open Sauce"/>
                <a:sym typeface="Open Sauce"/>
              </a:rPr>
              <a:t> Platform fee hàng tháng</a:t>
            </a:r>
          </a:p>
          <a:p>
            <a:pPr algn="l">
              <a:lnSpc>
                <a:spcPts val="3150"/>
              </a:lnSpc>
            </a:pPr>
          </a:p>
        </p:txBody>
      </p:sp>
      <p:sp>
        <p:nvSpPr>
          <p:cNvPr name="TextBox 19" id="19"/>
          <p:cNvSpPr txBox="true"/>
          <p:nvPr/>
        </p:nvSpPr>
        <p:spPr>
          <a:xfrm rot="0">
            <a:off x="6754624" y="5823035"/>
            <a:ext cx="4246693" cy="1586865"/>
          </a:xfrm>
          <a:prstGeom prst="rect">
            <a:avLst/>
          </a:prstGeom>
        </p:spPr>
        <p:txBody>
          <a:bodyPr anchor="t" rtlCol="false" tIns="0" lIns="0" bIns="0" rIns="0">
            <a:spAutoFit/>
          </a:bodyPr>
          <a:lstStyle/>
          <a:p>
            <a:pPr algn="l">
              <a:lnSpc>
                <a:spcPts val="3150"/>
              </a:lnSpc>
            </a:pPr>
            <a:r>
              <a:rPr lang="en-US" sz="2100" b="true">
                <a:solidFill>
                  <a:srgbClr val="000000"/>
                </a:solidFill>
                <a:latin typeface="Open Sauce Bold"/>
                <a:ea typeface="Open Sauce Bold"/>
                <a:cs typeface="Open Sauce Bold"/>
                <a:sym typeface="Open Sauce Bold"/>
              </a:rPr>
              <a:t>Custom-d</a:t>
            </a:r>
            <a:r>
              <a:rPr lang="en-US" sz="2100" b="true">
                <a:solidFill>
                  <a:srgbClr val="000000"/>
                </a:solidFill>
                <a:latin typeface="Open Sauce Bold"/>
                <a:ea typeface="Open Sauce Bold"/>
                <a:cs typeface="Open Sauce Bold"/>
                <a:sym typeface="Open Sauce Bold"/>
              </a:rPr>
              <a:t>riven plans</a:t>
            </a:r>
          </a:p>
          <a:p>
            <a:pPr algn="l">
              <a:lnSpc>
                <a:spcPts val="3150"/>
              </a:lnSpc>
            </a:pPr>
          </a:p>
          <a:p>
            <a:pPr algn="l">
              <a:lnSpc>
                <a:spcPts val="3150"/>
              </a:lnSpc>
            </a:pPr>
            <a:r>
              <a:rPr lang="en-US" sz="2100">
                <a:solidFill>
                  <a:srgbClr val="000000"/>
                </a:solidFill>
                <a:latin typeface="Open Sauce"/>
                <a:ea typeface="Open Sauce"/>
                <a:cs typeface="Open Sauce"/>
                <a:sym typeface="Open Sauce"/>
              </a:rPr>
              <a:t> Workflow-based hoặc outcome-based pricing</a:t>
            </a:r>
          </a:p>
        </p:txBody>
      </p:sp>
      <p:sp>
        <p:nvSpPr>
          <p:cNvPr name="TextBox 20" id="20"/>
          <p:cNvSpPr txBox="true"/>
          <p:nvPr/>
        </p:nvSpPr>
        <p:spPr>
          <a:xfrm rot="0">
            <a:off x="1054122" y="3516450"/>
            <a:ext cx="9727577" cy="1017269"/>
          </a:xfrm>
          <a:prstGeom prst="rect">
            <a:avLst/>
          </a:prstGeom>
        </p:spPr>
        <p:txBody>
          <a:bodyPr anchor="t" rtlCol="false" tIns="0" lIns="0" bIns="0" rIns="0">
            <a:spAutoFit/>
          </a:bodyPr>
          <a:lstStyle/>
          <a:p>
            <a:pPr algn="l" marL="0" indent="0" lvl="0">
              <a:lnSpc>
                <a:spcPts val="2700"/>
              </a:lnSpc>
              <a:spcBef>
                <a:spcPct val="0"/>
              </a:spcBef>
            </a:pPr>
            <a:r>
              <a:rPr lang="en-US" sz="1800">
                <a:solidFill>
                  <a:srgbClr val="000000"/>
                </a:solidFill>
                <a:latin typeface="Open Sauce"/>
                <a:ea typeface="Open Sauce"/>
                <a:cs typeface="Open Sauce"/>
                <a:sym typeface="Open Sauce"/>
              </a:rPr>
              <a:t>Ag</a:t>
            </a:r>
            <a:r>
              <a:rPr lang="en-US" sz="1800" strike="noStrike" u="none">
                <a:solidFill>
                  <a:srgbClr val="000000"/>
                </a:solidFill>
                <a:latin typeface="Open Sauce"/>
                <a:ea typeface="Open Sauce"/>
                <a:cs typeface="Open Sauce"/>
                <a:sym typeface="Open Sauce"/>
              </a:rPr>
              <a:t>e</a:t>
            </a:r>
            <a:r>
              <a:rPr lang="en-US" sz="1800" strike="noStrike" u="none">
                <a:solidFill>
                  <a:srgbClr val="000000"/>
                </a:solidFill>
                <a:latin typeface="Open Sauce"/>
                <a:ea typeface="Open Sauce"/>
                <a:cs typeface="Open Sauce"/>
                <a:sym typeface="Open Sauce"/>
              </a:rPr>
              <a:t>nt</a:t>
            </a:r>
            <a:r>
              <a:rPr lang="en-US" sz="1800" strike="noStrike" u="none">
                <a:solidFill>
                  <a:srgbClr val="000000"/>
                </a:solidFill>
                <a:latin typeface="Open Sauce"/>
                <a:ea typeface="Open Sauce"/>
                <a:cs typeface="Open Sauce"/>
                <a:sym typeface="Open Sauce"/>
              </a:rPr>
              <a:t>i</a:t>
            </a:r>
            <a:r>
              <a:rPr lang="en-US" sz="1800" strike="noStrike" u="none">
                <a:solidFill>
                  <a:srgbClr val="000000"/>
                </a:solidFill>
                <a:latin typeface="Open Sauce"/>
                <a:ea typeface="Open Sauce"/>
                <a:cs typeface="Open Sauce"/>
                <a:sym typeface="Open Sauce"/>
              </a:rPr>
              <a:t>fy</a:t>
            </a:r>
            <a:r>
              <a:rPr lang="en-US" sz="1800" strike="noStrike" u="none">
                <a:solidFill>
                  <a:srgbClr val="000000"/>
                </a:solidFill>
                <a:latin typeface="Open Sauce"/>
                <a:ea typeface="Open Sauce"/>
                <a:cs typeface="Open Sauce"/>
                <a:sym typeface="Open Sauce"/>
              </a:rPr>
              <a:t> o</a:t>
            </a:r>
            <a:r>
              <a:rPr lang="en-US" sz="1800" strike="noStrike" u="none">
                <a:solidFill>
                  <a:srgbClr val="000000"/>
                </a:solidFill>
                <a:latin typeface="Open Sauce"/>
                <a:ea typeface="Open Sauce"/>
                <a:cs typeface="Open Sauce"/>
                <a:sym typeface="Open Sauce"/>
              </a:rPr>
              <a:t>pe</a:t>
            </a:r>
            <a:r>
              <a:rPr lang="en-US" sz="1800" strike="noStrike" u="none">
                <a:solidFill>
                  <a:srgbClr val="000000"/>
                </a:solidFill>
                <a:latin typeface="Open Sauce"/>
                <a:ea typeface="Open Sauce"/>
                <a:cs typeface="Open Sauce"/>
                <a:sym typeface="Open Sauce"/>
              </a:rPr>
              <a:t>r</a:t>
            </a:r>
            <a:r>
              <a:rPr lang="en-US" sz="1800" strike="noStrike" u="none">
                <a:solidFill>
                  <a:srgbClr val="000000"/>
                </a:solidFill>
                <a:latin typeface="Open Sauce"/>
                <a:ea typeface="Open Sauce"/>
                <a:cs typeface="Open Sauce"/>
                <a:sym typeface="Open Sauce"/>
              </a:rPr>
              <a:t>ates</a:t>
            </a:r>
            <a:r>
              <a:rPr lang="en-US" sz="1800" strike="noStrike" u="none">
                <a:solidFill>
                  <a:srgbClr val="000000"/>
                </a:solidFill>
                <a:latin typeface="Open Sauce"/>
                <a:ea typeface="Open Sauce"/>
                <a:cs typeface="Open Sauce"/>
                <a:sym typeface="Open Sauce"/>
              </a:rPr>
              <a:t> </a:t>
            </a:r>
            <a:r>
              <a:rPr lang="en-US" sz="1800" strike="noStrike" u="none">
                <a:solidFill>
                  <a:srgbClr val="000000"/>
                </a:solidFill>
                <a:latin typeface="Open Sauce"/>
                <a:ea typeface="Open Sauce"/>
                <a:cs typeface="Open Sauce"/>
                <a:sym typeface="Open Sauce"/>
              </a:rPr>
              <a:t>a</a:t>
            </a:r>
            <a:r>
              <a:rPr lang="en-US" sz="1800" strike="noStrike" u="none">
                <a:solidFill>
                  <a:srgbClr val="000000"/>
                </a:solidFill>
                <a:latin typeface="Open Sauce"/>
                <a:ea typeface="Open Sauce"/>
                <a:cs typeface="Open Sauce"/>
                <a:sym typeface="Open Sauce"/>
              </a:rPr>
              <a:t>s a su</a:t>
            </a:r>
            <a:r>
              <a:rPr lang="en-US" sz="1800" strike="noStrike" u="none">
                <a:solidFill>
                  <a:srgbClr val="000000"/>
                </a:solidFill>
                <a:latin typeface="Open Sauce"/>
                <a:ea typeface="Open Sauce"/>
                <a:cs typeface="Open Sauce"/>
                <a:sym typeface="Open Sauce"/>
              </a:rPr>
              <a:t>b</a:t>
            </a:r>
            <a:r>
              <a:rPr lang="en-US" sz="1800" strike="noStrike" u="none">
                <a:solidFill>
                  <a:srgbClr val="000000"/>
                </a:solidFill>
                <a:latin typeface="Open Sauce"/>
                <a:ea typeface="Open Sauce"/>
                <a:cs typeface="Open Sauce"/>
                <a:sym typeface="Open Sauce"/>
              </a:rPr>
              <a:t>sc</a:t>
            </a:r>
            <a:r>
              <a:rPr lang="en-US" sz="1800" strike="noStrike" u="none">
                <a:solidFill>
                  <a:srgbClr val="000000"/>
                </a:solidFill>
                <a:latin typeface="Open Sauce"/>
                <a:ea typeface="Open Sauce"/>
                <a:cs typeface="Open Sauce"/>
                <a:sym typeface="Open Sauce"/>
              </a:rPr>
              <a:t>r</a:t>
            </a:r>
            <a:r>
              <a:rPr lang="en-US" sz="1800" strike="noStrike" u="none">
                <a:solidFill>
                  <a:srgbClr val="000000"/>
                </a:solidFill>
                <a:latin typeface="Open Sauce"/>
                <a:ea typeface="Open Sauce"/>
                <a:cs typeface="Open Sauce"/>
                <a:sym typeface="Open Sauce"/>
              </a:rPr>
              <a:t>i</a:t>
            </a:r>
            <a:r>
              <a:rPr lang="en-US" sz="1800" strike="noStrike" u="none">
                <a:solidFill>
                  <a:srgbClr val="000000"/>
                </a:solidFill>
                <a:latin typeface="Open Sauce"/>
                <a:ea typeface="Open Sauce"/>
                <a:cs typeface="Open Sauce"/>
                <a:sym typeface="Open Sauce"/>
              </a:rPr>
              <a:t>pt</a:t>
            </a:r>
            <a:r>
              <a:rPr lang="en-US" sz="1800" strike="noStrike" u="none">
                <a:solidFill>
                  <a:srgbClr val="000000"/>
                </a:solidFill>
                <a:latin typeface="Open Sauce"/>
                <a:ea typeface="Open Sauce"/>
                <a:cs typeface="Open Sauce"/>
                <a:sym typeface="Open Sauce"/>
              </a:rPr>
              <a:t>ion</a:t>
            </a:r>
            <a:r>
              <a:rPr lang="en-US" sz="1800" strike="noStrike" u="none">
                <a:solidFill>
                  <a:srgbClr val="000000"/>
                </a:solidFill>
                <a:latin typeface="Open Sauce"/>
                <a:ea typeface="Open Sauce"/>
                <a:cs typeface="Open Sauce"/>
                <a:sym typeface="Open Sauce"/>
              </a:rPr>
              <a:t>-ba</a:t>
            </a:r>
            <a:r>
              <a:rPr lang="en-US" sz="1800" strike="noStrike" u="none">
                <a:solidFill>
                  <a:srgbClr val="000000"/>
                </a:solidFill>
                <a:latin typeface="Open Sauce"/>
                <a:ea typeface="Open Sauce"/>
                <a:cs typeface="Open Sauce"/>
                <a:sym typeface="Open Sauce"/>
              </a:rPr>
              <a:t>se</a:t>
            </a:r>
            <a:r>
              <a:rPr lang="en-US" sz="1800" strike="noStrike" u="none">
                <a:solidFill>
                  <a:srgbClr val="000000"/>
                </a:solidFill>
                <a:latin typeface="Open Sauce"/>
                <a:ea typeface="Open Sauce"/>
                <a:cs typeface="Open Sauce"/>
                <a:sym typeface="Open Sauce"/>
              </a:rPr>
              <a:t>d</a:t>
            </a:r>
            <a:r>
              <a:rPr lang="en-US" sz="1800" strike="noStrike" u="none">
                <a:solidFill>
                  <a:srgbClr val="000000"/>
                </a:solidFill>
                <a:latin typeface="Open Sauce"/>
                <a:ea typeface="Open Sauce"/>
                <a:cs typeface="Open Sauce"/>
                <a:sym typeface="Open Sauce"/>
              </a:rPr>
              <a:t> </a:t>
            </a:r>
            <a:r>
              <a:rPr lang="en-US" sz="1800" strike="noStrike" u="none">
                <a:solidFill>
                  <a:srgbClr val="000000"/>
                </a:solidFill>
                <a:latin typeface="Open Sauce"/>
                <a:ea typeface="Open Sauce"/>
                <a:cs typeface="Open Sauce"/>
                <a:sym typeface="Open Sauce"/>
              </a:rPr>
              <a:t>SaaS</a:t>
            </a:r>
            <a:r>
              <a:rPr lang="en-US" sz="1800" strike="noStrike" u="none">
                <a:solidFill>
                  <a:srgbClr val="000000"/>
                </a:solidFill>
                <a:latin typeface="Open Sauce"/>
                <a:ea typeface="Open Sauce"/>
                <a:cs typeface="Open Sauce"/>
                <a:sym typeface="Open Sauce"/>
              </a:rPr>
              <a:t> </a:t>
            </a:r>
            <a:r>
              <a:rPr lang="en-US" sz="1800" strike="noStrike" u="none">
                <a:solidFill>
                  <a:srgbClr val="000000"/>
                </a:solidFill>
                <a:latin typeface="Open Sauce"/>
                <a:ea typeface="Open Sauce"/>
                <a:cs typeface="Open Sauce"/>
                <a:sym typeface="Open Sauce"/>
              </a:rPr>
              <a:t>pl</a:t>
            </a:r>
            <a:r>
              <a:rPr lang="en-US" sz="1800" strike="noStrike" u="none">
                <a:solidFill>
                  <a:srgbClr val="000000"/>
                </a:solidFill>
                <a:latin typeface="Open Sauce"/>
                <a:ea typeface="Open Sauce"/>
                <a:cs typeface="Open Sauce"/>
                <a:sym typeface="Open Sauce"/>
              </a:rPr>
              <a:t>a</a:t>
            </a:r>
            <a:r>
              <a:rPr lang="en-US" sz="1800" strike="noStrike" u="none">
                <a:solidFill>
                  <a:srgbClr val="000000"/>
                </a:solidFill>
                <a:latin typeface="Open Sauce"/>
                <a:ea typeface="Open Sauce"/>
                <a:cs typeface="Open Sauce"/>
                <a:sym typeface="Open Sauce"/>
              </a:rPr>
              <a:t>tfor</a:t>
            </a:r>
            <a:r>
              <a:rPr lang="en-US" sz="1800" strike="noStrike" u="none">
                <a:solidFill>
                  <a:srgbClr val="000000"/>
                </a:solidFill>
                <a:latin typeface="Open Sauce"/>
                <a:ea typeface="Open Sauce"/>
                <a:cs typeface="Open Sauce"/>
                <a:sym typeface="Open Sauce"/>
              </a:rPr>
              <a:t>m</a:t>
            </a:r>
            <a:r>
              <a:rPr lang="en-US" sz="1800" strike="noStrike" u="none">
                <a:solidFill>
                  <a:srgbClr val="000000"/>
                </a:solidFill>
                <a:latin typeface="Open Sauce"/>
                <a:ea typeface="Open Sauce"/>
                <a:cs typeface="Open Sauce"/>
                <a:sym typeface="Open Sauce"/>
              </a:rPr>
              <a:t>,</a:t>
            </a:r>
            <a:r>
              <a:rPr lang="en-US" sz="1800" strike="noStrike" u="none">
                <a:solidFill>
                  <a:srgbClr val="000000"/>
                </a:solidFill>
                <a:latin typeface="Open Sauce"/>
                <a:ea typeface="Open Sauce"/>
                <a:cs typeface="Open Sauce"/>
                <a:sym typeface="Open Sauce"/>
              </a:rPr>
              <a:t> </a:t>
            </a:r>
            <a:r>
              <a:rPr lang="en-US" sz="1800" strike="noStrike" u="none">
                <a:solidFill>
                  <a:srgbClr val="000000"/>
                </a:solidFill>
                <a:latin typeface="Open Sauce"/>
                <a:ea typeface="Open Sauce"/>
                <a:cs typeface="Open Sauce"/>
                <a:sym typeface="Open Sauce"/>
              </a:rPr>
              <a:t>prov</a:t>
            </a:r>
            <a:r>
              <a:rPr lang="en-US" sz="1800" strike="noStrike" u="none">
                <a:solidFill>
                  <a:srgbClr val="000000"/>
                </a:solidFill>
                <a:latin typeface="Open Sauce"/>
                <a:ea typeface="Open Sauce"/>
                <a:cs typeface="Open Sauce"/>
                <a:sym typeface="Open Sauce"/>
              </a:rPr>
              <a:t>i</a:t>
            </a:r>
            <a:r>
              <a:rPr lang="en-US" sz="1800" strike="noStrike" u="none">
                <a:solidFill>
                  <a:srgbClr val="000000"/>
                </a:solidFill>
                <a:latin typeface="Open Sauce"/>
                <a:ea typeface="Open Sauce"/>
                <a:cs typeface="Open Sauce"/>
                <a:sym typeface="Open Sauce"/>
              </a:rPr>
              <a:t>d</a:t>
            </a:r>
            <a:r>
              <a:rPr lang="en-US" sz="1800" strike="noStrike" u="none">
                <a:solidFill>
                  <a:srgbClr val="000000"/>
                </a:solidFill>
                <a:latin typeface="Open Sauce"/>
                <a:ea typeface="Open Sauce"/>
                <a:cs typeface="Open Sauce"/>
                <a:sym typeface="Open Sauce"/>
              </a:rPr>
              <a:t>i</a:t>
            </a:r>
            <a:r>
              <a:rPr lang="en-US" sz="1800" strike="noStrike" u="none">
                <a:solidFill>
                  <a:srgbClr val="000000"/>
                </a:solidFill>
                <a:latin typeface="Open Sauce"/>
                <a:ea typeface="Open Sauce"/>
                <a:cs typeface="Open Sauce"/>
                <a:sym typeface="Open Sauce"/>
              </a:rPr>
              <a:t>ng</a:t>
            </a:r>
            <a:r>
              <a:rPr lang="en-US" sz="1800" strike="noStrike" u="none">
                <a:solidFill>
                  <a:srgbClr val="000000"/>
                </a:solidFill>
                <a:latin typeface="Open Sauce"/>
                <a:ea typeface="Open Sauce"/>
                <a:cs typeface="Open Sauce"/>
                <a:sym typeface="Open Sauce"/>
              </a:rPr>
              <a:t> s</a:t>
            </a:r>
            <a:r>
              <a:rPr lang="en-US" sz="1800" strike="noStrike" u="none">
                <a:solidFill>
                  <a:srgbClr val="000000"/>
                </a:solidFill>
                <a:latin typeface="Open Sauce"/>
                <a:ea typeface="Open Sauce"/>
                <a:cs typeface="Open Sauce"/>
                <a:sym typeface="Open Sauce"/>
              </a:rPr>
              <a:t>c</a:t>
            </a:r>
            <a:r>
              <a:rPr lang="en-US" sz="1800" strike="noStrike" u="none">
                <a:solidFill>
                  <a:srgbClr val="000000"/>
                </a:solidFill>
                <a:latin typeface="Open Sauce"/>
                <a:ea typeface="Open Sauce"/>
                <a:cs typeface="Open Sauce"/>
                <a:sym typeface="Open Sauce"/>
              </a:rPr>
              <a:t>a</a:t>
            </a:r>
            <a:r>
              <a:rPr lang="en-US" sz="1800" strike="noStrike" u="none">
                <a:solidFill>
                  <a:srgbClr val="000000"/>
                </a:solidFill>
                <a:latin typeface="Open Sauce"/>
                <a:ea typeface="Open Sauce"/>
                <a:cs typeface="Open Sauce"/>
                <a:sym typeface="Open Sauce"/>
              </a:rPr>
              <a:t>l</a:t>
            </a:r>
            <a:r>
              <a:rPr lang="en-US" sz="1800" strike="noStrike" u="none">
                <a:solidFill>
                  <a:srgbClr val="000000"/>
                </a:solidFill>
                <a:latin typeface="Open Sauce"/>
                <a:ea typeface="Open Sauce"/>
                <a:cs typeface="Open Sauce"/>
                <a:sym typeface="Open Sauce"/>
              </a:rPr>
              <a:t>ab</a:t>
            </a:r>
            <a:r>
              <a:rPr lang="en-US" sz="1800" strike="noStrike" u="none">
                <a:solidFill>
                  <a:srgbClr val="000000"/>
                </a:solidFill>
                <a:latin typeface="Open Sauce"/>
                <a:ea typeface="Open Sauce"/>
                <a:cs typeface="Open Sauce"/>
                <a:sym typeface="Open Sauce"/>
              </a:rPr>
              <a:t>l</a:t>
            </a:r>
            <a:r>
              <a:rPr lang="en-US" sz="1800" strike="noStrike" u="none">
                <a:solidFill>
                  <a:srgbClr val="000000"/>
                </a:solidFill>
                <a:latin typeface="Open Sauce"/>
                <a:ea typeface="Open Sauce"/>
                <a:cs typeface="Open Sauce"/>
                <a:sym typeface="Open Sauce"/>
              </a:rPr>
              <a:t>e </a:t>
            </a:r>
            <a:r>
              <a:rPr lang="en-US" sz="1800" strike="noStrike" u="none">
                <a:solidFill>
                  <a:srgbClr val="000000"/>
                </a:solidFill>
                <a:latin typeface="Open Sauce"/>
                <a:ea typeface="Open Sauce"/>
                <a:cs typeface="Open Sauce"/>
                <a:sym typeface="Open Sauce"/>
              </a:rPr>
              <a:t>pr</a:t>
            </a:r>
            <a:r>
              <a:rPr lang="en-US" sz="1800" strike="noStrike" u="none">
                <a:solidFill>
                  <a:srgbClr val="000000"/>
                </a:solidFill>
                <a:latin typeface="Open Sauce"/>
                <a:ea typeface="Open Sauce"/>
                <a:cs typeface="Open Sauce"/>
                <a:sym typeface="Open Sauce"/>
              </a:rPr>
              <a:t>icing t</a:t>
            </a:r>
            <a:r>
              <a:rPr lang="en-US" sz="1800" strike="noStrike" u="none">
                <a:solidFill>
                  <a:srgbClr val="000000"/>
                </a:solidFill>
                <a:latin typeface="Open Sauce"/>
                <a:ea typeface="Open Sauce"/>
                <a:cs typeface="Open Sauce"/>
                <a:sym typeface="Open Sauce"/>
              </a:rPr>
              <a:t>a</a:t>
            </a:r>
            <a:r>
              <a:rPr lang="en-US" sz="1800" strike="noStrike" u="none">
                <a:solidFill>
                  <a:srgbClr val="000000"/>
                </a:solidFill>
                <a:latin typeface="Open Sauce"/>
                <a:ea typeface="Open Sauce"/>
                <a:cs typeface="Open Sauce"/>
                <a:sym typeface="Open Sauce"/>
              </a:rPr>
              <a:t>i</a:t>
            </a:r>
            <a:r>
              <a:rPr lang="en-US" sz="1800" strike="noStrike" u="none">
                <a:solidFill>
                  <a:srgbClr val="000000"/>
                </a:solidFill>
                <a:latin typeface="Open Sauce"/>
                <a:ea typeface="Open Sauce"/>
                <a:cs typeface="Open Sauce"/>
                <a:sym typeface="Open Sauce"/>
              </a:rPr>
              <a:t>lor</a:t>
            </a:r>
            <a:r>
              <a:rPr lang="en-US" sz="1800" strike="noStrike" u="none">
                <a:solidFill>
                  <a:srgbClr val="000000"/>
                </a:solidFill>
                <a:latin typeface="Open Sauce"/>
                <a:ea typeface="Open Sauce"/>
                <a:cs typeface="Open Sauce"/>
                <a:sym typeface="Open Sauce"/>
              </a:rPr>
              <a:t>ed </a:t>
            </a:r>
            <a:r>
              <a:rPr lang="en-US" sz="1800" strike="noStrike" u="none">
                <a:solidFill>
                  <a:srgbClr val="000000"/>
                </a:solidFill>
                <a:latin typeface="Open Sauce"/>
                <a:ea typeface="Open Sauce"/>
                <a:cs typeface="Open Sauce"/>
                <a:sym typeface="Open Sauce"/>
              </a:rPr>
              <a:t>fo</a:t>
            </a:r>
            <a:r>
              <a:rPr lang="en-US" sz="1800" strike="noStrike" u="none">
                <a:solidFill>
                  <a:srgbClr val="000000"/>
                </a:solidFill>
                <a:latin typeface="Open Sauce"/>
                <a:ea typeface="Open Sauce"/>
                <a:cs typeface="Open Sauce"/>
                <a:sym typeface="Open Sauce"/>
              </a:rPr>
              <a:t>r</a:t>
            </a:r>
            <a:r>
              <a:rPr lang="en-US" sz="1800" strike="noStrike" u="none">
                <a:solidFill>
                  <a:srgbClr val="000000"/>
                </a:solidFill>
                <a:latin typeface="Open Sauce"/>
                <a:ea typeface="Open Sauce"/>
                <a:cs typeface="Open Sauce"/>
                <a:sym typeface="Open Sauce"/>
              </a:rPr>
              <a:t> SME</a:t>
            </a:r>
            <a:r>
              <a:rPr lang="en-US" sz="1800" strike="noStrike" u="none">
                <a:solidFill>
                  <a:srgbClr val="000000"/>
                </a:solidFill>
                <a:latin typeface="Open Sauce"/>
                <a:ea typeface="Open Sauce"/>
                <a:cs typeface="Open Sauce"/>
                <a:sym typeface="Open Sauce"/>
              </a:rPr>
              <a:t>s </a:t>
            </a:r>
            <a:r>
              <a:rPr lang="en-US" sz="1800" strike="noStrike" u="none">
                <a:solidFill>
                  <a:srgbClr val="000000"/>
                </a:solidFill>
                <a:latin typeface="Open Sauce"/>
                <a:ea typeface="Open Sauce"/>
                <a:cs typeface="Open Sauce"/>
                <a:sym typeface="Open Sauce"/>
              </a:rPr>
              <a:t>an</a:t>
            </a:r>
            <a:r>
              <a:rPr lang="en-US" sz="1800" strike="noStrike" u="none">
                <a:solidFill>
                  <a:srgbClr val="000000"/>
                </a:solidFill>
                <a:latin typeface="Open Sauce"/>
                <a:ea typeface="Open Sauce"/>
                <a:cs typeface="Open Sauce"/>
                <a:sym typeface="Open Sauce"/>
              </a:rPr>
              <a:t>d </a:t>
            </a:r>
            <a:r>
              <a:rPr lang="en-US" sz="1800" strike="noStrike" u="none">
                <a:solidFill>
                  <a:srgbClr val="000000"/>
                </a:solidFill>
                <a:latin typeface="Open Sauce"/>
                <a:ea typeface="Open Sauce"/>
                <a:cs typeface="Open Sauce"/>
                <a:sym typeface="Open Sauce"/>
              </a:rPr>
              <a:t>ag</a:t>
            </a:r>
            <a:r>
              <a:rPr lang="en-US" sz="1800" strike="noStrike" u="none">
                <a:solidFill>
                  <a:srgbClr val="000000"/>
                </a:solidFill>
                <a:latin typeface="Open Sauce"/>
                <a:ea typeface="Open Sauce"/>
                <a:cs typeface="Open Sauce"/>
                <a:sym typeface="Open Sauce"/>
              </a:rPr>
              <a:t>encies.</a:t>
            </a:r>
          </a:p>
          <a:p>
            <a:pPr algn="l" marL="0" indent="0" lvl="0">
              <a:lnSpc>
                <a:spcPts val="2700"/>
              </a:lnSpc>
              <a:spcBef>
                <a:spcPct val="0"/>
              </a:spcBef>
            </a:pPr>
          </a:p>
        </p:txBody>
      </p:sp>
      <p:sp>
        <p:nvSpPr>
          <p:cNvPr name="Freeform 21" id="21"/>
          <p:cNvSpPr/>
          <p:nvPr/>
        </p:nvSpPr>
        <p:spPr>
          <a:xfrm flipH="false" flipV="false" rot="0">
            <a:off x="8563697" y="1341501"/>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3">
              <a:extLst>
                <a:ext uri="{96DAC541-7B7A-43D3-8B79-37D633B846F1}">
                  <asvg:svgBlip xmlns:asvg="http://schemas.microsoft.com/office/drawing/2016/SVG/main" r:embed="rId4"/>
                </a:ext>
              </a:extLst>
            </a:blip>
            <a:stretch>
              <a:fillRect l="0" t="0" r="-75980" b="-360761"/>
            </a:stretch>
          </a:blipFill>
        </p:spPr>
      </p:sp>
      <p:sp>
        <p:nvSpPr>
          <p:cNvPr name="Freeform 22" id="22"/>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054122" y="1028700"/>
            <a:ext cx="4112762" cy="486186"/>
            <a:chOff x="0" y="0"/>
            <a:chExt cx="5483683" cy="648248"/>
          </a:xfrm>
        </p:grpSpPr>
        <p:grpSp>
          <p:nvGrpSpPr>
            <p:cNvPr name="Group 3" id="3"/>
            <p:cNvGrpSpPr/>
            <p:nvPr/>
          </p:nvGrpSpPr>
          <p:grpSpPr>
            <a:xfrm rot="0">
              <a:off x="0" y="0"/>
              <a:ext cx="675833" cy="648248"/>
              <a:chOff x="0" y="0"/>
              <a:chExt cx="622300" cy="596900"/>
            </a:xfrm>
          </p:grpSpPr>
          <p:sp>
            <p:nvSpPr>
              <p:cNvPr name="Freeform 4" id="4"/>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5" id="5"/>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6" id="6"/>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grpSp>
        <p:nvGrpSpPr>
          <p:cNvPr name="Group 7" id="7"/>
          <p:cNvGrpSpPr/>
          <p:nvPr/>
        </p:nvGrpSpPr>
        <p:grpSpPr>
          <a:xfrm rot="0">
            <a:off x="10986044" y="1788023"/>
            <a:ext cx="6676687" cy="7470277"/>
            <a:chOff x="0" y="0"/>
            <a:chExt cx="1547938" cy="1731926"/>
          </a:xfrm>
        </p:grpSpPr>
        <p:sp>
          <p:nvSpPr>
            <p:cNvPr name="Freeform 8" id="8"/>
            <p:cNvSpPr/>
            <p:nvPr/>
          </p:nvSpPr>
          <p:spPr>
            <a:xfrm flipH="false" flipV="false" rot="0">
              <a:off x="0" y="0"/>
              <a:ext cx="1547938" cy="1731926"/>
            </a:xfrm>
            <a:custGeom>
              <a:avLst/>
              <a:gdLst/>
              <a:ahLst/>
              <a:cxnLst/>
              <a:rect r="r" b="b" t="t" l="l"/>
              <a:pathLst>
                <a:path h="1731926" w="1547938">
                  <a:moveTo>
                    <a:pt x="61456" y="0"/>
                  </a:moveTo>
                  <a:lnTo>
                    <a:pt x="1486482" y="0"/>
                  </a:lnTo>
                  <a:cubicBezTo>
                    <a:pt x="1502781" y="0"/>
                    <a:pt x="1518413" y="6475"/>
                    <a:pt x="1529938" y="18000"/>
                  </a:cubicBezTo>
                  <a:cubicBezTo>
                    <a:pt x="1541463" y="29525"/>
                    <a:pt x="1547938" y="45157"/>
                    <a:pt x="1547938" y="61456"/>
                  </a:cubicBezTo>
                  <a:lnTo>
                    <a:pt x="1547938" y="1670470"/>
                  </a:lnTo>
                  <a:cubicBezTo>
                    <a:pt x="1547938" y="1686769"/>
                    <a:pt x="1541463" y="1702401"/>
                    <a:pt x="1529938" y="1713926"/>
                  </a:cubicBezTo>
                  <a:cubicBezTo>
                    <a:pt x="1518413" y="1725451"/>
                    <a:pt x="1502781" y="1731926"/>
                    <a:pt x="1486482" y="1731926"/>
                  </a:cubicBezTo>
                  <a:lnTo>
                    <a:pt x="61456" y="1731926"/>
                  </a:lnTo>
                  <a:cubicBezTo>
                    <a:pt x="45157" y="1731926"/>
                    <a:pt x="29525" y="1725451"/>
                    <a:pt x="18000" y="1713926"/>
                  </a:cubicBezTo>
                  <a:cubicBezTo>
                    <a:pt x="6475" y="1702401"/>
                    <a:pt x="0" y="1686769"/>
                    <a:pt x="0" y="1670470"/>
                  </a:cubicBezTo>
                  <a:lnTo>
                    <a:pt x="0" y="61456"/>
                  </a:lnTo>
                  <a:cubicBezTo>
                    <a:pt x="0" y="45157"/>
                    <a:pt x="6475" y="29525"/>
                    <a:pt x="18000" y="18000"/>
                  </a:cubicBezTo>
                  <a:cubicBezTo>
                    <a:pt x="29525" y="6475"/>
                    <a:pt x="45157" y="0"/>
                    <a:pt x="61456" y="0"/>
                  </a:cubicBezTo>
                  <a:close/>
                </a:path>
              </a:pathLst>
            </a:custGeom>
            <a:blipFill>
              <a:blip r:embed="rId3"/>
              <a:stretch>
                <a:fillRect l="0" t="-29979" r="0" b="-29979"/>
              </a:stretch>
            </a:blipFill>
            <a:ln w="142875" cap="rnd">
              <a:solidFill>
                <a:srgbClr val="E57C7C"/>
              </a:solidFill>
              <a:prstDash val="solid"/>
              <a:round/>
            </a:ln>
          </p:spPr>
        </p:sp>
      </p:grpSp>
      <p:sp>
        <p:nvSpPr>
          <p:cNvPr name="Freeform 9" id="9"/>
          <p:cNvSpPr/>
          <p:nvPr/>
        </p:nvSpPr>
        <p:spPr>
          <a:xfrm flipH="false" flipV="false" rot="0">
            <a:off x="8563697" y="1341501"/>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4">
              <a:extLst>
                <a:ext uri="{96DAC541-7B7A-43D3-8B79-37D633B846F1}">
                  <asvg:svgBlip xmlns:asvg="http://schemas.microsoft.com/office/drawing/2016/SVG/main" r:embed="rId5"/>
                </a:ext>
              </a:extLst>
            </a:blip>
            <a:stretch>
              <a:fillRect l="0" t="0" r="-75980" b="-360761"/>
            </a:stretch>
          </a:blipFill>
        </p:spPr>
      </p:sp>
      <p:sp>
        <p:nvSpPr>
          <p:cNvPr name="Freeform 10" id="10"/>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157471" y="4316769"/>
            <a:ext cx="9096624" cy="1653461"/>
            <a:chOff x="0" y="0"/>
            <a:chExt cx="12128832" cy="2204615"/>
          </a:xfrm>
        </p:grpSpPr>
        <p:grpSp>
          <p:nvGrpSpPr>
            <p:cNvPr name="Group 13" id="13"/>
            <p:cNvGrpSpPr/>
            <p:nvPr/>
          </p:nvGrpSpPr>
          <p:grpSpPr>
            <a:xfrm rot="0">
              <a:off x="0" y="0"/>
              <a:ext cx="12128832" cy="2204615"/>
              <a:chOff x="0" y="0"/>
              <a:chExt cx="748679" cy="136085"/>
            </a:xfrm>
          </p:grpSpPr>
          <p:sp>
            <p:nvSpPr>
              <p:cNvPr name="Freeform 14" id="14"/>
              <p:cNvSpPr/>
              <p:nvPr/>
            </p:nvSpPr>
            <p:spPr>
              <a:xfrm flipH="false" flipV="false" rot="0">
                <a:off x="0" y="0"/>
                <a:ext cx="748679" cy="136085"/>
              </a:xfrm>
              <a:custGeom>
                <a:avLst/>
                <a:gdLst/>
                <a:ahLst/>
                <a:cxnLst/>
                <a:rect r="r" b="b" t="t" l="l"/>
                <a:pathLst>
                  <a:path h="136085" w="748679">
                    <a:moveTo>
                      <a:pt x="25143" y="0"/>
                    </a:moveTo>
                    <a:lnTo>
                      <a:pt x="723536" y="0"/>
                    </a:lnTo>
                    <a:cubicBezTo>
                      <a:pt x="730204" y="0"/>
                      <a:pt x="736599" y="2649"/>
                      <a:pt x="741315" y="7364"/>
                    </a:cubicBezTo>
                    <a:cubicBezTo>
                      <a:pt x="746030" y="12079"/>
                      <a:pt x="748679" y="18475"/>
                      <a:pt x="748679" y="25143"/>
                    </a:cubicBezTo>
                    <a:lnTo>
                      <a:pt x="748679" y="110942"/>
                    </a:lnTo>
                    <a:cubicBezTo>
                      <a:pt x="748679" y="117610"/>
                      <a:pt x="746030" y="124005"/>
                      <a:pt x="741315" y="128720"/>
                    </a:cubicBezTo>
                    <a:cubicBezTo>
                      <a:pt x="736599" y="133436"/>
                      <a:pt x="730204" y="136085"/>
                      <a:pt x="723536" y="136085"/>
                    </a:cubicBezTo>
                    <a:lnTo>
                      <a:pt x="25143" y="136085"/>
                    </a:lnTo>
                    <a:cubicBezTo>
                      <a:pt x="18475" y="136085"/>
                      <a:pt x="12079" y="133436"/>
                      <a:pt x="7364" y="128720"/>
                    </a:cubicBezTo>
                    <a:cubicBezTo>
                      <a:pt x="2649" y="124005"/>
                      <a:pt x="0" y="117610"/>
                      <a:pt x="0" y="110942"/>
                    </a:cubicBezTo>
                    <a:lnTo>
                      <a:pt x="0" y="25143"/>
                    </a:lnTo>
                    <a:cubicBezTo>
                      <a:pt x="0" y="18475"/>
                      <a:pt x="2649" y="12079"/>
                      <a:pt x="7364" y="7364"/>
                    </a:cubicBezTo>
                    <a:cubicBezTo>
                      <a:pt x="12079" y="2649"/>
                      <a:pt x="18475" y="0"/>
                      <a:pt x="25143" y="0"/>
                    </a:cubicBezTo>
                    <a:close/>
                  </a:path>
                </a:pathLst>
              </a:custGeom>
              <a:solidFill>
                <a:srgbClr val="E57C7C"/>
              </a:solidFill>
            </p:spPr>
          </p:sp>
          <p:sp>
            <p:nvSpPr>
              <p:cNvPr name="TextBox 15" id="15"/>
              <p:cNvSpPr txBox="true"/>
              <p:nvPr/>
            </p:nvSpPr>
            <p:spPr>
              <a:xfrm>
                <a:off x="0" y="-66675"/>
                <a:ext cx="748679" cy="202760"/>
              </a:xfrm>
              <a:prstGeom prst="rect">
                <a:avLst/>
              </a:prstGeom>
            </p:spPr>
            <p:txBody>
              <a:bodyPr anchor="ctr" rtlCol="false" tIns="50800" lIns="50800" bIns="50800" rIns="50800"/>
              <a:lstStyle/>
              <a:p>
                <a:pPr algn="ctr">
                  <a:lnSpc>
                    <a:spcPts val="3150"/>
                  </a:lnSpc>
                </a:pPr>
              </a:p>
            </p:txBody>
          </p:sp>
        </p:grpSp>
        <p:sp>
          <p:nvSpPr>
            <p:cNvPr name="TextBox 16" id="16"/>
            <p:cNvSpPr txBox="true"/>
            <p:nvPr/>
          </p:nvSpPr>
          <p:spPr>
            <a:xfrm rot="0">
              <a:off x="831411" y="777125"/>
              <a:ext cx="10466010" cy="583689"/>
            </a:xfrm>
            <a:prstGeom prst="rect">
              <a:avLst/>
            </a:prstGeom>
          </p:spPr>
          <p:txBody>
            <a:bodyPr anchor="t" rtlCol="false" tIns="0" lIns="0" bIns="0" rIns="0">
              <a:spAutoFit/>
            </a:bodyPr>
            <a:lstStyle/>
            <a:p>
              <a:pPr algn="l">
                <a:lnSpc>
                  <a:spcPts val="3858"/>
                </a:lnSpc>
              </a:pPr>
              <a:r>
                <a:rPr lang="en-US" sz="2572" b="true">
                  <a:solidFill>
                    <a:srgbClr val="000000"/>
                  </a:solidFill>
                  <a:latin typeface="Open Sauce Bold"/>
                  <a:ea typeface="Open Sauce Bold"/>
                  <a:cs typeface="Open Sauce Bold"/>
                  <a:sym typeface="Open Sauce Bold"/>
                </a:rPr>
                <a:t>Vision:</a:t>
              </a:r>
              <a:r>
                <a:rPr lang="en-US" sz="2572">
                  <a:solidFill>
                    <a:srgbClr val="000000"/>
                  </a:solidFill>
                  <a:latin typeface="Open Sauce"/>
                  <a:ea typeface="Open Sauce"/>
                  <a:cs typeface="Open Sauce"/>
                  <a:sym typeface="Open Sauce"/>
                </a:rPr>
                <a:t> 1</a:t>
              </a:r>
              <a:r>
                <a:rPr lang="en-US" sz="2572">
                  <a:solidFill>
                    <a:srgbClr val="000000"/>
                  </a:solidFill>
                  <a:latin typeface="Open Sauce"/>
                  <a:ea typeface="Open Sauce"/>
                  <a:cs typeface="Open Sauce"/>
                  <a:sym typeface="Open Sauce"/>
                </a:rPr>
                <a:t>00% autonomous commerce operations</a:t>
              </a:r>
            </a:p>
          </p:txBody>
        </p:sp>
      </p:grpSp>
      <p:grpSp>
        <p:nvGrpSpPr>
          <p:cNvPr name="Group 17" id="17"/>
          <p:cNvGrpSpPr/>
          <p:nvPr/>
        </p:nvGrpSpPr>
        <p:grpSpPr>
          <a:xfrm rot="0">
            <a:off x="1157471" y="6768694"/>
            <a:ext cx="9096624" cy="2139236"/>
            <a:chOff x="0" y="0"/>
            <a:chExt cx="12128832" cy="2852315"/>
          </a:xfrm>
        </p:grpSpPr>
        <p:grpSp>
          <p:nvGrpSpPr>
            <p:cNvPr name="Group 18" id="18"/>
            <p:cNvGrpSpPr/>
            <p:nvPr/>
          </p:nvGrpSpPr>
          <p:grpSpPr>
            <a:xfrm rot="0">
              <a:off x="0" y="0"/>
              <a:ext cx="12128832" cy="2852315"/>
              <a:chOff x="0" y="0"/>
              <a:chExt cx="748679" cy="176065"/>
            </a:xfrm>
          </p:grpSpPr>
          <p:sp>
            <p:nvSpPr>
              <p:cNvPr name="Freeform 19" id="19"/>
              <p:cNvSpPr/>
              <p:nvPr/>
            </p:nvSpPr>
            <p:spPr>
              <a:xfrm flipH="false" flipV="false" rot="0">
                <a:off x="0" y="0"/>
                <a:ext cx="748679" cy="176065"/>
              </a:xfrm>
              <a:custGeom>
                <a:avLst/>
                <a:gdLst/>
                <a:ahLst/>
                <a:cxnLst/>
                <a:rect r="r" b="b" t="t" l="l"/>
                <a:pathLst>
                  <a:path h="176065" w="748679">
                    <a:moveTo>
                      <a:pt x="25143" y="0"/>
                    </a:moveTo>
                    <a:lnTo>
                      <a:pt x="723536" y="0"/>
                    </a:lnTo>
                    <a:cubicBezTo>
                      <a:pt x="730204" y="0"/>
                      <a:pt x="736599" y="2649"/>
                      <a:pt x="741315" y="7364"/>
                    </a:cubicBezTo>
                    <a:cubicBezTo>
                      <a:pt x="746030" y="12079"/>
                      <a:pt x="748679" y="18475"/>
                      <a:pt x="748679" y="25143"/>
                    </a:cubicBezTo>
                    <a:lnTo>
                      <a:pt x="748679" y="150922"/>
                    </a:lnTo>
                    <a:cubicBezTo>
                      <a:pt x="748679" y="157591"/>
                      <a:pt x="746030" y="163986"/>
                      <a:pt x="741315" y="168701"/>
                    </a:cubicBezTo>
                    <a:cubicBezTo>
                      <a:pt x="736599" y="173416"/>
                      <a:pt x="730204" y="176065"/>
                      <a:pt x="723536" y="176065"/>
                    </a:cubicBezTo>
                    <a:lnTo>
                      <a:pt x="25143" y="176065"/>
                    </a:lnTo>
                    <a:cubicBezTo>
                      <a:pt x="18475" y="176065"/>
                      <a:pt x="12079" y="173416"/>
                      <a:pt x="7364" y="168701"/>
                    </a:cubicBezTo>
                    <a:cubicBezTo>
                      <a:pt x="2649" y="163986"/>
                      <a:pt x="0" y="157591"/>
                      <a:pt x="0" y="150922"/>
                    </a:cubicBezTo>
                    <a:lnTo>
                      <a:pt x="0" y="25143"/>
                    </a:lnTo>
                    <a:cubicBezTo>
                      <a:pt x="0" y="18475"/>
                      <a:pt x="2649" y="12079"/>
                      <a:pt x="7364" y="7364"/>
                    </a:cubicBezTo>
                    <a:cubicBezTo>
                      <a:pt x="12079" y="2649"/>
                      <a:pt x="18475" y="0"/>
                      <a:pt x="25143" y="0"/>
                    </a:cubicBezTo>
                    <a:close/>
                  </a:path>
                </a:pathLst>
              </a:custGeom>
              <a:solidFill>
                <a:srgbClr val="E57C7C"/>
              </a:solidFill>
            </p:spPr>
          </p:sp>
          <p:sp>
            <p:nvSpPr>
              <p:cNvPr name="TextBox 20" id="20"/>
              <p:cNvSpPr txBox="true"/>
              <p:nvPr/>
            </p:nvSpPr>
            <p:spPr>
              <a:xfrm>
                <a:off x="0" y="-66675"/>
                <a:ext cx="748679" cy="242740"/>
              </a:xfrm>
              <a:prstGeom prst="rect">
                <a:avLst/>
              </a:prstGeom>
            </p:spPr>
            <p:txBody>
              <a:bodyPr anchor="ctr" rtlCol="false" tIns="50800" lIns="50800" bIns="50800" rIns="50800"/>
              <a:lstStyle/>
              <a:p>
                <a:pPr algn="ctr">
                  <a:lnSpc>
                    <a:spcPts val="3150"/>
                  </a:lnSpc>
                </a:pPr>
              </a:p>
            </p:txBody>
          </p:sp>
        </p:grpSp>
        <p:sp>
          <p:nvSpPr>
            <p:cNvPr name="TextBox 21" id="21"/>
            <p:cNvSpPr txBox="true"/>
            <p:nvPr/>
          </p:nvSpPr>
          <p:spPr>
            <a:xfrm rot="0">
              <a:off x="831411" y="777125"/>
              <a:ext cx="10466010" cy="1231389"/>
            </a:xfrm>
            <a:prstGeom prst="rect">
              <a:avLst/>
            </a:prstGeom>
          </p:spPr>
          <p:txBody>
            <a:bodyPr anchor="t" rtlCol="false" tIns="0" lIns="0" bIns="0" rIns="0">
              <a:spAutoFit/>
            </a:bodyPr>
            <a:lstStyle/>
            <a:p>
              <a:pPr algn="l">
                <a:lnSpc>
                  <a:spcPts val="3858"/>
                </a:lnSpc>
              </a:pPr>
              <a:r>
                <a:rPr lang="en-US" sz="2572" b="true">
                  <a:solidFill>
                    <a:srgbClr val="000000"/>
                  </a:solidFill>
                  <a:latin typeface="Open Sauce Bold"/>
                  <a:ea typeface="Open Sauce Bold"/>
                  <a:cs typeface="Open Sauce Bold"/>
                  <a:sym typeface="Open Sauce Bold"/>
                </a:rPr>
                <a:t>Rollout</a:t>
              </a:r>
              <a:r>
                <a:rPr lang="en-US" sz="2572">
                  <a:solidFill>
                    <a:srgbClr val="000000"/>
                  </a:solidFill>
                  <a:latin typeface="Open Sauce"/>
                  <a:ea typeface="Open Sauce"/>
                  <a:cs typeface="Open Sauce"/>
                  <a:sym typeface="Open Sauce"/>
                </a:rPr>
                <a:t>: 1</a:t>
              </a:r>
              <a:r>
                <a:rPr lang="en-US" sz="2572">
                  <a:solidFill>
                    <a:srgbClr val="000000"/>
                  </a:solidFill>
                  <a:latin typeface="Open Sauce"/>
                  <a:ea typeface="Open Sauce"/>
                  <a:cs typeface="Open Sauce"/>
                  <a:sym typeface="Open Sauce"/>
                </a:rPr>
                <a:t>00% automation for narrow, well-bounded workflows first</a:t>
              </a:r>
            </a:p>
          </p:txBody>
        </p:sp>
      </p:grpSp>
      <p:sp>
        <p:nvSpPr>
          <p:cNvPr name="TextBox 22" id="22"/>
          <p:cNvSpPr txBox="true"/>
          <p:nvPr/>
        </p:nvSpPr>
        <p:spPr>
          <a:xfrm rot="0">
            <a:off x="1543489" y="2229326"/>
            <a:ext cx="7600511" cy="1192530"/>
          </a:xfrm>
          <a:prstGeom prst="rect">
            <a:avLst/>
          </a:prstGeom>
        </p:spPr>
        <p:txBody>
          <a:bodyPr anchor="t" rtlCol="false" tIns="0" lIns="0" bIns="0" rIns="0">
            <a:spAutoFit/>
          </a:bodyPr>
          <a:lstStyle/>
          <a:p>
            <a:pPr algn="l">
              <a:lnSpc>
                <a:spcPts val="9360"/>
              </a:lnSpc>
            </a:pPr>
            <a:r>
              <a:rPr lang="en-US" sz="8000" spc="-80" b="true">
                <a:solidFill>
                  <a:srgbClr val="000000"/>
                </a:solidFill>
                <a:latin typeface="Helvetica Now Display Bold"/>
                <a:ea typeface="Helvetica Now Display Bold"/>
                <a:cs typeface="Helvetica Now Display Bold"/>
                <a:sym typeface="Helvetica Now Display Bold"/>
              </a:rPr>
              <a:t>Vision &amp; Rollout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054122" y="1028700"/>
            <a:ext cx="4112762" cy="486186"/>
            <a:chOff x="0" y="0"/>
            <a:chExt cx="5483683" cy="648248"/>
          </a:xfrm>
        </p:grpSpPr>
        <p:grpSp>
          <p:nvGrpSpPr>
            <p:cNvPr name="Group 3" id="3"/>
            <p:cNvGrpSpPr/>
            <p:nvPr/>
          </p:nvGrpSpPr>
          <p:grpSpPr>
            <a:xfrm rot="0">
              <a:off x="0" y="0"/>
              <a:ext cx="675833" cy="648248"/>
              <a:chOff x="0" y="0"/>
              <a:chExt cx="622300" cy="596900"/>
            </a:xfrm>
          </p:grpSpPr>
          <p:sp>
            <p:nvSpPr>
              <p:cNvPr name="Freeform 4" id="4"/>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5" id="5"/>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6" id="6"/>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grpSp>
        <p:nvGrpSpPr>
          <p:cNvPr name="Group 7" id="7"/>
          <p:cNvGrpSpPr/>
          <p:nvPr/>
        </p:nvGrpSpPr>
        <p:grpSpPr>
          <a:xfrm rot="0">
            <a:off x="11528628" y="1788023"/>
            <a:ext cx="5681949" cy="7470277"/>
            <a:chOff x="0" y="0"/>
            <a:chExt cx="1317316" cy="1731926"/>
          </a:xfrm>
        </p:grpSpPr>
        <p:sp>
          <p:nvSpPr>
            <p:cNvPr name="Freeform 8" id="8"/>
            <p:cNvSpPr/>
            <p:nvPr/>
          </p:nvSpPr>
          <p:spPr>
            <a:xfrm flipH="false" flipV="false" rot="0">
              <a:off x="0" y="0"/>
              <a:ext cx="1317316" cy="1731926"/>
            </a:xfrm>
            <a:custGeom>
              <a:avLst/>
              <a:gdLst/>
              <a:ahLst/>
              <a:cxnLst/>
              <a:rect r="r" b="b" t="t" l="l"/>
              <a:pathLst>
                <a:path h="1731926" w="1317316">
                  <a:moveTo>
                    <a:pt x="72215" y="0"/>
                  </a:moveTo>
                  <a:lnTo>
                    <a:pt x="1245101" y="0"/>
                  </a:lnTo>
                  <a:cubicBezTo>
                    <a:pt x="1264253" y="0"/>
                    <a:pt x="1282621" y="7608"/>
                    <a:pt x="1296164" y="21151"/>
                  </a:cubicBezTo>
                  <a:cubicBezTo>
                    <a:pt x="1309707" y="34694"/>
                    <a:pt x="1317316" y="53062"/>
                    <a:pt x="1317316" y="72215"/>
                  </a:cubicBezTo>
                  <a:lnTo>
                    <a:pt x="1317316" y="1659711"/>
                  </a:lnTo>
                  <a:cubicBezTo>
                    <a:pt x="1317316" y="1678863"/>
                    <a:pt x="1309707" y="1697231"/>
                    <a:pt x="1296164" y="1710774"/>
                  </a:cubicBezTo>
                  <a:cubicBezTo>
                    <a:pt x="1282621" y="1724317"/>
                    <a:pt x="1264253" y="1731926"/>
                    <a:pt x="1245101" y="1731926"/>
                  </a:cubicBezTo>
                  <a:lnTo>
                    <a:pt x="72215" y="1731926"/>
                  </a:lnTo>
                  <a:cubicBezTo>
                    <a:pt x="53062" y="1731926"/>
                    <a:pt x="34694" y="1724317"/>
                    <a:pt x="21151" y="1710774"/>
                  </a:cubicBezTo>
                  <a:cubicBezTo>
                    <a:pt x="7608" y="1697231"/>
                    <a:pt x="0" y="1678863"/>
                    <a:pt x="0" y="1659711"/>
                  </a:cubicBezTo>
                  <a:lnTo>
                    <a:pt x="0" y="72215"/>
                  </a:lnTo>
                  <a:cubicBezTo>
                    <a:pt x="0" y="53062"/>
                    <a:pt x="7608" y="34694"/>
                    <a:pt x="21151" y="21151"/>
                  </a:cubicBezTo>
                  <a:cubicBezTo>
                    <a:pt x="34694" y="7608"/>
                    <a:pt x="53062" y="0"/>
                    <a:pt x="72215" y="0"/>
                  </a:cubicBezTo>
                  <a:close/>
                </a:path>
              </a:pathLst>
            </a:custGeom>
            <a:blipFill>
              <a:blip r:embed="rId3"/>
              <a:stretch>
                <a:fillRect l="0" t="-18063" r="0" b="-18063"/>
              </a:stretch>
            </a:blipFill>
            <a:ln w="142875" cap="rnd">
              <a:solidFill>
                <a:srgbClr val="E57C7C"/>
              </a:solidFill>
              <a:prstDash val="solid"/>
              <a:round/>
            </a:ln>
          </p:spPr>
        </p:sp>
      </p:grpSp>
      <p:sp>
        <p:nvSpPr>
          <p:cNvPr name="Freeform 9" id="9"/>
          <p:cNvSpPr/>
          <p:nvPr/>
        </p:nvSpPr>
        <p:spPr>
          <a:xfrm flipH="false" flipV="false" rot="0">
            <a:off x="8563697" y="1341501"/>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4">
              <a:extLst>
                <a:ext uri="{96DAC541-7B7A-43D3-8B79-37D633B846F1}">
                  <asvg:svgBlip xmlns:asvg="http://schemas.microsoft.com/office/drawing/2016/SVG/main" r:embed="rId5"/>
                </a:ext>
              </a:extLst>
            </a:blip>
            <a:stretch>
              <a:fillRect l="0" t="0" r="-75980" b="-360761"/>
            </a:stretch>
          </a:blipFill>
        </p:spPr>
      </p:sp>
      <p:sp>
        <p:nvSpPr>
          <p:cNvPr name="Freeform 10" id="10"/>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079544" y="3933669"/>
            <a:ext cx="9599443" cy="5091442"/>
            <a:chOff x="0" y="0"/>
            <a:chExt cx="12799258" cy="6788590"/>
          </a:xfrm>
        </p:grpSpPr>
        <p:grpSp>
          <p:nvGrpSpPr>
            <p:cNvPr name="Group 13" id="13"/>
            <p:cNvGrpSpPr/>
            <p:nvPr/>
          </p:nvGrpSpPr>
          <p:grpSpPr>
            <a:xfrm rot="0">
              <a:off x="0" y="0"/>
              <a:ext cx="12799258" cy="6788590"/>
              <a:chOff x="0" y="0"/>
              <a:chExt cx="778019" cy="412653"/>
            </a:xfrm>
          </p:grpSpPr>
          <p:sp>
            <p:nvSpPr>
              <p:cNvPr name="Freeform 14" id="14"/>
              <p:cNvSpPr/>
              <p:nvPr/>
            </p:nvSpPr>
            <p:spPr>
              <a:xfrm flipH="false" flipV="false" rot="0">
                <a:off x="0" y="0"/>
                <a:ext cx="778019" cy="412653"/>
              </a:xfrm>
              <a:custGeom>
                <a:avLst/>
                <a:gdLst/>
                <a:ahLst/>
                <a:cxnLst/>
                <a:rect r="r" b="b" t="t" l="l"/>
                <a:pathLst>
                  <a:path h="412653" w="778019">
                    <a:moveTo>
                      <a:pt x="24195" y="0"/>
                    </a:moveTo>
                    <a:lnTo>
                      <a:pt x="753824" y="0"/>
                    </a:lnTo>
                    <a:cubicBezTo>
                      <a:pt x="767187" y="0"/>
                      <a:pt x="778019" y="10832"/>
                      <a:pt x="778019" y="24195"/>
                    </a:cubicBezTo>
                    <a:lnTo>
                      <a:pt x="778019" y="388458"/>
                    </a:lnTo>
                    <a:cubicBezTo>
                      <a:pt x="778019" y="394875"/>
                      <a:pt x="775470" y="401029"/>
                      <a:pt x="770932" y="405566"/>
                    </a:cubicBezTo>
                    <a:cubicBezTo>
                      <a:pt x="766395" y="410104"/>
                      <a:pt x="760241" y="412653"/>
                      <a:pt x="753824" y="412653"/>
                    </a:cubicBezTo>
                    <a:lnTo>
                      <a:pt x="24195" y="412653"/>
                    </a:lnTo>
                    <a:cubicBezTo>
                      <a:pt x="17778" y="412653"/>
                      <a:pt x="11624" y="410104"/>
                      <a:pt x="7087" y="405566"/>
                    </a:cubicBezTo>
                    <a:cubicBezTo>
                      <a:pt x="2549" y="401029"/>
                      <a:pt x="0" y="394875"/>
                      <a:pt x="0" y="388458"/>
                    </a:cubicBezTo>
                    <a:lnTo>
                      <a:pt x="0" y="24195"/>
                    </a:lnTo>
                    <a:cubicBezTo>
                      <a:pt x="0" y="17778"/>
                      <a:pt x="2549" y="11624"/>
                      <a:pt x="7087" y="7087"/>
                    </a:cubicBezTo>
                    <a:cubicBezTo>
                      <a:pt x="11624" y="2549"/>
                      <a:pt x="17778" y="0"/>
                      <a:pt x="24195" y="0"/>
                    </a:cubicBezTo>
                    <a:close/>
                  </a:path>
                </a:pathLst>
              </a:custGeom>
              <a:solidFill>
                <a:srgbClr val="E57C7C"/>
              </a:solidFill>
            </p:spPr>
          </p:sp>
          <p:sp>
            <p:nvSpPr>
              <p:cNvPr name="TextBox 15" id="15"/>
              <p:cNvSpPr txBox="true"/>
              <p:nvPr/>
            </p:nvSpPr>
            <p:spPr>
              <a:xfrm>
                <a:off x="0" y="-66675"/>
                <a:ext cx="778019" cy="479328"/>
              </a:xfrm>
              <a:prstGeom prst="rect">
                <a:avLst/>
              </a:prstGeom>
            </p:spPr>
            <p:txBody>
              <a:bodyPr anchor="ctr" rtlCol="false" tIns="50800" lIns="50800" bIns="50800" rIns="50800"/>
              <a:lstStyle/>
              <a:p>
                <a:pPr algn="ctr">
                  <a:lnSpc>
                    <a:spcPts val="3150"/>
                  </a:lnSpc>
                </a:pPr>
              </a:p>
            </p:txBody>
          </p:sp>
        </p:grpSp>
        <p:sp>
          <p:nvSpPr>
            <p:cNvPr name="TextBox 16" id="16"/>
            <p:cNvSpPr txBox="true"/>
            <p:nvPr/>
          </p:nvSpPr>
          <p:spPr>
            <a:xfrm rot="0">
              <a:off x="1045279" y="363621"/>
              <a:ext cx="10713639" cy="1173480"/>
            </a:xfrm>
            <a:prstGeom prst="rect">
              <a:avLst/>
            </a:prstGeom>
          </p:spPr>
          <p:txBody>
            <a:bodyPr anchor="t" rtlCol="false" tIns="0" lIns="0" bIns="0" rIns="0">
              <a:spAutoFit/>
            </a:bodyPr>
            <a:lstStyle/>
            <a:p>
              <a:pPr algn="l">
                <a:lnSpc>
                  <a:spcPts val="3600"/>
                </a:lnSpc>
              </a:pPr>
              <a:r>
                <a:rPr lang="en-US" sz="2400" b="true">
                  <a:solidFill>
                    <a:srgbClr val="000000"/>
                  </a:solidFill>
                  <a:latin typeface="Open Sauce Bold"/>
                  <a:ea typeface="Open Sauce Bold"/>
                  <a:cs typeface="Open Sauce Bold"/>
                  <a:sym typeface="Open Sauce Bold"/>
                </a:rPr>
                <a:t>Beac</a:t>
              </a:r>
              <a:r>
                <a:rPr lang="en-US" sz="2400" b="true">
                  <a:solidFill>
                    <a:srgbClr val="000000"/>
                  </a:solidFill>
                  <a:latin typeface="Open Sauce Bold"/>
                  <a:ea typeface="Open Sauce Bold"/>
                  <a:cs typeface="Open Sauce Bold"/>
                  <a:sym typeface="Open Sauce Bold"/>
                </a:rPr>
                <a:t>hhead:</a:t>
              </a:r>
              <a:r>
                <a:rPr lang="en-US" sz="2400">
                  <a:solidFill>
                    <a:srgbClr val="000000"/>
                  </a:solidFill>
                  <a:latin typeface="Open Sauce"/>
                  <a:ea typeface="Open Sauce"/>
                  <a:cs typeface="Open Sauce"/>
                  <a:sym typeface="Open Sauce"/>
                </a:rPr>
                <a:t> beauty / spa / clinic businesses already using Zalo + POS/CRM tools</a:t>
              </a:r>
            </a:p>
          </p:txBody>
        </p:sp>
        <p:sp>
          <p:nvSpPr>
            <p:cNvPr name="TextBox 17" id="17"/>
            <p:cNvSpPr txBox="true"/>
            <p:nvPr/>
          </p:nvSpPr>
          <p:spPr>
            <a:xfrm rot="0">
              <a:off x="1042810" y="1979263"/>
              <a:ext cx="10713639" cy="4221480"/>
            </a:xfrm>
            <a:prstGeom prst="rect">
              <a:avLst/>
            </a:prstGeom>
          </p:spPr>
          <p:txBody>
            <a:bodyPr anchor="t" rtlCol="false" tIns="0" lIns="0" bIns="0" rIns="0">
              <a:spAutoFit/>
            </a:bodyPr>
            <a:lstStyle/>
            <a:p>
              <a:pPr algn="l">
                <a:lnSpc>
                  <a:spcPts val="3600"/>
                </a:lnSpc>
              </a:pPr>
              <a:r>
                <a:rPr lang="en-US" sz="2400" b="true">
                  <a:solidFill>
                    <a:srgbClr val="000000"/>
                  </a:solidFill>
                  <a:latin typeface="Open Sauce Bold"/>
                  <a:ea typeface="Open Sauce Bold"/>
                  <a:cs typeface="Open Sauce Bold"/>
                  <a:sym typeface="Open Sauce Bold"/>
                </a:rPr>
                <a:t>Why</a:t>
              </a:r>
              <a:r>
                <a:rPr lang="en-US" sz="2400">
                  <a:solidFill>
                    <a:srgbClr val="000000"/>
                  </a:solidFill>
                  <a:latin typeface="Open Sauce"/>
                  <a:ea typeface="Open Sauce"/>
                  <a:cs typeface="Open Sauce"/>
                  <a:sym typeface="Open Sauce"/>
                </a:rPr>
                <a:t>:</a:t>
              </a:r>
            </a:p>
            <a:p>
              <a:pPr algn="l" marL="518160" indent="-259080" lvl="1">
                <a:lnSpc>
                  <a:spcPts val="3600"/>
                </a:lnSpc>
                <a:buFont typeface="Arial"/>
                <a:buChar char="•"/>
              </a:pPr>
              <a:r>
                <a:rPr lang="en-US" sz="2400">
                  <a:solidFill>
                    <a:srgbClr val="000000"/>
                  </a:solidFill>
                  <a:latin typeface="Open Sauce"/>
                  <a:ea typeface="Open Sauce"/>
                  <a:cs typeface="Open Sauce"/>
                  <a:sym typeface="Open Sauce"/>
                </a:rPr>
                <a:t>inbound lead lớn</a:t>
              </a:r>
            </a:p>
            <a:p>
              <a:pPr algn="l" marL="518160" indent="-259080" lvl="1">
                <a:lnSpc>
                  <a:spcPts val="3600"/>
                </a:lnSpc>
                <a:buFont typeface="Arial"/>
                <a:buChar char="•"/>
              </a:pPr>
              <a:r>
                <a:rPr lang="en-US" sz="2400">
                  <a:solidFill>
                    <a:srgbClr val="000000"/>
                  </a:solidFill>
                  <a:latin typeface="Open Sauce"/>
                  <a:ea typeface="Open Sauce"/>
                  <a:cs typeface="Open Sauce"/>
                  <a:sym typeface="Open Sauce"/>
                </a:rPr>
                <a:t>workflow nhiều bước</a:t>
              </a:r>
            </a:p>
            <a:p>
              <a:pPr algn="l" marL="518160" indent="-259080" lvl="1">
                <a:lnSpc>
                  <a:spcPts val="3600"/>
                </a:lnSpc>
                <a:buFont typeface="Arial"/>
                <a:buChar char="•"/>
              </a:pPr>
              <a:r>
                <a:rPr lang="en-US" sz="2400">
                  <a:solidFill>
                    <a:srgbClr val="000000"/>
                  </a:solidFill>
                  <a:latin typeface="Open Sauce"/>
                  <a:ea typeface="Open Sauce"/>
                  <a:cs typeface="Open Sauce"/>
                  <a:sym typeface="Open Sauce"/>
                </a:rPr>
                <a:t>booking có giá trị cao</a:t>
              </a:r>
            </a:p>
            <a:p>
              <a:pPr algn="l" marL="518160" indent="-259080" lvl="1">
                <a:lnSpc>
                  <a:spcPts val="3600"/>
                </a:lnSpc>
                <a:buFont typeface="Arial"/>
                <a:buChar char="•"/>
              </a:pPr>
              <a:r>
                <a:rPr lang="en-US" sz="2400">
                  <a:solidFill>
                    <a:srgbClr val="000000"/>
                  </a:solidFill>
                  <a:latin typeface="Open Sauce"/>
                  <a:ea typeface="Open Sauce"/>
                  <a:cs typeface="Open Sauce"/>
                  <a:sym typeface="Open Sauce"/>
                </a:rPr>
                <a:t>no-show và missed follow-up gây mất doanh thu trực tiếp</a:t>
              </a:r>
            </a:p>
            <a:p>
              <a:pPr algn="l">
                <a:lnSpc>
                  <a:spcPts val="3600"/>
                </a:lnSpc>
              </a:pPr>
            </a:p>
          </p:txBody>
        </p:sp>
      </p:grpSp>
      <p:sp>
        <p:nvSpPr>
          <p:cNvPr name="TextBox 18" id="18"/>
          <p:cNvSpPr txBox="true"/>
          <p:nvPr/>
        </p:nvSpPr>
        <p:spPr>
          <a:xfrm rot="0">
            <a:off x="1079544" y="1833179"/>
            <a:ext cx="9189508" cy="1192530"/>
          </a:xfrm>
          <a:prstGeom prst="rect">
            <a:avLst/>
          </a:prstGeom>
        </p:spPr>
        <p:txBody>
          <a:bodyPr anchor="t" rtlCol="false" tIns="0" lIns="0" bIns="0" rIns="0">
            <a:spAutoFit/>
          </a:bodyPr>
          <a:lstStyle/>
          <a:p>
            <a:pPr algn="l">
              <a:lnSpc>
                <a:spcPts val="9360"/>
              </a:lnSpc>
            </a:pPr>
            <a:r>
              <a:rPr lang="en-US" sz="8000" spc="-80" b="true">
                <a:solidFill>
                  <a:srgbClr val="000000"/>
                </a:solidFill>
                <a:latin typeface="Helvetica Now Display Bold"/>
                <a:ea typeface="Helvetica Now Display Bold"/>
                <a:cs typeface="Helvetica Now Display Bold"/>
                <a:sym typeface="Helvetica Now Display Bold"/>
              </a:rPr>
              <a:t>Beach</a:t>
            </a:r>
            <a:r>
              <a:rPr lang="en-US" b="true" sz="8000" spc="-80">
                <a:solidFill>
                  <a:srgbClr val="000000"/>
                </a:solidFill>
                <a:latin typeface="Helvetica Now Display Bold"/>
                <a:ea typeface="Helvetica Now Display Bold"/>
                <a:cs typeface="Helvetica Now Display Bold"/>
                <a:sym typeface="Helvetica Now Display Bold"/>
              </a:rPr>
              <a:t>head Market</a:t>
            </a:r>
          </a:p>
        </p:txBody>
      </p:sp>
      <p:sp>
        <p:nvSpPr>
          <p:cNvPr name="TextBox 19" id="19"/>
          <p:cNvSpPr txBox="true"/>
          <p:nvPr/>
        </p:nvSpPr>
        <p:spPr>
          <a:xfrm rot="0">
            <a:off x="1111733" y="2930459"/>
            <a:ext cx="9727577" cy="441960"/>
          </a:xfrm>
          <a:prstGeom prst="rect">
            <a:avLst/>
          </a:prstGeom>
        </p:spPr>
        <p:txBody>
          <a:bodyPr anchor="t" rtlCol="false" tIns="0" lIns="0" bIns="0" rIns="0">
            <a:spAutoFit/>
          </a:bodyPr>
          <a:lstStyle/>
          <a:p>
            <a:pPr algn="l" marL="0" indent="0" lvl="0">
              <a:lnSpc>
                <a:spcPts val="3600"/>
              </a:lnSpc>
              <a:spcBef>
                <a:spcPct val="0"/>
              </a:spcBef>
            </a:pPr>
            <a:r>
              <a:rPr lang="en-US" b="true" sz="2400" i="true">
                <a:solidFill>
                  <a:srgbClr val="000000"/>
                </a:solidFill>
                <a:latin typeface="Open Sauce Bold Italics"/>
                <a:ea typeface="Open Sauce Bold Italics"/>
                <a:cs typeface="Open Sauce Bold Italics"/>
                <a:sym typeface="Open Sauce Bold Italics"/>
              </a:rPr>
              <a:t>- St</a:t>
            </a:r>
            <a:r>
              <a:rPr lang="en-US" b="true" sz="2400" i="true" strike="noStrike" u="none">
                <a:solidFill>
                  <a:srgbClr val="000000"/>
                </a:solidFill>
                <a:latin typeface="Open Sauce Bold Italics"/>
                <a:ea typeface="Open Sauce Bold Italics"/>
                <a:cs typeface="Open Sauce Bold Italics"/>
                <a:sym typeface="Open Sauce Bold Italics"/>
              </a:rPr>
              <a:t>art Narrow, Win Deep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054122" y="1028700"/>
            <a:ext cx="4112762" cy="486186"/>
            <a:chOff x="0" y="0"/>
            <a:chExt cx="5483683" cy="648248"/>
          </a:xfrm>
        </p:grpSpPr>
        <p:grpSp>
          <p:nvGrpSpPr>
            <p:cNvPr name="Group 3" id="3"/>
            <p:cNvGrpSpPr/>
            <p:nvPr/>
          </p:nvGrpSpPr>
          <p:grpSpPr>
            <a:xfrm rot="0">
              <a:off x="0" y="0"/>
              <a:ext cx="675833" cy="648248"/>
              <a:chOff x="0" y="0"/>
              <a:chExt cx="622300" cy="596900"/>
            </a:xfrm>
          </p:grpSpPr>
          <p:sp>
            <p:nvSpPr>
              <p:cNvPr name="Freeform 4" id="4"/>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5" id="5"/>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6" id="6"/>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sp>
        <p:nvSpPr>
          <p:cNvPr name="Freeform 7" id="7"/>
          <p:cNvSpPr/>
          <p:nvPr/>
        </p:nvSpPr>
        <p:spPr>
          <a:xfrm flipH="false" flipV="false" rot="0">
            <a:off x="8563697" y="1341501"/>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2">
              <a:extLst>
                <a:ext uri="{96DAC541-7B7A-43D3-8B79-37D633B846F1}">
                  <asvg:svgBlip xmlns:asvg="http://schemas.microsoft.com/office/drawing/2016/SVG/main" r:embed="rId3"/>
                </a:ext>
              </a:extLst>
            </a:blip>
            <a:stretch>
              <a:fillRect l="0" t="0" r="-75980" b="-360761"/>
            </a:stretch>
          </a:blipFill>
        </p:spPr>
      </p:sp>
      <p:sp>
        <p:nvSpPr>
          <p:cNvPr name="Freeform 8" id="8"/>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9076624" y="1213149"/>
            <a:ext cx="8045151" cy="8045151"/>
          </a:xfrm>
          <a:custGeom>
            <a:avLst/>
            <a:gdLst/>
            <a:ahLst/>
            <a:cxnLst/>
            <a:rect r="r" b="b" t="t" l="l"/>
            <a:pathLst>
              <a:path h="8045151" w="8045151">
                <a:moveTo>
                  <a:pt x="0" y="0"/>
                </a:moveTo>
                <a:lnTo>
                  <a:pt x="8045151" y="0"/>
                </a:lnTo>
                <a:lnTo>
                  <a:pt x="8045151" y="8045151"/>
                </a:lnTo>
                <a:lnTo>
                  <a:pt x="0" y="8045151"/>
                </a:lnTo>
                <a:lnTo>
                  <a:pt x="0" y="0"/>
                </a:lnTo>
                <a:close/>
              </a:path>
            </a:pathLst>
          </a:custGeom>
          <a:blipFill>
            <a:blip r:embed="rId6"/>
            <a:stretch>
              <a:fillRect l="0" t="0" r="0" b="0"/>
            </a:stretch>
          </a:blipFill>
        </p:spPr>
      </p:sp>
      <p:sp>
        <p:nvSpPr>
          <p:cNvPr name="TextBox 11" id="11"/>
          <p:cNvSpPr txBox="true"/>
          <p:nvPr/>
        </p:nvSpPr>
        <p:spPr>
          <a:xfrm rot="0">
            <a:off x="1028700" y="1858442"/>
            <a:ext cx="6915870" cy="1192530"/>
          </a:xfrm>
          <a:prstGeom prst="rect">
            <a:avLst/>
          </a:prstGeom>
        </p:spPr>
        <p:txBody>
          <a:bodyPr anchor="t" rtlCol="false" tIns="0" lIns="0" bIns="0" rIns="0">
            <a:spAutoFit/>
          </a:bodyPr>
          <a:lstStyle/>
          <a:p>
            <a:pPr algn="l">
              <a:lnSpc>
                <a:spcPts val="9360"/>
              </a:lnSpc>
            </a:pPr>
            <a:r>
              <a:rPr lang="en-US" sz="8000" spc="-80" b="true">
                <a:solidFill>
                  <a:srgbClr val="000000"/>
                </a:solidFill>
                <a:latin typeface="Helvetica Now Display Bold"/>
                <a:ea typeface="Helvetica Now Display Bold"/>
                <a:cs typeface="Helvetica Now Display Bold"/>
                <a:sym typeface="Helvetica Now Display Bold"/>
              </a:rPr>
              <a:t>Go-To-Market</a:t>
            </a:r>
          </a:p>
        </p:txBody>
      </p:sp>
      <p:sp>
        <p:nvSpPr>
          <p:cNvPr name="TextBox 12" id="12"/>
          <p:cNvSpPr txBox="true"/>
          <p:nvPr/>
        </p:nvSpPr>
        <p:spPr>
          <a:xfrm rot="0">
            <a:off x="1054122" y="3099368"/>
            <a:ext cx="6915870" cy="1423034"/>
          </a:xfrm>
          <a:prstGeom prst="rect">
            <a:avLst/>
          </a:prstGeom>
        </p:spPr>
        <p:txBody>
          <a:bodyPr anchor="t" rtlCol="false" tIns="0" lIns="0" bIns="0" rIns="0">
            <a:spAutoFit/>
          </a:bodyPr>
          <a:lstStyle/>
          <a:p>
            <a:pPr algn="l" marL="0" indent="0" lvl="0">
              <a:lnSpc>
                <a:spcPts val="2850"/>
              </a:lnSpc>
              <a:spcBef>
                <a:spcPct val="0"/>
              </a:spcBef>
            </a:pPr>
            <a:r>
              <a:rPr lang="en-US" b="true" sz="1900">
                <a:solidFill>
                  <a:srgbClr val="000000"/>
                </a:solidFill>
                <a:latin typeface="Open Sauce Bold"/>
                <a:ea typeface="Open Sauce Bold"/>
                <a:cs typeface="Open Sauce Bold"/>
                <a:sym typeface="Open Sauce Bold"/>
              </a:rPr>
              <a:t>Ph</a:t>
            </a:r>
            <a:r>
              <a:rPr lang="en-US" b="true" sz="1900" strike="noStrike" u="none">
                <a:solidFill>
                  <a:srgbClr val="000000"/>
                </a:solidFill>
                <a:latin typeface="Open Sauce Bold"/>
                <a:ea typeface="Open Sauce Bold"/>
                <a:cs typeface="Open Sauce Bold"/>
                <a:sym typeface="Open Sauce Bold"/>
              </a:rPr>
              <a:t>ase 1 (0–3 months):</a:t>
            </a:r>
          </a:p>
          <a:p>
            <a:pPr algn="l" marL="410214" indent="-205107" lvl="1">
              <a:lnSpc>
                <a:spcPts val="2850"/>
              </a:lnSpc>
              <a:spcBef>
                <a:spcPct val="0"/>
              </a:spcBef>
              <a:buFont typeface="Arial"/>
              <a:buChar char="•"/>
            </a:pPr>
            <a:r>
              <a:rPr lang="en-US" sz="1900" strike="noStrike" u="none">
                <a:solidFill>
                  <a:srgbClr val="000000"/>
                </a:solidFill>
                <a:latin typeface="Open Sauce"/>
                <a:ea typeface="Open Sauce"/>
                <a:cs typeface="Open Sauce"/>
                <a:sym typeface="Open Sauce"/>
              </a:rPr>
              <a:t>Target fashion &amp; beauty / spa SMEs</a:t>
            </a:r>
          </a:p>
          <a:p>
            <a:pPr algn="l" marL="410214" indent="-205107" lvl="1">
              <a:lnSpc>
                <a:spcPts val="2850"/>
              </a:lnSpc>
              <a:spcBef>
                <a:spcPct val="0"/>
              </a:spcBef>
              <a:buFont typeface="Arial"/>
              <a:buChar char="•"/>
            </a:pPr>
            <a:r>
              <a:rPr lang="en-US" sz="1900" strike="noStrike" u="none">
                <a:solidFill>
                  <a:srgbClr val="000000"/>
                </a:solidFill>
                <a:latin typeface="Open Sauce"/>
                <a:ea typeface="Open Sauce"/>
                <a:cs typeface="Open Sauce"/>
                <a:sym typeface="Open Sauce"/>
              </a:rPr>
              <a:t>Already using Zalo OA / Pancake + KiotViet</a:t>
            </a:r>
          </a:p>
          <a:p>
            <a:pPr algn="l" marL="0" indent="0" lvl="0">
              <a:lnSpc>
                <a:spcPts val="2850"/>
              </a:lnSpc>
              <a:spcBef>
                <a:spcPct val="0"/>
              </a:spcBef>
            </a:pPr>
          </a:p>
        </p:txBody>
      </p:sp>
      <p:sp>
        <p:nvSpPr>
          <p:cNvPr name="TextBox 13" id="13"/>
          <p:cNvSpPr txBox="true"/>
          <p:nvPr/>
        </p:nvSpPr>
        <p:spPr>
          <a:xfrm rot="0">
            <a:off x="1028700" y="4498409"/>
            <a:ext cx="6915870" cy="1784984"/>
          </a:xfrm>
          <a:prstGeom prst="rect">
            <a:avLst/>
          </a:prstGeom>
        </p:spPr>
        <p:txBody>
          <a:bodyPr anchor="t" rtlCol="false" tIns="0" lIns="0" bIns="0" rIns="0">
            <a:spAutoFit/>
          </a:bodyPr>
          <a:lstStyle/>
          <a:p>
            <a:pPr algn="l" marL="0" indent="0" lvl="0">
              <a:lnSpc>
                <a:spcPts val="2850"/>
              </a:lnSpc>
              <a:spcBef>
                <a:spcPct val="0"/>
              </a:spcBef>
            </a:pPr>
            <a:r>
              <a:rPr lang="en-US" b="true" sz="1900">
                <a:solidFill>
                  <a:srgbClr val="000000"/>
                </a:solidFill>
                <a:latin typeface="Open Sauce Bold"/>
                <a:ea typeface="Open Sauce Bold"/>
                <a:cs typeface="Open Sauce Bold"/>
                <a:sym typeface="Open Sauce Bold"/>
              </a:rPr>
              <a:t>Ch</a:t>
            </a:r>
            <a:r>
              <a:rPr lang="en-US" b="true" sz="1900" strike="noStrike" u="none">
                <a:solidFill>
                  <a:srgbClr val="000000"/>
                </a:solidFill>
                <a:latin typeface="Open Sauce Bold"/>
                <a:ea typeface="Open Sauce Bold"/>
                <a:cs typeface="Open Sauce Bold"/>
                <a:sym typeface="Open Sauce Bold"/>
              </a:rPr>
              <a:t>annels:</a:t>
            </a:r>
          </a:p>
          <a:p>
            <a:pPr algn="l" marL="410214" indent="-205107" lvl="1">
              <a:lnSpc>
                <a:spcPts val="2850"/>
              </a:lnSpc>
              <a:spcBef>
                <a:spcPct val="0"/>
              </a:spcBef>
              <a:buFont typeface="Arial"/>
              <a:buChar char="•"/>
            </a:pPr>
            <a:r>
              <a:rPr lang="en-US" sz="1900" strike="noStrike" u="none">
                <a:solidFill>
                  <a:srgbClr val="000000"/>
                </a:solidFill>
                <a:latin typeface="Open Sauce"/>
                <a:ea typeface="Open Sauce"/>
                <a:cs typeface="Open Sauce"/>
                <a:sym typeface="Open Sauce"/>
              </a:rPr>
              <a:t>Facebook communities (millions of users)</a:t>
            </a:r>
          </a:p>
          <a:p>
            <a:pPr algn="l" marL="410214" indent="-205107" lvl="1">
              <a:lnSpc>
                <a:spcPts val="2850"/>
              </a:lnSpc>
              <a:spcBef>
                <a:spcPct val="0"/>
              </a:spcBef>
              <a:buFont typeface="Arial"/>
              <a:buChar char="•"/>
            </a:pPr>
            <a:r>
              <a:rPr lang="en-US" sz="1900" strike="noStrike" u="none">
                <a:solidFill>
                  <a:srgbClr val="000000"/>
                </a:solidFill>
                <a:latin typeface="Open Sauce"/>
                <a:ea typeface="Open Sauce"/>
                <a:cs typeface="Open Sauce"/>
                <a:sym typeface="Open Sauce"/>
              </a:rPr>
              <a:t>Vi</a:t>
            </a:r>
            <a:r>
              <a:rPr lang="en-US" sz="1900" strike="noStrike" u="none">
                <a:solidFill>
                  <a:srgbClr val="000000"/>
                </a:solidFill>
                <a:latin typeface="Open Sauce"/>
                <a:ea typeface="Open Sauce"/>
                <a:cs typeface="Open Sauce"/>
                <a:sym typeface="Open Sauce"/>
              </a:rPr>
              <a:t>ral demo videos</a:t>
            </a:r>
          </a:p>
          <a:p>
            <a:pPr algn="l" marL="410214" indent="-205107" lvl="1">
              <a:lnSpc>
                <a:spcPts val="2850"/>
              </a:lnSpc>
              <a:spcBef>
                <a:spcPct val="0"/>
              </a:spcBef>
              <a:buFont typeface="Arial"/>
              <a:buChar char="•"/>
            </a:pPr>
            <a:r>
              <a:rPr lang="en-US" sz="1900" strike="noStrike" u="none">
                <a:solidFill>
                  <a:srgbClr val="000000"/>
                </a:solidFill>
                <a:latin typeface="Open Sauce"/>
                <a:ea typeface="Open Sauce"/>
                <a:cs typeface="Open Sauce"/>
                <a:sym typeface="Open Sauce"/>
              </a:rPr>
              <a:t>Agency partnerships (x20 distribution)</a:t>
            </a:r>
          </a:p>
          <a:p>
            <a:pPr algn="l" marL="0" indent="0" lvl="0">
              <a:lnSpc>
                <a:spcPts val="2850"/>
              </a:lnSpc>
              <a:spcBef>
                <a:spcPct val="0"/>
              </a:spcBef>
            </a:pPr>
          </a:p>
        </p:txBody>
      </p:sp>
      <p:sp>
        <p:nvSpPr>
          <p:cNvPr name="TextBox 14" id="14"/>
          <p:cNvSpPr txBox="true"/>
          <p:nvPr/>
        </p:nvSpPr>
        <p:spPr>
          <a:xfrm rot="0">
            <a:off x="1028700" y="6321493"/>
            <a:ext cx="6915870" cy="2804160"/>
          </a:xfrm>
          <a:prstGeom prst="rect">
            <a:avLst/>
          </a:prstGeom>
        </p:spPr>
        <p:txBody>
          <a:bodyPr anchor="t" rtlCol="false" tIns="0" lIns="0" bIns="0" rIns="0">
            <a:spAutoFit/>
          </a:bodyPr>
          <a:lstStyle/>
          <a:p>
            <a:pPr algn="l" marL="0" indent="0" lvl="0">
              <a:lnSpc>
                <a:spcPts val="2849"/>
              </a:lnSpc>
              <a:spcBef>
                <a:spcPct val="0"/>
              </a:spcBef>
            </a:pPr>
            <a:r>
              <a:rPr lang="en-US" b="true" sz="1899">
                <a:solidFill>
                  <a:srgbClr val="000000"/>
                </a:solidFill>
                <a:latin typeface="Open Sauce Bold"/>
                <a:ea typeface="Open Sauce Bold"/>
                <a:cs typeface="Open Sauce Bold"/>
                <a:sym typeface="Open Sauce Bold"/>
              </a:rPr>
              <a:t>Expected outcome</a:t>
            </a:r>
            <a:r>
              <a:rPr lang="en-US" b="true" sz="1899" strike="noStrike" u="none">
                <a:solidFill>
                  <a:srgbClr val="000000"/>
                </a:solidFill>
                <a:latin typeface="Open Sauce Bold"/>
                <a:ea typeface="Open Sauce Bold"/>
                <a:cs typeface="Open Sauce Bold"/>
                <a:sym typeface="Open Sauce Bold"/>
              </a:rPr>
              <a:t>:</a:t>
            </a:r>
          </a:p>
          <a:p>
            <a:pPr algn="l" marL="410209" indent="-205105" lvl="1">
              <a:lnSpc>
                <a:spcPts val="2849"/>
              </a:lnSpc>
              <a:spcBef>
                <a:spcPct val="0"/>
              </a:spcBef>
              <a:buFont typeface="Arial"/>
              <a:buChar char="•"/>
            </a:pPr>
            <a:r>
              <a:rPr lang="en-US" sz="1899" strike="noStrike" u="none">
                <a:solidFill>
                  <a:srgbClr val="000000"/>
                </a:solidFill>
                <a:latin typeface="Open Sauce"/>
                <a:ea typeface="Open Sauce"/>
                <a:cs typeface="Open Sauce"/>
                <a:sym typeface="Open Sauce"/>
              </a:rPr>
              <a:t>pilot 5-10 khách đầu tiên</a:t>
            </a:r>
          </a:p>
          <a:p>
            <a:pPr algn="l" marL="410209" indent="-205105" lvl="1">
              <a:lnSpc>
                <a:spcPts val="2849"/>
              </a:lnSpc>
              <a:spcBef>
                <a:spcPct val="0"/>
              </a:spcBef>
              <a:buFont typeface="Arial"/>
              <a:buChar char="•"/>
            </a:pPr>
            <a:r>
              <a:rPr lang="en-US" sz="1899" strike="noStrike" u="none">
                <a:solidFill>
                  <a:srgbClr val="000000"/>
                </a:solidFill>
                <a:latin typeface="Open Sauce"/>
                <a:ea typeface="Open Sauce"/>
                <a:cs typeface="Open Sauce"/>
                <a:sym typeface="Open Sauce"/>
              </a:rPr>
              <a:t>cùng một vertical</a:t>
            </a:r>
          </a:p>
          <a:p>
            <a:pPr algn="l" marL="410209" indent="-205105" lvl="1">
              <a:lnSpc>
                <a:spcPts val="2849"/>
              </a:lnSpc>
              <a:spcBef>
                <a:spcPct val="0"/>
              </a:spcBef>
              <a:buFont typeface="Arial"/>
              <a:buChar char="•"/>
            </a:pPr>
            <a:r>
              <a:rPr lang="en-US" sz="1899" strike="noStrike" u="none">
                <a:solidFill>
                  <a:srgbClr val="000000"/>
                </a:solidFill>
                <a:latin typeface="Open Sauce"/>
                <a:ea typeface="Open Sauce"/>
                <a:cs typeface="Open Sauce"/>
                <a:sym typeface="Open Sauce"/>
              </a:rPr>
              <a:t>chứng minh KPI như booking rate, response t</a:t>
            </a:r>
            <a:r>
              <a:rPr lang="en-US" sz="1899" strike="noStrike" u="none">
                <a:solidFill>
                  <a:srgbClr val="000000"/>
                </a:solidFill>
                <a:latin typeface="Open Sauce"/>
                <a:ea typeface="Open Sauce"/>
                <a:cs typeface="Open Sauce"/>
                <a:sym typeface="Open Sauce"/>
              </a:rPr>
              <a:t>ime,</a:t>
            </a:r>
            <a:r>
              <a:rPr lang="en-US" sz="1899" strike="noStrike" u="none">
                <a:solidFill>
                  <a:srgbClr val="000000"/>
                </a:solidFill>
                <a:latin typeface="Open Sauce"/>
                <a:ea typeface="Open Sauce"/>
                <a:cs typeface="Open Sauce"/>
                <a:sym typeface="Open Sauce"/>
              </a:rPr>
              <a:t> lead recovery</a:t>
            </a:r>
          </a:p>
          <a:p>
            <a:pPr algn="l" marL="410209" indent="-205105" lvl="1">
              <a:lnSpc>
                <a:spcPts val="2849"/>
              </a:lnSpc>
              <a:spcBef>
                <a:spcPct val="0"/>
              </a:spcBef>
              <a:buFont typeface="Arial"/>
              <a:buChar char="•"/>
            </a:pPr>
            <a:r>
              <a:rPr lang="en-US" sz="1899" strike="noStrike" u="none">
                <a:solidFill>
                  <a:srgbClr val="000000"/>
                </a:solidFill>
                <a:latin typeface="Open Sauce"/>
                <a:ea typeface="Open Sauce"/>
                <a:cs typeface="Open Sauce"/>
                <a:sym typeface="Open Sauce"/>
              </a:rPr>
              <a:t>chứn</a:t>
            </a:r>
            <a:r>
              <a:rPr lang="en-US" sz="1899" strike="noStrike" u="none">
                <a:solidFill>
                  <a:srgbClr val="000000"/>
                </a:solidFill>
                <a:latin typeface="Open Sauce"/>
                <a:ea typeface="Open Sauce"/>
                <a:cs typeface="Open Sauce"/>
                <a:sym typeface="Open Sauce"/>
              </a:rPr>
              <a:t>g minh một workflow chạy end-to-end không cần người</a:t>
            </a:r>
          </a:p>
          <a:p>
            <a:pPr algn="l" marL="0" indent="0" lvl="0">
              <a:lnSpc>
                <a:spcPts val="284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7F2F2"/>
        </a:solidFill>
      </p:bgPr>
    </p:bg>
    <p:spTree>
      <p:nvGrpSpPr>
        <p:cNvPr id="1" name=""/>
        <p:cNvGrpSpPr/>
        <p:nvPr/>
      </p:nvGrpSpPr>
      <p:grpSpPr>
        <a:xfrm>
          <a:off x="0" y="0"/>
          <a:ext cx="0" cy="0"/>
          <a:chOff x="0" y="0"/>
          <a:chExt cx="0" cy="0"/>
        </a:xfrm>
      </p:grpSpPr>
      <p:grpSp>
        <p:nvGrpSpPr>
          <p:cNvPr name="Group 2" id="2"/>
          <p:cNvGrpSpPr/>
          <p:nvPr/>
        </p:nvGrpSpPr>
        <p:grpSpPr>
          <a:xfrm rot="0">
            <a:off x="11994307" y="2121477"/>
            <a:ext cx="6293693" cy="6036808"/>
            <a:chOff x="0" y="0"/>
            <a:chExt cx="622300" cy="596900"/>
          </a:xfrm>
        </p:grpSpPr>
        <p:sp>
          <p:nvSpPr>
            <p:cNvPr name="Freeform 3" id="3"/>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4" id="4"/>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5" id="5"/>
          <p:cNvSpPr txBox="true"/>
          <p:nvPr/>
        </p:nvSpPr>
        <p:spPr>
          <a:xfrm rot="0">
            <a:off x="1028700" y="2737248"/>
            <a:ext cx="14112453" cy="3186540"/>
          </a:xfrm>
          <a:prstGeom prst="rect">
            <a:avLst/>
          </a:prstGeom>
        </p:spPr>
        <p:txBody>
          <a:bodyPr anchor="t" rtlCol="false" tIns="0" lIns="0" bIns="0" rIns="0">
            <a:spAutoFit/>
          </a:bodyPr>
          <a:lstStyle/>
          <a:p>
            <a:pPr algn="l">
              <a:lnSpc>
                <a:spcPts val="24993"/>
              </a:lnSpc>
            </a:pPr>
            <a:r>
              <a:rPr lang="en-US" sz="21362" spc="-213" b="true">
                <a:solidFill>
                  <a:srgbClr val="000000"/>
                </a:solidFill>
                <a:latin typeface="Helvetica Now Display Bold"/>
                <a:ea typeface="Helvetica Now Display Bold"/>
                <a:cs typeface="Helvetica Now Display Bold"/>
                <a:sym typeface="Helvetica Now Display Bold"/>
              </a:rPr>
              <a:t>T</a:t>
            </a:r>
            <a:r>
              <a:rPr lang="en-US" b="true" sz="21362" spc="-213">
                <a:solidFill>
                  <a:srgbClr val="000000"/>
                </a:solidFill>
                <a:latin typeface="Helvetica Now Display Bold"/>
                <a:ea typeface="Helvetica Now Display Bold"/>
                <a:cs typeface="Helvetica Now Display Bold"/>
                <a:sym typeface="Helvetica Now Display Bold"/>
              </a:rPr>
              <a:t>hank You!</a:t>
            </a:r>
          </a:p>
        </p:txBody>
      </p:sp>
      <p:grpSp>
        <p:nvGrpSpPr>
          <p:cNvPr name="Group 6" id="6"/>
          <p:cNvGrpSpPr/>
          <p:nvPr/>
        </p:nvGrpSpPr>
        <p:grpSpPr>
          <a:xfrm rot="0">
            <a:off x="1028700" y="6637188"/>
            <a:ext cx="4524057" cy="893330"/>
            <a:chOff x="0" y="0"/>
            <a:chExt cx="1191521" cy="235280"/>
          </a:xfrm>
        </p:grpSpPr>
        <p:sp>
          <p:nvSpPr>
            <p:cNvPr name="Freeform 7" id="7"/>
            <p:cNvSpPr/>
            <p:nvPr/>
          </p:nvSpPr>
          <p:spPr>
            <a:xfrm flipH="false" flipV="false" rot="0">
              <a:off x="0" y="0"/>
              <a:ext cx="1191521" cy="235280"/>
            </a:xfrm>
            <a:custGeom>
              <a:avLst/>
              <a:gdLst/>
              <a:ahLst/>
              <a:cxnLst/>
              <a:rect r="r" b="b" t="t" l="l"/>
              <a:pathLst>
                <a:path h="235280" w="1191521">
                  <a:moveTo>
                    <a:pt x="0" y="0"/>
                  </a:moveTo>
                  <a:lnTo>
                    <a:pt x="1191521" y="0"/>
                  </a:lnTo>
                  <a:lnTo>
                    <a:pt x="1191521" y="235280"/>
                  </a:lnTo>
                  <a:lnTo>
                    <a:pt x="0" y="235280"/>
                  </a:lnTo>
                  <a:close/>
                </a:path>
              </a:pathLst>
            </a:custGeom>
            <a:solidFill>
              <a:srgbClr val="E57C7C"/>
            </a:solidFill>
          </p:spPr>
        </p:sp>
        <p:sp>
          <p:nvSpPr>
            <p:cNvPr name="TextBox 8" id="8"/>
            <p:cNvSpPr txBox="true"/>
            <p:nvPr/>
          </p:nvSpPr>
          <p:spPr>
            <a:xfrm>
              <a:off x="0" y="-57150"/>
              <a:ext cx="1191521" cy="292430"/>
            </a:xfrm>
            <a:prstGeom prst="rect">
              <a:avLst/>
            </a:prstGeom>
          </p:spPr>
          <p:txBody>
            <a:bodyPr anchor="ctr" rtlCol="false" tIns="50800" lIns="50800" bIns="50800" rIns="50800"/>
            <a:lstStyle/>
            <a:p>
              <a:pPr algn="ctr">
                <a:lnSpc>
                  <a:spcPts val="2700"/>
                </a:lnSpc>
              </a:pPr>
            </a:p>
          </p:txBody>
        </p:sp>
      </p:grpSp>
      <p:grpSp>
        <p:nvGrpSpPr>
          <p:cNvPr name="Group 9" id="9"/>
          <p:cNvGrpSpPr/>
          <p:nvPr/>
        </p:nvGrpSpPr>
        <p:grpSpPr>
          <a:xfrm rot="-5400000">
            <a:off x="5064683" y="6212949"/>
            <a:ext cx="928965" cy="812844"/>
            <a:chOff x="0" y="0"/>
            <a:chExt cx="812800" cy="711200"/>
          </a:xfrm>
        </p:grpSpPr>
        <p:sp>
          <p:nvSpPr>
            <p:cNvPr name="Freeform 10" id="10"/>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E7F2F2"/>
            </a:solidFill>
          </p:spPr>
        </p:sp>
        <p:sp>
          <p:nvSpPr>
            <p:cNvPr name="TextBox 11" id="11"/>
            <p:cNvSpPr txBox="true"/>
            <p:nvPr/>
          </p:nvSpPr>
          <p:spPr>
            <a:xfrm>
              <a:off x="127000" y="273050"/>
              <a:ext cx="558800" cy="387350"/>
            </a:xfrm>
            <a:prstGeom prst="rect">
              <a:avLst/>
            </a:prstGeom>
          </p:spPr>
          <p:txBody>
            <a:bodyPr anchor="ctr" rtlCol="false" tIns="50800" lIns="50800" bIns="50800" rIns="50800"/>
            <a:lstStyle/>
            <a:p>
              <a:pPr algn="ctr">
                <a:lnSpc>
                  <a:spcPts val="2700"/>
                </a:lnSpc>
              </a:pPr>
            </a:p>
          </p:txBody>
        </p:sp>
      </p:grpSp>
      <p:grpSp>
        <p:nvGrpSpPr>
          <p:cNvPr name="Group 12" id="12"/>
          <p:cNvGrpSpPr/>
          <p:nvPr/>
        </p:nvGrpSpPr>
        <p:grpSpPr>
          <a:xfrm rot="5400000">
            <a:off x="589640" y="7124096"/>
            <a:ext cx="928965" cy="812844"/>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E7F2F2"/>
            </a:solidFill>
          </p:spPr>
        </p:sp>
        <p:sp>
          <p:nvSpPr>
            <p:cNvPr name="TextBox 14" id="14"/>
            <p:cNvSpPr txBox="true"/>
            <p:nvPr/>
          </p:nvSpPr>
          <p:spPr>
            <a:xfrm>
              <a:off x="127000" y="273050"/>
              <a:ext cx="558800" cy="387350"/>
            </a:xfrm>
            <a:prstGeom prst="rect">
              <a:avLst/>
            </a:prstGeom>
          </p:spPr>
          <p:txBody>
            <a:bodyPr anchor="ctr" rtlCol="false" tIns="50800" lIns="50800" bIns="50800" rIns="50800"/>
            <a:lstStyle/>
            <a:p>
              <a:pPr algn="ctr">
                <a:lnSpc>
                  <a:spcPts val="2700"/>
                </a:lnSpc>
              </a:pPr>
            </a:p>
          </p:txBody>
        </p:sp>
      </p:grpSp>
      <p:sp>
        <p:nvSpPr>
          <p:cNvPr name="TextBox 15" id="15"/>
          <p:cNvSpPr txBox="true"/>
          <p:nvPr/>
        </p:nvSpPr>
        <p:spPr>
          <a:xfrm rot="0">
            <a:off x="1028700" y="5647832"/>
            <a:ext cx="8276368" cy="502920"/>
          </a:xfrm>
          <a:prstGeom prst="rect">
            <a:avLst/>
          </a:prstGeom>
        </p:spPr>
        <p:txBody>
          <a:bodyPr anchor="t" rtlCol="false" tIns="0" lIns="0" bIns="0" rIns="0">
            <a:spAutoFit/>
          </a:bodyPr>
          <a:lstStyle/>
          <a:p>
            <a:pPr algn="l">
              <a:lnSpc>
                <a:spcPts val="4199"/>
              </a:lnSpc>
            </a:pPr>
            <a:r>
              <a:rPr lang="en-US" sz="2799">
                <a:solidFill>
                  <a:srgbClr val="000000"/>
                </a:solidFill>
                <a:latin typeface="Open Sauce"/>
                <a:ea typeface="Open Sauce"/>
                <a:cs typeface="Open Sauce"/>
                <a:sym typeface="Open Sauce"/>
              </a:rPr>
              <a:t>Let AI run your sales operations.</a:t>
            </a:r>
          </a:p>
        </p:txBody>
      </p:sp>
      <p:grpSp>
        <p:nvGrpSpPr>
          <p:cNvPr name="Group 16" id="16"/>
          <p:cNvGrpSpPr/>
          <p:nvPr/>
        </p:nvGrpSpPr>
        <p:grpSpPr>
          <a:xfrm rot="0">
            <a:off x="1054122" y="1028700"/>
            <a:ext cx="4112762" cy="486186"/>
            <a:chOff x="0" y="0"/>
            <a:chExt cx="5483683" cy="648248"/>
          </a:xfrm>
        </p:grpSpPr>
        <p:grpSp>
          <p:nvGrpSpPr>
            <p:cNvPr name="Group 17" id="17"/>
            <p:cNvGrpSpPr/>
            <p:nvPr/>
          </p:nvGrpSpPr>
          <p:grpSpPr>
            <a:xfrm rot="0">
              <a:off x="0" y="0"/>
              <a:ext cx="675833" cy="648248"/>
              <a:chOff x="0" y="0"/>
              <a:chExt cx="622300" cy="596900"/>
            </a:xfrm>
          </p:grpSpPr>
          <p:sp>
            <p:nvSpPr>
              <p:cNvPr name="Freeform 18" id="18"/>
              <p:cNvSpPr/>
              <p:nvPr/>
            </p:nvSpPr>
            <p:spPr>
              <a:xfrm flipH="false" flipV="false" rot="0">
                <a:off x="0" y="0"/>
                <a:ext cx="622300" cy="596900"/>
              </a:xfrm>
              <a:custGeom>
                <a:avLst/>
                <a:gdLst/>
                <a:ahLst/>
                <a:cxnLst/>
                <a:rect r="r" b="b" t="t" l="l"/>
                <a:pathLst>
                  <a:path h="596900" w="622300">
                    <a:moveTo>
                      <a:pt x="295910" y="297180"/>
                    </a:moveTo>
                    <a:lnTo>
                      <a:pt x="295910" y="596900"/>
                    </a:lnTo>
                    <a:cubicBezTo>
                      <a:pt x="129540" y="590550"/>
                      <a:pt x="0" y="459740"/>
                      <a:pt x="0" y="297180"/>
                    </a:cubicBezTo>
                    <a:cubicBezTo>
                      <a:pt x="0" y="135890"/>
                      <a:pt x="129540" y="3810"/>
                      <a:pt x="295910" y="0"/>
                    </a:cubicBezTo>
                    <a:lnTo>
                      <a:pt x="295910" y="299720"/>
                    </a:lnTo>
                    <a:close/>
                    <a:moveTo>
                      <a:pt x="295910" y="287020"/>
                    </a:moveTo>
                    <a:lnTo>
                      <a:pt x="295910" y="289560"/>
                    </a:lnTo>
                    <a:cubicBezTo>
                      <a:pt x="295910" y="210820"/>
                      <a:pt x="328930" y="138430"/>
                      <a:pt x="365760" y="86360"/>
                    </a:cubicBezTo>
                    <a:cubicBezTo>
                      <a:pt x="402590" y="35560"/>
                      <a:pt x="452120" y="2540"/>
                      <a:pt x="511810" y="0"/>
                    </a:cubicBezTo>
                    <a:lnTo>
                      <a:pt x="511810" y="297180"/>
                    </a:lnTo>
                    <a:lnTo>
                      <a:pt x="511810" y="596900"/>
                    </a:lnTo>
                    <a:cubicBezTo>
                      <a:pt x="452120" y="591820"/>
                      <a:pt x="402590" y="560070"/>
                      <a:pt x="365760" y="509270"/>
                    </a:cubicBezTo>
                    <a:cubicBezTo>
                      <a:pt x="328930" y="457200"/>
                      <a:pt x="295910" y="384810"/>
                      <a:pt x="295910" y="304800"/>
                    </a:cubicBezTo>
                    <a:lnTo>
                      <a:pt x="295910" y="287020"/>
                    </a:lnTo>
                    <a:close/>
                    <a:moveTo>
                      <a:pt x="511810" y="297180"/>
                    </a:moveTo>
                    <a:cubicBezTo>
                      <a:pt x="511810" y="214630"/>
                      <a:pt x="533400" y="138430"/>
                      <a:pt x="554990" y="85090"/>
                    </a:cubicBezTo>
                    <a:cubicBezTo>
                      <a:pt x="566420" y="58420"/>
                      <a:pt x="579120" y="36830"/>
                      <a:pt x="593090" y="21590"/>
                    </a:cubicBezTo>
                    <a:cubicBezTo>
                      <a:pt x="604520" y="10160"/>
                      <a:pt x="615950" y="2540"/>
                      <a:pt x="622300" y="1270"/>
                    </a:cubicBezTo>
                    <a:lnTo>
                      <a:pt x="622300" y="596900"/>
                    </a:lnTo>
                    <a:cubicBezTo>
                      <a:pt x="615950" y="591820"/>
                      <a:pt x="600710" y="585470"/>
                      <a:pt x="593090" y="572770"/>
                    </a:cubicBezTo>
                    <a:cubicBezTo>
                      <a:pt x="579120" y="558800"/>
                      <a:pt x="566420" y="537210"/>
                      <a:pt x="554990" y="510540"/>
                    </a:cubicBezTo>
                    <a:cubicBezTo>
                      <a:pt x="534670" y="459740"/>
                      <a:pt x="511810" y="389890"/>
                      <a:pt x="511810" y="313690"/>
                    </a:cubicBezTo>
                    <a:lnTo>
                      <a:pt x="511810" y="297180"/>
                    </a:lnTo>
                    <a:close/>
                  </a:path>
                </a:pathLst>
              </a:custGeom>
              <a:solidFill>
                <a:srgbClr val="E57C7C"/>
              </a:solidFill>
            </p:spPr>
          </p:sp>
          <p:sp>
            <p:nvSpPr>
              <p:cNvPr name="TextBox 19" id="19"/>
              <p:cNvSpPr txBox="true"/>
              <p:nvPr/>
            </p:nvSpPr>
            <p:spPr>
              <a:xfrm>
                <a:off x="0" y="60325"/>
                <a:ext cx="622300" cy="409575"/>
              </a:xfrm>
              <a:prstGeom prst="rect">
                <a:avLst/>
              </a:prstGeom>
            </p:spPr>
            <p:txBody>
              <a:bodyPr anchor="ctr" rtlCol="false" tIns="50800" lIns="50800" bIns="50800" rIns="50800"/>
              <a:lstStyle/>
              <a:p>
                <a:pPr algn="ctr">
                  <a:lnSpc>
                    <a:spcPts val="3150"/>
                  </a:lnSpc>
                </a:pPr>
              </a:p>
            </p:txBody>
          </p:sp>
        </p:grpSp>
        <p:sp>
          <p:nvSpPr>
            <p:cNvPr name="TextBox 20" id="20"/>
            <p:cNvSpPr txBox="true"/>
            <p:nvPr/>
          </p:nvSpPr>
          <p:spPr>
            <a:xfrm rot="0">
              <a:off x="839189" y="44089"/>
              <a:ext cx="4644494" cy="493395"/>
            </a:xfrm>
            <a:prstGeom prst="rect">
              <a:avLst/>
            </a:prstGeom>
          </p:spPr>
          <p:txBody>
            <a:bodyPr anchor="t" rtlCol="false" tIns="0" lIns="0" bIns="0" rIns="0">
              <a:spAutoFit/>
            </a:bodyPr>
            <a:lstStyle/>
            <a:p>
              <a:pPr algn="l">
                <a:lnSpc>
                  <a:spcPts val="3150"/>
                </a:lnSpc>
              </a:pPr>
              <a:r>
                <a:rPr lang="en-US" sz="2100" spc="-63">
                  <a:solidFill>
                    <a:srgbClr val="000000"/>
                  </a:solidFill>
                  <a:latin typeface="Open Sauce"/>
                  <a:ea typeface="Open Sauce"/>
                  <a:cs typeface="Open Sauce"/>
                  <a:sym typeface="Open Sauce"/>
                </a:rPr>
                <a:t>Agentify</a:t>
              </a:r>
            </a:p>
          </p:txBody>
        </p:sp>
      </p:grpSp>
      <p:sp>
        <p:nvSpPr>
          <p:cNvPr name="TextBox 21" id="21"/>
          <p:cNvSpPr txBox="true"/>
          <p:nvPr/>
        </p:nvSpPr>
        <p:spPr>
          <a:xfrm rot="0">
            <a:off x="1028700" y="8881110"/>
            <a:ext cx="3483370" cy="331470"/>
          </a:xfrm>
          <a:prstGeom prst="rect">
            <a:avLst/>
          </a:prstGeom>
        </p:spPr>
        <p:txBody>
          <a:bodyPr anchor="t" rtlCol="false" tIns="0" lIns="0" bIns="0" rIns="0">
            <a:spAutoFit/>
          </a:bodyPr>
          <a:lstStyle/>
          <a:p>
            <a:pPr algn="l">
              <a:lnSpc>
                <a:spcPts val="2700"/>
              </a:lnSpc>
            </a:pPr>
            <a:r>
              <a:rPr lang="en-US" sz="1800" spc="-54">
                <a:solidFill>
                  <a:srgbClr val="000000"/>
                </a:solidFill>
                <a:latin typeface="Open Sauce"/>
                <a:ea typeface="Open Sauce"/>
                <a:cs typeface="Open Sauce"/>
                <a:sym typeface="Open Sauce"/>
              </a:rPr>
              <a:t>Vu Minh Phung</a:t>
            </a:r>
          </a:p>
        </p:txBody>
      </p:sp>
      <p:sp>
        <p:nvSpPr>
          <p:cNvPr name="TextBox 22" id="22"/>
          <p:cNvSpPr txBox="true"/>
          <p:nvPr/>
        </p:nvSpPr>
        <p:spPr>
          <a:xfrm rot="0">
            <a:off x="13505220" y="8881110"/>
            <a:ext cx="3754080" cy="331470"/>
          </a:xfrm>
          <a:prstGeom prst="rect">
            <a:avLst/>
          </a:prstGeom>
        </p:spPr>
        <p:txBody>
          <a:bodyPr anchor="t" rtlCol="false" tIns="0" lIns="0" bIns="0" rIns="0">
            <a:spAutoFit/>
          </a:bodyPr>
          <a:lstStyle/>
          <a:p>
            <a:pPr algn="r">
              <a:lnSpc>
                <a:spcPts val="2700"/>
              </a:lnSpc>
            </a:pPr>
            <a:r>
              <a:rPr lang="en-US" sz="1800" spc="-54">
                <a:solidFill>
                  <a:srgbClr val="000000"/>
                </a:solidFill>
                <a:latin typeface="Open Sauce"/>
                <a:ea typeface="Open Sauce"/>
                <a:cs typeface="Open Sauce"/>
                <a:sym typeface="Open Sauce"/>
              </a:rPr>
              <a:t>minhvu2592005@gmail.com</a:t>
            </a:r>
          </a:p>
        </p:txBody>
      </p:sp>
      <p:sp>
        <p:nvSpPr>
          <p:cNvPr name="TextBox 23" id="23"/>
          <p:cNvSpPr txBox="true"/>
          <p:nvPr/>
        </p:nvSpPr>
        <p:spPr>
          <a:xfrm rot="0">
            <a:off x="1477764" y="6879066"/>
            <a:ext cx="3625930" cy="352425"/>
          </a:xfrm>
          <a:prstGeom prst="rect">
            <a:avLst/>
          </a:prstGeom>
        </p:spPr>
        <p:txBody>
          <a:bodyPr anchor="t" rtlCol="false" tIns="0" lIns="0" bIns="0" rIns="0">
            <a:spAutoFit/>
          </a:bodyPr>
          <a:lstStyle/>
          <a:p>
            <a:pPr algn="ctr">
              <a:lnSpc>
                <a:spcPts val="2999"/>
              </a:lnSpc>
            </a:pPr>
            <a:r>
              <a:rPr lang="en-US" sz="1999">
                <a:solidFill>
                  <a:srgbClr val="000000"/>
                </a:solidFill>
                <a:latin typeface="Open Sauce"/>
                <a:ea typeface="Open Sauce"/>
                <a:cs typeface="Open Sauce"/>
                <a:sym typeface="Open Sauce"/>
              </a:rPr>
              <a:t>AGENTIFY</a:t>
            </a:r>
          </a:p>
        </p:txBody>
      </p:sp>
      <p:sp>
        <p:nvSpPr>
          <p:cNvPr name="Freeform 24" id="24"/>
          <p:cNvSpPr/>
          <p:nvPr/>
        </p:nvSpPr>
        <p:spPr>
          <a:xfrm flipH="false" flipV="false" rot="0">
            <a:off x="8563697" y="7711762"/>
            <a:ext cx="1160606" cy="446522"/>
          </a:xfrm>
          <a:custGeom>
            <a:avLst/>
            <a:gdLst/>
            <a:ahLst/>
            <a:cxnLst/>
            <a:rect r="r" b="b" t="t" l="l"/>
            <a:pathLst>
              <a:path h="446522" w="1160606">
                <a:moveTo>
                  <a:pt x="0" y="0"/>
                </a:moveTo>
                <a:lnTo>
                  <a:pt x="1160606" y="0"/>
                </a:lnTo>
                <a:lnTo>
                  <a:pt x="1160606" y="446522"/>
                </a:lnTo>
                <a:lnTo>
                  <a:pt x="0" y="446522"/>
                </a:lnTo>
                <a:lnTo>
                  <a:pt x="0" y="0"/>
                </a:lnTo>
                <a:close/>
              </a:path>
            </a:pathLst>
          </a:custGeom>
          <a:blipFill>
            <a:blip r:embed="rId2">
              <a:extLst>
                <a:ext uri="{96DAC541-7B7A-43D3-8B79-37D633B846F1}">
                  <asvg:svgBlip xmlns:asvg="http://schemas.microsoft.com/office/drawing/2016/SVG/main" r:embed="rId3"/>
                </a:ext>
              </a:extLst>
            </a:blip>
            <a:stretch>
              <a:fillRect l="0" t="0" r="-75980" b="-360761"/>
            </a:stretch>
          </a:blipFill>
        </p:spPr>
      </p:sp>
      <p:sp>
        <p:nvSpPr>
          <p:cNvPr name="Freeform 25" id="25"/>
          <p:cNvSpPr/>
          <p:nvPr/>
        </p:nvSpPr>
        <p:spPr>
          <a:xfrm flipH="false" flipV="false" rot="0">
            <a:off x="16994655" y="-1770583"/>
            <a:ext cx="3729038" cy="4114800"/>
          </a:xfrm>
          <a:custGeom>
            <a:avLst/>
            <a:gdLst/>
            <a:ahLst/>
            <a:cxnLst/>
            <a:rect r="r" b="b" t="t" l="l"/>
            <a:pathLst>
              <a:path h="4114800" w="3729038">
                <a:moveTo>
                  <a:pt x="0" y="0"/>
                </a:moveTo>
                <a:lnTo>
                  <a:pt x="3729037" y="0"/>
                </a:lnTo>
                <a:lnTo>
                  <a:pt x="372903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1864519" y="8229600"/>
            <a:ext cx="3729038" cy="4114800"/>
          </a:xfrm>
          <a:custGeom>
            <a:avLst/>
            <a:gdLst/>
            <a:ahLst/>
            <a:cxnLst/>
            <a:rect r="r" b="b" t="t" l="l"/>
            <a:pathLst>
              <a:path h="4114800" w="3729038">
                <a:moveTo>
                  <a:pt x="0" y="0"/>
                </a:moveTo>
                <a:lnTo>
                  <a:pt x="3729038" y="0"/>
                </a:lnTo>
                <a:lnTo>
                  <a:pt x="372903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DAHHOkng13A</dc:identifier>
  <dcterms:modified xsi:type="dcterms:W3CDTF">2011-08-01T06:04:30Z</dcterms:modified>
  <cp:revision>1</cp:revision>
  <dc:title>Agentify</dc:title>
</cp:coreProperties>
</file>